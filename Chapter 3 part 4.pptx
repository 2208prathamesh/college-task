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2"/>
    <p:sldId id="267" r:id="rId3"/>
    <p:sldId id="268" r:id="rId4"/>
    <p:sldId id="269" r:id="rId5"/>
    <p:sldId id="270" r:id="rId6"/>
    <p:sldId id="271"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39" autoAdjust="0"/>
    <p:restoredTop sz="94660"/>
  </p:normalViewPr>
  <p:slideViewPr>
    <p:cSldViewPr snapToGrid="0" snapToObjects="1">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google.com/search?rlz=1C1YTUH_enIN1104IN1104&amp;cs=0&amp;sca_esv=b8ed1dceadc26d35&amp;q=Sponsored+Messaging&amp;sa=X&amp;ved=2ahUKEwiXhaiW35OPAxUmZWwGHW4HPSkQxccNegQILxAC&amp;mstk=AUtExfCAcmOQj6ujI1WLcGyeRW_4iqNpmCnKbhXR2QfMItVCo_oHhWYWeBns08_RQyJwTU8NRjMAh8JOXLM0KpCRFris8RlY_DYtIQeoYlg9mF_VuwyO3ekS3JO7_JOWlr3CWUqRi24pQrVO4T3jvj4c2VZMqmjH-wy-xycq--2rMEoHxLU&amp;csui=3" TargetMode="External"/><Relationship Id="rId2" Type="http://schemas.openxmlformats.org/officeDocument/2006/relationships/hyperlink" Target="https://www.google.com/search?rlz=1C1YTUH_enIN1104IN1104&amp;cs=0&amp;sca_esv=b8ed1dceadc26d35&amp;q=Sponsored+Content&amp;sa=X&amp;ved=2ahUKEwiXhaiW35OPAxUmZWwGHW4HPSkQxccNegQILxAB&amp;mstk=AUtExfCAcmOQj6ujI1WLcGyeRW_4iqNpmCnKbhXR2QfMItVCo_oHhWYWeBns08_RQyJwTU8NRjMAh8JOXLM0KpCRFris8RlY_DYtIQeoYlg9mF_VuwyO3ekS3JO7_JOWlr3CWUqRi24pQrVO4T3jvj4c2VZMqmjH-wy-xycq--2rMEoHxLU&amp;csui=3" TargetMode="External"/><Relationship Id="rId1" Type="http://schemas.openxmlformats.org/officeDocument/2006/relationships/slideLayout" Target="../slideLayouts/slideLayout2.xml"/><Relationship Id="rId4" Type="http://schemas.openxmlformats.org/officeDocument/2006/relationships/hyperlink" Target="https://www.google.com/search?rlz=1C1YTUH_enIN1104IN1104&amp;cs=0&amp;sca_esv=b8ed1dceadc26d35&amp;q=Text+Ads&amp;sa=X&amp;ved=2ahUKEwiXhaiW35OPAxUmZWwGHW4HPSkQxccNegQILxAD&amp;mstk=AUtExfCAcmOQj6ujI1WLcGyeRW_4iqNpmCnKbhXR2QfMItVCo_oHhWYWeBns08_RQyJwTU8NRjMAh8JOXLM0KpCRFris8RlY_DYtIQeoYlg9mF_VuwyO3ekS3JO7_JOWlr3CWUqRi24pQrVO4T3jvj4c2VZMqmjH-wy-xycq--2rMEoHxLU&amp;csui=3"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google.com/search?sca_esv=3b642b3af2687206&amp;rlz=1C1YTUH_enIN1104IN1104&amp;cs=0&amp;q=Website+Retargeting&amp;sa=X&amp;ved=2ahUKEwjtq-nl45OPAxVlRmcHHd-rBTUQxccNegQIEBAB&amp;mstk=AUtExfD2l7LiK-mcZteveFU2eFDDObMf2ulCNuv8iiNI9QZyuVjAqQLX6SKPZ6vF5_vp6lWR3BqIHP4Wwox4wdI4kQJg4-0gabkQUzVsF1VALVkUzQDlK6Pg5nt-tvML9uZKP4YpDuq3q8rx-r0pzg2It1T_Xuezw71kMBMxMc6v2GbNAabsyGEntzxEsyZrfyzPoTLz&amp;csui=3" TargetMode="External"/><Relationship Id="rId2" Type="http://schemas.openxmlformats.org/officeDocument/2006/relationships/hyperlink" Target="https://www.google.com/search?sca_esv=3b642b3af2687206&amp;rlz=1C1YTUH_enIN1104IN1104&amp;cs=0&amp;q=Account-Based+Marketing+%28ABM%29&amp;sa=X&amp;ved=2ahUKEwjtq-nl45OPAxVlRmcHHd-rBTUQxccNegQIDRAB&amp;mstk=AUtExfD2l7LiK-mcZteveFU2eFDDObMf2ulCNuv8iiNI9QZyuVjAqQLX6SKPZ6vF5_vp6lWR3BqIHP4Wwox4wdI4kQJg4-0gabkQUzVsF1VALVkUzQDlK6Pg5nt-tvML9uZKP4YpDuq3q8rx-r0pzg2It1T_Xuezw71kMBMxMc6v2GbNAabsyGEntzxEsyZrfyzPoTLz&amp;csui=3" TargetMode="External"/><Relationship Id="rId1" Type="http://schemas.openxmlformats.org/officeDocument/2006/relationships/slideLayout" Target="../slideLayouts/slideLayout2.xml"/><Relationship Id="rId5" Type="http://schemas.openxmlformats.org/officeDocument/2006/relationships/hyperlink" Target="https://www.google.com/search?sca_esv=3b642b3af2687206&amp;rlz=1C1YTUH_enIN1104IN1104&amp;cs=0&amp;q=LinkedIn+Analytics&amp;sa=X&amp;ved=2ahUKEwjtq-nl45OPAxVlRmcHHd-rBTUQxccNegQIDhAB&amp;mstk=AUtExfD2l7LiK-mcZteveFU2eFDDObMf2ulCNuv8iiNI9QZyuVjAqQLX6SKPZ6vF5_vp6lWR3BqIHP4Wwox4wdI4kQJg4-0gabkQUzVsF1VALVkUzQDlK6Pg5nt-tvML9uZKP4YpDuq3q8rx-r0pzg2It1T_Xuezw71kMBMxMc6v2GbNAabsyGEntzxEsyZrfyzPoTLz&amp;csui=3" TargetMode="External"/><Relationship Id="rId4" Type="http://schemas.openxmlformats.org/officeDocument/2006/relationships/hyperlink" Target="https://www.google.com/search?sca_esv=3b642b3af2687206&amp;rlz=1C1YTUH_enIN1104IN1104&amp;cs=0&amp;q=Conversion+Tracking&amp;sa=X&amp;ved=2ahUKEwjtq-nl45OPAxVlRmcHHd-rBTUQxccNegQIExAB&amp;mstk=AUtExfD2l7LiK-mcZteveFU2eFDDObMf2ulCNuv8iiNI9QZyuVjAqQLX6SKPZ6vF5_vp6lWR3BqIHP4Wwox4wdI4kQJg4-0gabkQUzVsF1VALVkUzQDlK6Pg5nt-tvML9uZKP4YpDuq3q8rx-r0pzg2It1T_Xuezw71kMBMxMc6v2GbNAabsyGEntzxEsyZrfyzPoTLz&amp;csui=3"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google.com/search?sca_esv=3b642b3af2687206&amp;rlz=1C1YTUH_enIN1104IN1104&amp;cs=0&amp;q=account-based+marketing+%28ABM%29&amp;sa=X&amp;ved=2ahUKEwjFhaGw95OPAxWxyzgGHVvuBhgQxccNegQIBhAC&amp;mstk=AUtExfDHHkuXaOTTcw4wiY32quRKrlitc8r1d2BN-Jch-Jhpq7z_EE1MOsyu3yZZz2Wj5eR_7Ln-Ow03UUY8pTsVj1In-fqynT1DtjiyxwyHWiBjaOyZQZUQgC4uePkea49tRK3KWo17qrRyPVzun1uVWKFGL2eJu0cp56eABT1XrD9Q6J0&amp;csui=3" TargetMode="External"/><Relationship Id="rId2" Type="http://schemas.openxmlformats.org/officeDocument/2006/relationships/hyperlink" Target="https://www.google.com/search?sca_esv=3b642b3af2687206&amp;rlz=1C1YTUH_enIN1104IN1104&amp;cs=0&amp;q=Account+Targeting&amp;sa=X&amp;ved=2ahUKEwjFhaGw95OPAxWxyzgGHVvuBhgQxccNegQIBhAB&amp;mstk=AUtExfDHHkuXaOTTcw4wiY32quRKrlitc8r1d2BN-Jch-Jhpq7z_EE1MOsyu3yZZz2Wj5eR_7Ln-Ow03UUY8pTsVj1In-fqynT1DtjiyxwyHWiBjaOyZQZUQgC4uePkea49tRK3KWo17qrRyPVzun1uVWKFGL2eJu0cp56eABT1XrD9Q6J0&amp;csui=3" TargetMode="External"/><Relationship Id="rId1" Type="http://schemas.openxmlformats.org/officeDocument/2006/relationships/slideLayout" Target="../slideLayouts/slideLayout2.xml"/><Relationship Id="rId4" Type="http://schemas.openxmlformats.org/officeDocument/2006/relationships/hyperlink" Target="https://www.google.com/search?sca_esv=3b642b3af2687206&amp;rlz=1C1YTUH_enIN1104IN1104&amp;cs=0&amp;q=Website+Retargeting&amp;sa=X&amp;ved=2ahUKEwjFhaGw95OPAxWxyzgGHVvuBhgQxccNegQIBhAD&amp;mstk=AUtExfDHHkuXaOTTcw4wiY32quRKrlitc8r1d2BN-Jch-Jhpq7z_EE1MOsyu3yZZz2Wj5eR_7Ln-Ow03UUY8pTsVj1In-fqynT1DtjiyxwyHWiBjaOyZQZUQgC4uePkea49tRK3KWo17qrRyPVzun1uVWKFGL2eJu0cp56eABT1XrD9Q6J0&amp;csui=3"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google.com/search?sca_esv=3b642b3af2687206&amp;rlz=1C1YTUH_enIN1104IN1104&amp;cs=0&amp;q=Demographic+Targeting&amp;sa=X&amp;ved=2ahUKEwjFhaGw95OPAxWxyzgGHVvuBhgQxccNegQIJBAC&amp;mstk=AUtExfDHHkuXaOTTcw4wiY32quRKrlitc8r1d2BN-Jch-Jhpq7z_EE1MOsyu3yZZz2Wj5eR_7Ln-Ow03UUY8pTsVj1In-fqynT1DtjiyxwyHWiBjaOyZQZUQgC4uePkea49tRK3KWo17qrRyPVzun1uVWKFGL2eJu0cp56eABT1XrD9Q6J0&amp;csui=3"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google.com/search?sca_esv=3b642b3af2687206&amp;rlz=1C1YTUH_enIN1104IN1104&amp;cs=0&amp;q=Predictive+Audiences&amp;sa=X&amp;ved=2ahUKEwjFhaGw95OPAxWxyzgGHVvuBhgQxccNegQINRAB&amp;mstk=AUtExfDHHkuXaOTTcw4wiY32quRKrlitc8r1d2BN-Jch-Jhpq7z_EE1MOsyu3yZZz2Wj5eR_7Ln-Ow03UUY8pTsVj1In-fqynT1DtjiyxwyHWiBjaOyZQZUQgC4uePkea49tRK3KWo17qrRyPVzun1uVWKFGL2eJu0cp56eABT1XrD9Q6J0&amp;csui=3" TargetMode="External"/><Relationship Id="rId2" Type="http://schemas.openxmlformats.org/officeDocument/2006/relationships/hyperlink" Target="https://www.google.com/search?sca_esv=3b642b3af2687206&amp;rlz=1C1YTUH_enIN1104IN1104&amp;cs=0&amp;q=Matched+Audiences&amp;sa=X&amp;ved=2ahUKEwjFhaGw95OPAxWxyzgGHVvuBhgQxccNegQIMhAB&amp;mstk=AUtExfDHHkuXaOTTcw4wiY32quRKrlitc8r1d2BN-Jch-Jhpq7z_EE1MOsyu3yZZz2Wj5eR_7Ln-Ow03UUY8pTsVj1In-fqynT1DtjiyxwyHWiBjaOyZQZUQgC4uePkea49tRK3KWo17qrRyPVzun1uVWKFGL2eJu0cp56eABT1XrD9Q6J0&amp;csui=3"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business.linkedin.com/marketing-solutions/ads" TargetMode="External"/><Relationship Id="rId2" Type="http://schemas.openxmlformats.org/officeDocument/2006/relationships/hyperlink" Target="https://www.google.com/search?sca_esv=3b642b3af2687206&amp;rlz=1C1YTUH_enIN1104IN1104&amp;cs=0&amp;q=Campaign+Manager&amp;sa=X&amp;ved=2ahUKEwjFhaGw95OPAxWxyzgGHVvuBhgQxccNegQIZxAB&amp;mstk=AUtExfDHHkuXaOTTcw4wiY32quRKrlitc8r1d2BN-Jch-Jhpq7z_EE1MOsyu3yZZz2Wj5eR_7Ln-Ow03UUY8pTsVj1In-fqynT1DtjiyxwyHWiBjaOyZQZUQgC4uePkea49tRK3KWo17qrRyPVzun1uVWKFGL2eJu0cp56eABT1XrD9Q6J0&amp;csui=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LinkedIn </a:t>
            </a:r>
            <a:r>
              <a:rPr lang="en-IN" dirty="0" smtClean="0"/>
              <a:t>Marketing</a:t>
            </a:r>
            <a:br>
              <a:rPr lang="en-IN" dirty="0" smtClean="0"/>
            </a:br>
            <a:endParaRPr lang="en-IN" dirty="0"/>
          </a:p>
        </p:txBody>
      </p:sp>
      <p:sp>
        <p:nvSpPr>
          <p:cNvPr id="3" name="Content Placeholder 2"/>
          <p:cNvSpPr>
            <a:spLocks noGrp="1"/>
          </p:cNvSpPr>
          <p:nvPr>
            <p:ph idx="1"/>
          </p:nvPr>
        </p:nvSpPr>
        <p:spPr>
          <a:xfrm>
            <a:off x="457200" y="5514109"/>
            <a:ext cx="8229600" cy="612054"/>
          </a:xfrm>
        </p:spPr>
        <p:txBody>
          <a:bodyPr>
            <a:normAutofit fontScale="55000" lnSpcReduction="20000"/>
          </a:bodyPr>
          <a:lstStyle/>
          <a:p>
            <a:pPr marL="0" indent="0">
              <a:buNone/>
            </a:pPr>
            <a:r>
              <a:rPr lang="en-IN" dirty="0" smtClean="0"/>
              <a:t>Prepared by</a:t>
            </a:r>
          </a:p>
          <a:p>
            <a:pPr marL="0" indent="0">
              <a:buNone/>
            </a:pPr>
            <a:r>
              <a:rPr lang="en-IN" dirty="0" err="1" smtClean="0"/>
              <a:t>Mrs.</a:t>
            </a:r>
            <a:r>
              <a:rPr lang="en-IN" dirty="0" smtClean="0"/>
              <a:t> </a:t>
            </a:r>
            <a:r>
              <a:rPr lang="en-IN" dirty="0" err="1" smtClean="0"/>
              <a:t>Rushali</a:t>
            </a:r>
            <a:r>
              <a:rPr lang="en-IN" dirty="0" smtClean="0"/>
              <a:t> </a:t>
            </a:r>
            <a:r>
              <a:rPr lang="en-IN" dirty="0" err="1" smtClean="0"/>
              <a:t>Navale</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9927" y="942109"/>
            <a:ext cx="6788727" cy="4391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6856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a:t>
            </a:r>
            <a:endParaRPr lang="en-IN" dirty="0"/>
          </a:p>
        </p:txBody>
      </p:sp>
      <p:sp>
        <p:nvSpPr>
          <p:cNvPr id="3" name="Content Placeholder 2"/>
          <p:cNvSpPr>
            <a:spLocks noGrp="1"/>
          </p:cNvSpPr>
          <p:nvPr>
            <p:ph idx="1"/>
          </p:nvPr>
        </p:nvSpPr>
        <p:spPr/>
        <p:txBody>
          <a:bodyPr>
            <a:normAutofit fontScale="92500" lnSpcReduction="20000"/>
          </a:bodyPr>
          <a:lstStyle/>
          <a:p>
            <a:r>
              <a:rPr lang="en-IN" dirty="0"/>
              <a:t>LinkedIn marketing is a vital part of any digital marketing strategy, leveraging the platform's professional focus to build brand awareness, generate leads, and establish industry authority. </a:t>
            </a:r>
            <a:endParaRPr lang="en-IN" dirty="0" smtClean="0"/>
          </a:p>
          <a:p>
            <a:r>
              <a:rPr lang="en-IN" dirty="0" smtClean="0"/>
              <a:t>It </a:t>
            </a:r>
            <a:r>
              <a:rPr lang="en-IN" dirty="0"/>
              <a:t>involves using LinkedIn's features to connect with a targeted audience, share valuable content, and drive business goals. </a:t>
            </a:r>
            <a:endParaRPr lang="en-IN" dirty="0" smtClean="0"/>
          </a:p>
          <a:p>
            <a:r>
              <a:rPr lang="en-IN" dirty="0" smtClean="0"/>
              <a:t>By </a:t>
            </a:r>
            <a:r>
              <a:rPr lang="en-IN" dirty="0"/>
              <a:t>understanding LinkedIn's unique strengths and implementing effective strategies, businesses can significantly enhance their online presence and achieve their marketing objectives. </a:t>
            </a:r>
            <a:endParaRPr lang="en-IN" dirty="0"/>
          </a:p>
        </p:txBody>
      </p:sp>
    </p:spTree>
    <p:extLst>
      <p:ext uri="{BB962C8B-B14F-4D97-AF65-F5344CB8AC3E}">
        <p14:creationId xmlns:p14="http://schemas.microsoft.com/office/powerpoint/2010/main" val="4168110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Key Aspects of LinkedIn Marketing:</a:t>
            </a:r>
            <a:br>
              <a:rPr lang="en-IN" dirty="0"/>
            </a:br>
            <a:endParaRPr lang="en-IN" dirty="0"/>
          </a:p>
        </p:txBody>
      </p:sp>
      <p:sp>
        <p:nvSpPr>
          <p:cNvPr id="3" name="Content Placeholder 2"/>
          <p:cNvSpPr>
            <a:spLocks noGrp="1"/>
          </p:cNvSpPr>
          <p:nvPr>
            <p:ph idx="1"/>
          </p:nvPr>
        </p:nvSpPr>
        <p:spPr/>
        <p:txBody>
          <a:bodyPr>
            <a:normAutofit fontScale="55000" lnSpcReduction="20000"/>
          </a:bodyPr>
          <a:lstStyle/>
          <a:p>
            <a:r>
              <a:rPr lang="en-IN" b="1" dirty="0" smtClean="0"/>
              <a:t>Targeted </a:t>
            </a:r>
            <a:r>
              <a:rPr lang="en-IN" b="1" dirty="0"/>
              <a:t>Audience Engagement:</a:t>
            </a:r>
            <a:endParaRPr lang="en-IN" dirty="0"/>
          </a:p>
          <a:p>
            <a:pPr marL="0" indent="0" fontAlgn="ctr">
              <a:buNone/>
            </a:pPr>
            <a:r>
              <a:rPr lang="en-IN" dirty="0"/>
              <a:t>LinkedIn allows businesses to connect with specific professional demographics, including industry, job title, company, and more. This focused approach ensures that marketing efforts reach the most relevant audience, increasing the likelihood of engagement and conversions. </a:t>
            </a:r>
          </a:p>
          <a:p>
            <a:r>
              <a:rPr lang="en-IN" b="1" dirty="0"/>
              <a:t>Content Marketing:</a:t>
            </a:r>
            <a:endParaRPr lang="en-IN" dirty="0"/>
          </a:p>
          <a:p>
            <a:pPr marL="0" indent="0" fontAlgn="ctr">
              <a:buNone/>
            </a:pPr>
            <a:r>
              <a:rPr lang="en-IN" dirty="0"/>
              <a:t>LinkedIn is a powerful platform for sharing valuable content, such as articles, posts, videos, and updates, to establish thought leadership and engage with the target audience. </a:t>
            </a:r>
          </a:p>
          <a:p>
            <a:r>
              <a:rPr lang="en-IN" b="1" dirty="0"/>
              <a:t>Lead Generation:</a:t>
            </a:r>
            <a:endParaRPr lang="en-IN" dirty="0"/>
          </a:p>
          <a:p>
            <a:pPr marL="0" indent="0" fontAlgn="ctr">
              <a:buNone/>
            </a:pPr>
            <a:r>
              <a:rPr lang="en-IN" dirty="0"/>
              <a:t>LinkedIn's professional focus makes it an effective platform for generating high-quality leads. By sharing relevant content and engaging with potential customers, businesses can attract leads that are more likely to convert. </a:t>
            </a:r>
          </a:p>
          <a:p>
            <a:r>
              <a:rPr lang="en-IN" b="1" dirty="0"/>
              <a:t>Building Brand Awareness:</a:t>
            </a:r>
            <a:endParaRPr lang="en-IN" dirty="0"/>
          </a:p>
          <a:p>
            <a:pPr marL="0" indent="0" fontAlgn="ctr">
              <a:buNone/>
            </a:pPr>
            <a:r>
              <a:rPr lang="en-IN" dirty="0"/>
              <a:t>LinkedIn helps businesses increase their brand visibility and awareness by showcasing their expertise, sharing company updates, and participating in relevant discussions. </a:t>
            </a:r>
          </a:p>
        </p:txBody>
      </p:sp>
    </p:spTree>
    <p:extLst>
      <p:ext uri="{BB962C8B-B14F-4D97-AF65-F5344CB8AC3E}">
        <p14:creationId xmlns:p14="http://schemas.microsoft.com/office/powerpoint/2010/main" val="1073505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continue</a:t>
            </a:r>
            <a:endParaRPr lang="en-IN" dirty="0"/>
          </a:p>
        </p:txBody>
      </p:sp>
      <p:sp>
        <p:nvSpPr>
          <p:cNvPr id="3" name="Content Placeholder 2"/>
          <p:cNvSpPr>
            <a:spLocks noGrp="1"/>
          </p:cNvSpPr>
          <p:nvPr>
            <p:ph idx="1"/>
          </p:nvPr>
        </p:nvSpPr>
        <p:spPr/>
        <p:txBody>
          <a:bodyPr>
            <a:normAutofit fontScale="70000" lnSpcReduction="20000"/>
          </a:bodyPr>
          <a:lstStyle/>
          <a:p>
            <a:r>
              <a:rPr lang="en-IN" b="1" dirty="0"/>
              <a:t>Networking and Relationship Building:</a:t>
            </a:r>
            <a:endParaRPr lang="en-IN" dirty="0"/>
          </a:p>
          <a:p>
            <a:pPr marL="0" indent="0" fontAlgn="ctr">
              <a:buNone/>
            </a:pPr>
            <a:r>
              <a:rPr lang="en-IN" dirty="0"/>
              <a:t>LinkedIn facilitates networking and relationship building with professionals in the industry, fostering connections that can lead to valuable partnerships and collaborations. </a:t>
            </a:r>
          </a:p>
          <a:p>
            <a:r>
              <a:rPr lang="en-IN" b="1" dirty="0"/>
              <a:t>Advertising Capabilities:</a:t>
            </a:r>
            <a:endParaRPr lang="en-IN" dirty="0"/>
          </a:p>
          <a:p>
            <a:pPr marL="0" indent="0" fontAlgn="ctr">
              <a:buNone/>
            </a:pPr>
            <a:r>
              <a:rPr lang="en-IN" dirty="0"/>
              <a:t>LinkedIn offers various advertising options, including </a:t>
            </a:r>
            <a:r>
              <a:rPr lang="en-IN" dirty="0">
                <a:hlinkClick r:id="rId2"/>
              </a:rPr>
              <a:t>Sponsored Content</a:t>
            </a:r>
            <a:r>
              <a:rPr lang="en-IN" dirty="0"/>
              <a:t>, </a:t>
            </a:r>
            <a:r>
              <a:rPr lang="en-IN" dirty="0">
                <a:hlinkClick r:id="rId3"/>
              </a:rPr>
              <a:t>Sponsored Messaging</a:t>
            </a:r>
            <a:r>
              <a:rPr lang="en-IN" dirty="0"/>
              <a:t>, and </a:t>
            </a:r>
            <a:r>
              <a:rPr lang="en-IN" dirty="0">
                <a:hlinkClick r:id="rId4"/>
              </a:rPr>
              <a:t>Text Ads</a:t>
            </a:r>
            <a:r>
              <a:rPr lang="en-IN" dirty="0"/>
              <a:t>, to reach a wider audience and drive specific marketing goals. </a:t>
            </a:r>
          </a:p>
          <a:p>
            <a:r>
              <a:rPr lang="en-IN" b="1" dirty="0"/>
              <a:t>Measuring Results:</a:t>
            </a:r>
            <a:endParaRPr lang="en-IN" dirty="0"/>
          </a:p>
          <a:p>
            <a:pPr marL="0" indent="0">
              <a:buNone/>
            </a:pPr>
            <a:r>
              <a:rPr lang="en-IN" dirty="0"/>
              <a:t>LinkedIn provides analytics to track the performance of marketing campaigns, allowing businesses to assess the effectiveness of their strategies and make necessary adjustments. </a:t>
            </a:r>
          </a:p>
        </p:txBody>
      </p:sp>
    </p:spTree>
    <p:extLst>
      <p:ext uri="{BB962C8B-B14F-4D97-AF65-F5344CB8AC3E}">
        <p14:creationId xmlns:p14="http://schemas.microsoft.com/office/powerpoint/2010/main" val="2683700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Why LinkedIn is Important for Digital Marketing:</a:t>
            </a:r>
            <a:br>
              <a:rPr lang="en-IN" dirty="0"/>
            </a:br>
            <a:endParaRPr lang="en-IN" dirty="0"/>
          </a:p>
        </p:txBody>
      </p:sp>
      <p:sp>
        <p:nvSpPr>
          <p:cNvPr id="3" name="Content Placeholder 2"/>
          <p:cNvSpPr>
            <a:spLocks noGrp="1"/>
          </p:cNvSpPr>
          <p:nvPr>
            <p:ph idx="1"/>
          </p:nvPr>
        </p:nvSpPr>
        <p:spPr/>
        <p:txBody>
          <a:bodyPr>
            <a:normAutofit fontScale="62500" lnSpcReduction="20000"/>
          </a:bodyPr>
          <a:lstStyle/>
          <a:p>
            <a:r>
              <a:rPr lang="en-IN" b="1" dirty="0" smtClean="0"/>
              <a:t>Professional </a:t>
            </a:r>
            <a:r>
              <a:rPr lang="en-IN" b="1" dirty="0"/>
              <a:t>Focus:</a:t>
            </a:r>
            <a:endParaRPr lang="en-IN" dirty="0"/>
          </a:p>
          <a:p>
            <a:pPr marL="0" indent="0" fontAlgn="ctr">
              <a:buNone/>
            </a:pPr>
            <a:r>
              <a:rPr lang="en-IN" dirty="0"/>
              <a:t>Unlike other social media platforms, LinkedIn's professional focus allows businesses to connect with a highly targeted audience of decision-makers and industry influencers. </a:t>
            </a:r>
          </a:p>
          <a:p>
            <a:r>
              <a:rPr lang="en-IN" b="1" dirty="0"/>
              <a:t>B2B Focus:</a:t>
            </a:r>
            <a:endParaRPr lang="en-IN" dirty="0"/>
          </a:p>
          <a:p>
            <a:pPr marL="0" indent="0" fontAlgn="ctr">
              <a:buNone/>
            </a:pPr>
            <a:r>
              <a:rPr lang="en-IN" dirty="0"/>
              <a:t>LinkedIn is particularly valuable for B2B marketing, enabling businesses to connect with other businesses and professionals who are potential customers or partners. </a:t>
            </a:r>
          </a:p>
          <a:p>
            <a:r>
              <a:rPr lang="en-IN" b="1" dirty="0"/>
              <a:t>SEO Potential:</a:t>
            </a:r>
            <a:endParaRPr lang="en-IN" dirty="0"/>
          </a:p>
          <a:p>
            <a:pPr marL="0" indent="0" fontAlgn="ctr">
              <a:buNone/>
            </a:pPr>
            <a:r>
              <a:rPr lang="en-IN" dirty="0"/>
              <a:t>LinkedIn profiles, pages, and articles have strong SEO potential, making it easier for people to find businesses and their content through search engines. </a:t>
            </a:r>
          </a:p>
          <a:p>
            <a:pPr marL="0" indent="0">
              <a:buNone/>
            </a:pPr>
            <a:r>
              <a:rPr lang="en-IN" dirty="0"/>
              <a:t>By integrating LinkedIn into their digital marketing strategies, businesses can leverage the platform's unique features to achieve their marketing objectives, build a strong online presence, and drive growth. </a:t>
            </a:r>
          </a:p>
          <a:p>
            <a:endParaRPr lang="en-IN" dirty="0"/>
          </a:p>
        </p:txBody>
      </p:sp>
    </p:spTree>
    <p:extLst>
      <p:ext uri="{BB962C8B-B14F-4D97-AF65-F5344CB8AC3E}">
        <p14:creationId xmlns:p14="http://schemas.microsoft.com/office/powerpoint/2010/main" val="3926452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LinkedIn Presence</a:t>
            </a:r>
            <a:endParaRPr lang="en-IN" dirty="0"/>
          </a:p>
        </p:txBody>
      </p:sp>
      <p:sp>
        <p:nvSpPr>
          <p:cNvPr id="3" name="Content Placeholder 2"/>
          <p:cNvSpPr>
            <a:spLocks noGrp="1"/>
          </p:cNvSpPr>
          <p:nvPr>
            <p:ph idx="1"/>
          </p:nvPr>
        </p:nvSpPr>
        <p:spPr/>
        <p:txBody>
          <a:bodyPr>
            <a:normAutofit fontScale="85000" lnSpcReduction="10000"/>
          </a:bodyPr>
          <a:lstStyle/>
          <a:p>
            <a:pPr marL="0" indent="0">
              <a:buNone/>
            </a:pPr>
            <a:r>
              <a:rPr lang="en-IN" dirty="0"/>
              <a:t>A strong LinkedIn presence is crucial for both individuals and businesses in today's professional landscape. It allows for networking, building a professional brand, attracting opportunities, and showcasing expertise. For businesses, it's a powerful tool for recruitment, lead generation, and establishing brand visibility and credibility. </a:t>
            </a:r>
            <a:endParaRPr lang="en-US" dirty="0" smtClean="0"/>
          </a:p>
          <a:p>
            <a:pPr marL="0" indent="0">
              <a:buNone/>
            </a:pPr>
            <a:r>
              <a:rPr lang="en-US" dirty="0" smtClean="0"/>
              <a:t>- For </a:t>
            </a:r>
            <a:r>
              <a:rPr lang="en-US" dirty="0"/>
              <a:t>personal branding: resumes, connections, authority.</a:t>
            </a:r>
            <a:br>
              <a:rPr lang="en-US" dirty="0"/>
            </a:br>
            <a:r>
              <a:rPr lang="en-US" dirty="0"/>
              <a:t>- For businesses: hiring, networking, thought leadership.</a:t>
            </a:r>
            <a:br>
              <a:rPr lang="en-US" dirty="0"/>
            </a:br>
            <a:r>
              <a:rPr lang="en-US" dirty="0"/>
              <a:t>- Show real LinkedIn profiles (student + brand pages).</a:t>
            </a:r>
            <a:endParaRPr lang="en-IN" dirty="0"/>
          </a:p>
        </p:txBody>
      </p:sp>
    </p:spTree>
    <p:extLst>
      <p:ext uri="{BB962C8B-B14F-4D97-AF65-F5344CB8AC3E}">
        <p14:creationId xmlns:p14="http://schemas.microsoft.com/office/powerpoint/2010/main" val="1172131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For </a:t>
            </a:r>
            <a:r>
              <a:rPr lang="en-IN" dirty="0" smtClean="0"/>
              <a:t>Individuals</a:t>
            </a:r>
            <a:r>
              <a:rPr lang="en-IN" dirty="0"/>
              <a:t/>
            </a:r>
            <a:br>
              <a:rPr lang="en-IN" dirty="0"/>
            </a:br>
            <a:endParaRPr lang="en-IN" dirty="0"/>
          </a:p>
        </p:txBody>
      </p:sp>
      <p:sp>
        <p:nvSpPr>
          <p:cNvPr id="3" name="Content Placeholder 2"/>
          <p:cNvSpPr>
            <a:spLocks noGrp="1"/>
          </p:cNvSpPr>
          <p:nvPr>
            <p:ph idx="1"/>
          </p:nvPr>
        </p:nvSpPr>
        <p:spPr/>
        <p:txBody>
          <a:bodyPr>
            <a:normAutofit fontScale="77500" lnSpcReduction="20000"/>
          </a:bodyPr>
          <a:lstStyle/>
          <a:p>
            <a:pPr fontAlgn="ctr"/>
            <a:r>
              <a:rPr lang="en-IN" b="1" dirty="0" smtClean="0"/>
              <a:t>Professional </a:t>
            </a:r>
            <a:r>
              <a:rPr lang="en-IN" b="1" dirty="0"/>
              <a:t>Networking:</a:t>
            </a:r>
            <a:r>
              <a:rPr lang="en-IN" dirty="0"/>
              <a:t> LinkedIn is a hub for connecting with colleagues, industry leaders, and potential employers. </a:t>
            </a:r>
          </a:p>
          <a:p>
            <a:pPr fontAlgn="ctr"/>
            <a:r>
              <a:rPr lang="en-IN" b="1" dirty="0"/>
              <a:t>Career Advancement:</a:t>
            </a:r>
            <a:r>
              <a:rPr lang="en-IN" dirty="0"/>
              <a:t> Building a strong profile and engaging with content can lead to new job opportunities, promotions, and career growth. </a:t>
            </a:r>
          </a:p>
          <a:p>
            <a:pPr fontAlgn="ctr"/>
            <a:r>
              <a:rPr lang="en-IN" b="1" dirty="0"/>
              <a:t>Personal Branding:</a:t>
            </a:r>
            <a:r>
              <a:rPr lang="en-IN" dirty="0"/>
              <a:t> Sharing your thoughts, experiences, and skills helps establish your unique professional identity. </a:t>
            </a:r>
          </a:p>
          <a:p>
            <a:pPr fontAlgn="ctr"/>
            <a:r>
              <a:rPr lang="en-IN" b="1" dirty="0"/>
              <a:t>Thought Leadership:</a:t>
            </a:r>
            <a:r>
              <a:rPr lang="en-IN" dirty="0"/>
              <a:t> Sharing valuable content positions you as an expert in your field. </a:t>
            </a:r>
          </a:p>
          <a:p>
            <a:r>
              <a:rPr lang="en-IN" b="1" dirty="0"/>
              <a:t>Staying Informed:</a:t>
            </a:r>
            <a:r>
              <a:rPr lang="en-IN" dirty="0"/>
              <a:t> LinkedIn provides access to industry news, insights, and trends. </a:t>
            </a:r>
          </a:p>
          <a:p>
            <a:endParaRPr lang="en-IN" dirty="0"/>
          </a:p>
        </p:txBody>
      </p:sp>
    </p:spTree>
    <p:extLst>
      <p:ext uri="{BB962C8B-B14F-4D97-AF65-F5344CB8AC3E}">
        <p14:creationId xmlns:p14="http://schemas.microsoft.com/office/powerpoint/2010/main" val="1935158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For Businesses</a:t>
            </a:r>
            <a:r>
              <a:rPr lang="en-IN" dirty="0" smtClean="0"/>
              <a:t>:</a:t>
            </a:r>
            <a:endParaRPr lang="en-IN" dirty="0"/>
          </a:p>
        </p:txBody>
      </p:sp>
      <p:sp>
        <p:nvSpPr>
          <p:cNvPr id="3" name="Content Placeholder 2"/>
          <p:cNvSpPr>
            <a:spLocks noGrp="1"/>
          </p:cNvSpPr>
          <p:nvPr>
            <p:ph idx="1"/>
          </p:nvPr>
        </p:nvSpPr>
        <p:spPr/>
        <p:txBody>
          <a:bodyPr>
            <a:normAutofit fontScale="70000" lnSpcReduction="20000"/>
          </a:bodyPr>
          <a:lstStyle/>
          <a:p>
            <a:r>
              <a:rPr lang="en-IN" b="1" dirty="0" smtClean="0"/>
              <a:t>Brand </a:t>
            </a:r>
            <a:r>
              <a:rPr lang="en-IN" b="1" dirty="0"/>
              <a:t>Building:</a:t>
            </a:r>
            <a:endParaRPr lang="en-IN" dirty="0"/>
          </a:p>
          <a:p>
            <a:pPr marL="0" indent="0" fontAlgn="ctr">
              <a:buNone/>
            </a:pPr>
            <a:r>
              <a:rPr lang="en-IN" dirty="0"/>
              <a:t>A LinkedIn presence helps showcase your company culture, values, and expertise, enhancing brand awareness and reputation. </a:t>
            </a:r>
          </a:p>
          <a:p>
            <a:r>
              <a:rPr lang="en-IN" b="1" dirty="0"/>
              <a:t>Recruitment:</a:t>
            </a:r>
            <a:endParaRPr lang="en-IN" dirty="0"/>
          </a:p>
          <a:p>
            <a:pPr marL="0" indent="0" fontAlgn="ctr">
              <a:buNone/>
            </a:pPr>
            <a:r>
              <a:rPr lang="en-IN" dirty="0"/>
              <a:t>LinkedIn is a primary tool for attracting top talent and building a strong team. </a:t>
            </a:r>
          </a:p>
          <a:p>
            <a:r>
              <a:rPr lang="en-IN" b="1" dirty="0"/>
              <a:t>Lead Generation:</a:t>
            </a:r>
            <a:endParaRPr lang="en-IN" dirty="0"/>
          </a:p>
          <a:p>
            <a:pPr marL="0" indent="0" fontAlgn="ctr">
              <a:buNone/>
            </a:pPr>
            <a:r>
              <a:rPr lang="en-IN" dirty="0"/>
              <a:t>By sharing valuable content and engaging with potential clients, businesses can generate leads and drive sales. </a:t>
            </a:r>
          </a:p>
          <a:p>
            <a:r>
              <a:rPr lang="en-IN" b="1" dirty="0"/>
              <a:t>Client Acquisition:</a:t>
            </a:r>
            <a:endParaRPr lang="en-IN" dirty="0"/>
          </a:p>
          <a:p>
            <a:pPr marL="0" indent="0" fontAlgn="ctr">
              <a:buNone/>
            </a:pPr>
            <a:r>
              <a:rPr lang="en-IN" dirty="0"/>
              <a:t>LinkedIn helps connect with potential clients and build relationships. </a:t>
            </a:r>
          </a:p>
          <a:p>
            <a:r>
              <a:rPr lang="en-IN" b="1" dirty="0"/>
              <a:t>Market Research:</a:t>
            </a:r>
            <a:endParaRPr lang="en-IN" dirty="0"/>
          </a:p>
          <a:p>
            <a:pPr marL="0" indent="0">
              <a:buNone/>
            </a:pPr>
            <a:r>
              <a:rPr lang="en-IN" dirty="0"/>
              <a:t>Businesses can use LinkedIn to research their industry, competitors, and potential customers. </a:t>
            </a:r>
          </a:p>
          <a:p>
            <a:endParaRPr lang="en-IN" dirty="0"/>
          </a:p>
        </p:txBody>
      </p:sp>
    </p:spTree>
    <p:extLst>
      <p:ext uri="{BB962C8B-B14F-4D97-AF65-F5344CB8AC3E}">
        <p14:creationId xmlns:p14="http://schemas.microsoft.com/office/powerpoint/2010/main" val="318569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LinkedIn Strategy</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710627"/>
            <a:ext cx="8229600" cy="4305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3007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a:t>
            </a:r>
            <a:endParaRPr lang="en-IN" dirty="0"/>
          </a:p>
        </p:txBody>
      </p:sp>
      <p:sp>
        <p:nvSpPr>
          <p:cNvPr id="3" name="Content Placeholder 2"/>
          <p:cNvSpPr>
            <a:spLocks noGrp="1"/>
          </p:cNvSpPr>
          <p:nvPr>
            <p:ph idx="1"/>
          </p:nvPr>
        </p:nvSpPr>
        <p:spPr/>
        <p:txBody>
          <a:bodyPr>
            <a:normAutofit fontScale="92500" lnSpcReduction="20000"/>
          </a:bodyPr>
          <a:lstStyle/>
          <a:p>
            <a:r>
              <a:rPr lang="en-IN" dirty="0"/>
              <a:t>A LinkedIn content strategy is a plan for creating and sharing content on LinkedIn to achieve specific goals, such as building brand awareness, generating leads, or establishing thought leadership. </a:t>
            </a:r>
            <a:endParaRPr lang="en-IN" dirty="0" smtClean="0"/>
          </a:p>
          <a:p>
            <a:r>
              <a:rPr lang="en-IN" dirty="0" smtClean="0"/>
              <a:t>It </a:t>
            </a:r>
            <a:r>
              <a:rPr lang="en-IN" dirty="0"/>
              <a:t>involves defining your target audience, crafting engaging content, and strategically distributing that content. </a:t>
            </a:r>
            <a:endParaRPr lang="en-IN" dirty="0" smtClean="0"/>
          </a:p>
          <a:p>
            <a:r>
              <a:rPr lang="en-IN" dirty="0" smtClean="0"/>
              <a:t>Effective </a:t>
            </a:r>
            <a:r>
              <a:rPr lang="en-IN" dirty="0"/>
              <a:t>strategies also consider the professional yet relatable tone needed for LinkedIn, and the importance of consistent engagement. </a:t>
            </a:r>
            <a:endParaRPr lang="en-IN" dirty="0"/>
          </a:p>
        </p:txBody>
      </p:sp>
    </p:spTree>
    <p:extLst>
      <p:ext uri="{BB962C8B-B14F-4D97-AF65-F5344CB8AC3E}">
        <p14:creationId xmlns:p14="http://schemas.microsoft.com/office/powerpoint/2010/main" val="404917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1. Define Your Goals and Target Audience: </a:t>
            </a:r>
            <a:br>
              <a:rPr lang="en-IN" dirty="0"/>
            </a:br>
            <a:endParaRPr lang="en-IN" dirty="0"/>
          </a:p>
        </p:txBody>
      </p:sp>
      <p:sp>
        <p:nvSpPr>
          <p:cNvPr id="3" name="Content Placeholder 2"/>
          <p:cNvSpPr>
            <a:spLocks noGrp="1"/>
          </p:cNvSpPr>
          <p:nvPr>
            <p:ph idx="1"/>
          </p:nvPr>
        </p:nvSpPr>
        <p:spPr/>
        <p:txBody>
          <a:bodyPr>
            <a:normAutofit/>
          </a:bodyPr>
          <a:lstStyle/>
          <a:p>
            <a:r>
              <a:rPr lang="en-IN" b="1" dirty="0" smtClean="0"/>
              <a:t>Goals</a:t>
            </a:r>
            <a:r>
              <a:rPr lang="en-IN" b="1" dirty="0"/>
              <a:t>:</a:t>
            </a:r>
            <a:endParaRPr lang="en-IN" dirty="0"/>
          </a:p>
          <a:p>
            <a:pPr marL="0" indent="0">
              <a:buNone/>
            </a:pPr>
            <a:r>
              <a:rPr lang="en-IN" dirty="0"/>
              <a:t>What do you want to achieve on LinkedIn? (e.g., increase brand awareness, generate leads, establish thought leadership, drive website traffic).</a:t>
            </a:r>
          </a:p>
          <a:p>
            <a:r>
              <a:rPr lang="en-IN" b="1" dirty="0"/>
              <a:t>Target Audience:</a:t>
            </a:r>
            <a:endParaRPr lang="en-IN" dirty="0"/>
          </a:p>
          <a:p>
            <a:pPr marL="0" indent="0">
              <a:buNone/>
            </a:pPr>
            <a:r>
              <a:rPr lang="en-IN" dirty="0"/>
              <a:t>Who are you trying to reach? (e.g., specific industries, job titles, company sizes, interests).</a:t>
            </a:r>
          </a:p>
          <a:p>
            <a:endParaRPr lang="en-IN" dirty="0"/>
          </a:p>
        </p:txBody>
      </p:sp>
    </p:spTree>
    <p:extLst>
      <p:ext uri="{BB962C8B-B14F-4D97-AF65-F5344CB8AC3E}">
        <p14:creationId xmlns:p14="http://schemas.microsoft.com/office/powerpoint/2010/main" val="1126480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2. Content Strategy:</a:t>
            </a:r>
            <a:br>
              <a:rPr lang="en-IN" dirty="0"/>
            </a:br>
            <a:endParaRPr lang="en-IN" dirty="0"/>
          </a:p>
        </p:txBody>
      </p:sp>
      <p:sp>
        <p:nvSpPr>
          <p:cNvPr id="3" name="Content Placeholder 2"/>
          <p:cNvSpPr>
            <a:spLocks noGrp="1"/>
          </p:cNvSpPr>
          <p:nvPr>
            <p:ph idx="1"/>
          </p:nvPr>
        </p:nvSpPr>
        <p:spPr/>
        <p:txBody>
          <a:bodyPr>
            <a:normAutofit fontScale="70000" lnSpcReduction="20000"/>
          </a:bodyPr>
          <a:lstStyle/>
          <a:p>
            <a:r>
              <a:rPr lang="en-IN" b="1" dirty="0" smtClean="0"/>
              <a:t>Content </a:t>
            </a:r>
            <a:r>
              <a:rPr lang="en-IN" b="1" dirty="0"/>
              <a:t>Pillars:</a:t>
            </a:r>
            <a:endParaRPr lang="en-IN" dirty="0"/>
          </a:p>
          <a:p>
            <a:pPr marL="0" indent="0" fontAlgn="ctr">
              <a:buNone/>
            </a:pPr>
            <a:r>
              <a:rPr lang="en-IN" dirty="0"/>
              <a:t>Identify key topics and themes relevant to your audience and goals. </a:t>
            </a:r>
          </a:p>
          <a:p>
            <a:r>
              <a:rPr lang="en-IN" b="1" dirty="0"/>
              <a:t>Content Formats:</a:t>
            </a:r>
            <a:endParaRPr lang="en-IN" dirty="0"/>
          </a:p>
          <a:p>
            <a:pPr marL="0" indent="0" fontAlgn="ctr">
              <a:buNone/>
            </a:pPr>
            <a:r>
              <a:rPr lang="en-IN" dirty="0"/>
              <a:t>Utilize various formats like text posts, images, videos, articles, carousels, and polls. </a:t>
            </a:r>
          </a:p>
          <a:p>
            <a:r>
              <a:rPr lang="en-IN" b="1" dirty="0"/>
              <a:t>Content Tone:</a:t>
            </a:r>
            <a:endParaRPr lang="en-IN" dirty="0"/>
          </a:p>
          <a:p>
            <a:pPr marL="0" indent="0" fontAlgn="ctr">
              <a:buNone/>
            </a:pPr>
            <a:r>
              <a:rPr lang="en-IN" dirty="0"/>
              <a:t>Maintain a professional yet relatable tone, balancing expertise with a human touch. </a:t>
            </a:r>
          </a:p>
          <a:p>
            <a:r>
              <a:rPr lang="en-IN" b="1" dirty="0"/>
              <a:t>Frequency:</a:t>
            </a:r>
            <a:endParaRPr lang="en-IN" dirty="0"/>
          </a:p>
          <a:p>
            <a:pPr marL="0" indent="0" fontAlgn="ctr">
              <a:buNone/>
            </a:pPr>
            <a:r>
              <a:rPr lang="en-IN" dirty="0"/>
              <a:t>Establish a consistent posting schedule that aligns with your goals and audience engagement patterns. </a:t>
            </a:r>
          </a:p>
          <a:p>
            <a:r>
              <a:rPr lang="en-IN" b="1" dirty="0"/>
              <a:t>Value:</a:t>
            </a:r>
            <a:endParaRPr lang="en-IN" dirty="0"/>
          </a:p>
          <a:p>
            <a:pPr marL="0" indent="0">
              <a:buNone/>
            </a:pPr>
            <a:r>
              <a:rPr lang="en-IN" dirty="0"/>
              <a:t>Focus on providing value to your audience through informative, engaging, and actionable content. </a:t>
            </a:r>
          </a:p>
          <a:p>
            <a:endParaRPr lang="en-IN" dirty="0"/>
          </a:p>
        </p:txBody>
      </p:sp>
    </p:spTree>
    <p:extLst>
      <p:ext uri="{BB962C8B-B14F-4D97-AF65-F5344CB8AC3E}">
        <p14:creationId xmlns:p14="http://schemas.microsoft.com/office/powerpoint/2010/main" val="686929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3. Distribution Strategy: </a:t>
            </a:r>
            <a:br>
              <a:rPr lang="en-IN" dirty="0"/>
            </a:br>
            <a:endParaRPr lang="en-IN" dirty="0"/>
          </a:p>
        </p:txBody>
      </p:sp>
      <p:sp>
        <p:nvSpPr>
          <p:cNvPr id="3" name="Content Placeholder 2"/>
          <p:cNvSpPr>
            <a:spLocks noGrp="1"/>
          </p:cNvSpPr>
          <p:nvPr>
            <p:ph idx="1"/>
          </p:nvPr>
        </p:nvSpPr>
        <p:spPr/>
        <p:txBody>
          <a:bodyPr>
            <a:normAutofit fontScale="92500" lnSpcReduction="20000"/>
          </a:bodyPr>
          <a:lstStyle/>
          <a:p>
            <a:r>
              <a:rPr lang="en-IN" b="1" dirty="0" smtClean="0"/>
              <a:t>Organic </a:t>
            </a:r>
            <a:r>
              <a:rPr lang="en-IN" b="1" dirty="0"/>
              <a:t>Reach:</a:t>
            </a:r>
            <a:endParaRPr lang="en-IN" dirty="0"/>
          </a:p>
          <a:p>
            <a:pPr marL="0" indent="0">
              <a:buNone/>
            </a:pPr>
            <a:r>
              <a:rPr lang="en-IN" dirty="0"/>
              <a:t>Maximize your reach through relevant </a:t>
            </a:r>
            <a:r>
              <a:rPr lang="en-IN" dirty="0" err="1"/>
              <a:t>hashtags</a:t>
            </a:r>
            <a:r>
              <a:rPr lang="en-IN" dirty="0"/>
              <a:t>, engaging with your audience, and participating in relevant groups.</a:t>
            </a:r>
          </a:p>
          <a:p>
            <a:r>
              <a:rPr lang="en-IN" b="1" dirty="0"/>
              <a:t>Paid Promotion:</a:t>
            </a:r>
            <a:endParaRPr lang="en-IN" dirty="0"/>
          </a:p>
          <a:p>
            <a:pPr marL="0" indent="0">
              <a:buNone/>
            </a:pPr>
            <a:r>
              <a:rPr lang="en-IN" dirty="0"/>
              <a:t>Consider using LinkedIn Ads for targeted campaigns to reach specific audiences.</a:t>
            </a:r>
          </a:p>
          <a:p>
            <a:r>
              <a:rPr lang="en-IN" b="1" dirty="0"/>
              <a:t>Employee Advocacy:</a:t>
            </a:r>
            <a:endParaRPr lang="en-IN" dirty="0"/>
          </a:p>
          <a:p>
            <a:pPr marL="0" indent="0">
              <a:buNone/>
            </a:pPr>
            <a:r>
              <a:rPr lang="en-IN" dirty="0"/>
              <a:t>Encourage employees to share and engage with your content to expand your reach.</a:t>
            </a:r>
          </a:p>
          <a:p>
            <a:endParaRPr lang="en-IN" dirty="0"/>
          </a:p>
        </p:txBody>
      </p:sp>
    </p:spTree>
    <p:extLst>
      <p:ext uri="{BB962C8B-B14F-4D97-AF65-F5344CB8AC3E}">
        <p14:creationId xmlns:p14="http://schemas.microsoft.com/office/powerpoint/2010/main" val="4221584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4. Engagement and Analysis:</a:t>
            </a:r>
            <a:br>
              <a:rPr lang="en-IN" dirty="0"/>
            </a:br>
            <a:endParaRPr lang="en-IN" dirty="0"/>
          </a:p>
        </p:txBody>
      </p:sp>
      <p:sp>
        <p:nvSpPr>
          <p:cNvPr id="3" name="Content Placeholder 2"/>
          <p:cNvSpPr>
            <a:spLocks noGrp="1"/>
          </p:cNvSpPr>
          <p:nvPr>
            <p:ph idx="1"/>
          </p:nvPr>
        </p:nvSpPr>
        <p:spPr/>
        <p:txBody>
          <a:bodyPr>
            <a:normAutofit/>
          </a:bodyPr>
          <a:lstStyle/>
          <a:p>
            <a:r>
              <a:rPr lang="en-IN" b="1" dirty="0" smtClean="0"/>
              <a:t>Active </a:t>
            </a:r>
            <a:r>
              <a:rPr lang="en-IN" b="1" dirty="0"/>
              <a:t>Engagement:</a:t>
            </a:r>
            <a:endParaRPr lang="en-IN" dirty="0"/>
          </a:p>
          <a:p>
            <a:pPr marL="0" indent="0" fontAlgn="ctr">
              <a:buNone/>
            </a:pPr>
            <a:r>
              <a:rPr lang="en-IN" dirty="0"/>
              <a:t>Respond to comments, messages, and participate in discussions to build relationships. </a:t>
            </a:r>
          </a:p>
          <a:p>
            <a:r>
              <a:rPr lang="en-IN" b="1" dirty="0"/>
              <a:t>Track Performance:</a:t>
            </a:r>
            <a:endParaRPr lang="en-IN" dirty="0"/>
          </a:p>
          <a:p>
            <a:pPr marL="0" indent="0">
              <a:buNone/>
            </a:pPr>
            <a:r>
              <a:rPr lang="en-IN" dirty="0"/>
              <a:t>Monitor your LinkedIn analytics to assess the effectiveness of your content and adjust your strategy accordingly. </a:t>
            </a:r>
          </a:p>
          <a:p>
            <a:endParaRPr lang="en-IN" dirty="0"/>
          </a:p>
        </p:txBody>
      </p:sp>
    </p:spTree>
    <p:extLst>
      <p:ext uri="{BB962C8B-B14F-4D97-AF65-F5344CB8AC3E}">
        <p14:creationId xmlns:p14="http://schemas.microsoft.com/office/powerpoint/2010/main" val="4275299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5. Key Considerations</a:t>
            </a:r>
            <a:r>
              <a:rPr lang="en-IN" dirty="0" smtClean="0"/>
              <a:t>:</a:t>
            </a:r>
            <a:endParaRPr lang="en-IN" dirty="0"/>
          </a:p>
        </p:txBody>
      </p:sp>
      <p:sp>
        <p:nvSpPr>
          <p:cNvPr id="3" name="Content Placeholder 2"/>
          <p:cNvSpPr>
            <a:spLocks noGrp="1"/>
          </p:cNvSpPr>
          <p:nvPr>
            <p:ph idx="1"/>
          </p:nvPr>
        </p:nvSpPr>
        <p:spPr/>
        <p:txBody>
          <a:bodyPr/>
          <a:lstStyle/>
          <a:p>
            <a:pPr fontAlgn="ctr"/>
            <a:r>
              <a:rPr lang="en-IN" b="1" dirty="0" smtClean="0"/>
              <a:t>Authenticity</a:t>
            </a:r>
            <a:r>
              <a:rPr lang="en-IN" b="1" dirty="0"/>
              <a:t>:</a:t>
            </a:r>
            <a:r>
              <a:rPr lang="en-IN" dirty="0"/>
              <a:t> Be genuine and transparent in your content to build trust and credibility. </a:t>
            </a:r>
          </a:p>
          <a:p>
            <a:r>
              <a:rPr lang="en-IN" b="1" dirty="0"/>
              <a:t>Adaptability:</a:t>
            </a:r>
            <a:r>
              <a:rPr lang="en-IN" dirty="0"/>
              <a:t> Continuously evaluate and refine your strategy based on performance and feedback. </a:t>
            </a:r>
          </a:p>
          <a:p>
            <a:endParaRPr lang="en-IN" dirty="0"/>
          </a:p>
        </p:txBody>
      </p:sp>
    </p:spTree>
    <p:extLst>
      <p:ext uri="{BB962C8B-B14F-4D97-AF65-F5344CB8AC3E}">
        <p14:creationId xmlns:p14="http://schemas.microsoft.com/office/powerpoint/2010/main" val="86269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Key Aspects of LinkedIn Ad Campaigns</a:t>
            </a:r>
            <a:r>
              <a:rPr lang="en-IN" dirty="0" smtClean="0"/>
              <a:t>:</a:t>
            </a:r>
            <a:endParaRPr lang="en-IN" dirty="0"/>
          </a:p>
        </p:txBody>
      </p:sp>
      <p:sp>
        <p:nvSpPr>
          <p:cNvPr id="3" name="Content Placeholder 2"/>
          <p:cNvSpPr>
            <a:spLocks noGrp="1"/>
          </p:cNvSpPr>
          <p:nvPr>
            <p:ph idx="1"/>
          </p:nvPr>
        </p:nvSpPr>
        <p:spPr/>
        <p:txBody>
          <a:bodyPr>
            <a:normAutofit fontScale="55000" lnSpcReduction="20000"/>
          </a:bodyPr>
          <a:lstStyle/>
          <a:p>
            <a:r>
              <a:rPr lang="en-IN" b="1" dirty="0" smtClean="0"/>
              <a:t>Targeting Options: </a:t>
            </a:r>
            <a:r>
              <a:rPr lang="en-IN" dirty="0" smtClean="0"/>
              <a:t>LinkedIn </a:t>
            </a:r>
            <a:r>
              <a:rPr lang="en-IN" dirty="0"/>
              <a:t>provides a wide range of targeting criteria, including demographics (location, industry, job title, seniority</a:t>
            </a:r>
            <a:r>
              <a:rPr lang="en-IN" dirty="0" smtClean="0"/>
              <a:t>),company </a:t>
            </a:r>
            <a:r>
              <a:rPr lang="en-IN" dirty="0"/>
              <a:t>attributes (size, industry, followers), and even interests and traits. </a:t>
            </a:r>
          </a:p>
          <a:p>
            <a:r>
              <a:rPr lang="en-IN" b="1" dirty="0"/>
              <a:t>Audience </a:t>
            </a:r>
            <a:r>
              <a:rPr lang="en-IN" b="1" dirty="0" smtClean="0"/>
              <a:t>Segmentation: </a:t>
            </a:r>
            <a:r>
              <a:rPr lang="en-IN" dirty="0" smtClean="0"/>
              <a:t>Break </a:t>
            </a:r>
            <a:r>
              <a:rPr lang="en-IN" dirty="0"/>
              <a:t>down your target audience into smaller, more specific segments based on various attributes to create more tailored ad experiences. </a:t>
            </a:r>
          </a:p>
          <a:p>
            <a:r>
              <a:rPr lang="en-IN" b="1" dirty="0">
                <a:hlinkClick r:id="rId2"/>
              </a:rPr>
              <a:t>Account-Based Marketing (ABM</a:t>
            </a:r>
            <a:r>
              <a:rPr lang="en-IN" b="1" dirty="0" smtClean="0">
                <a:hlinkClick r:id="rId2"/>
              </a:rPr>
              <a:t>)</a:t>
            </a:r>
            <a:r>
              <a:rPr lang="en-IN" b="1" dirty="0" smtClean="0"/>
              <a:t>:</a:t>
            </a:r>
            <a:r>
              <a:rPr lang="en-IN" dirty="0"/>
              <a:t> </a:t>
            </a:r>
            <a:r>
              <a:rPr lang="en-IN" dirty="0" smtClean="0"/>
              <a:t>Leverage </a:t>
            </a:r>
            <a:r>
              <a:rPr lang="en-IN" dirty="0"/>
              <a:t>account targeting to match your target companies against LinkedIn pages, enabling you to run ABM campaigns and guide decision-makers through their buying journey. </a:t>
            </a:r>
          </a:p>
          <a:p>
            <a:r>
              <a:rPr lang="en-IN" b="1" dirty="0">
                <a:hlinkClick r:id="rId3"/>
              </a:rPr>
              <a:t>Website </a:t>
            </a:r>
            <a:r>
              <a:rPr lang="en-IN" b="1" dirty="0" smtClean="0">
                <a:hlinkClick r:id="rId3"/>
              </a:rPr>
              <a:t>Retargeting</a:t>
            </a:r>
            <a:r>
              <a:rPr lang="en-IN" b="1" dirty="0" smtClean="0"/>
              <a:t>:</a:t>
            </a:r>
            <a:r>
              <a:rPr lang="en-IN" dirty="0"/>
              <a:t> </a:t>
            </a:r>
            <a:r>
              <a:rPr lang="en-IN" dirty="0" smtClean="0"/>
              <a:t>Re-engage </a:t>
            </a:r>
            <a:r>
              <a:rPr lang="en-IN" dirty="0"/>
              <a:t>website visitors by targeting them with ads based on their browsing </a:t>
            </a:r>
            <a:r>
              <a:rPr lang="en-IN" dirty="0" err="1"/>
              <a:t>behavior</a:t>
            </a:r>
            <a:r>
              <a:rPr lang="en-IN" dirty="0"/>
              <a:t> on your site. </a:t>
            </a:r>
          </a:p>
          <a:p>
            <a:r>
              <a:rPr lang="en-IN" b="1" dirty="0">
                <a:hlinkClick r:id="rId4"/>
              </a:rPr>
              <a:t>Conversion </a:t>
            </a:r>
            <a:r>
              <a:rPr lang="en-IN" b="1" dirty="0" smtClean="0">
                <a:hlinkClick r:id="rId4"/>
              </a:rPr>
              <a:t>Tracking</a:t>
            </a:r>
            <a:r>
              <a:rPr lang="en-IN" b="1" dirty="0" smtClean="0"/>
              <a:t>:</a:t>
            </a:r>
            <a:r>
              <a:rPr lang="en-IN" dirty="0"/>
              <a:t> </a:t>
            </a:r>
            <a:r>
              <a:rPr lang="en-IN" dirty="0" smtClean="0"/>
              <a:t>Implement </a:t>
            </a:r>
            <a:r>
              <a:rPr lang="en-IN" dirty="0"/>
              <a:t>LinkedIn's insight tag to track conversions and measure the effectiveness of your campaigns in driving desired actions. </a:t>
            </a:r>
          </a:p>
          <a:p>
            <a:r>
              <a:rPr lang="en-IN" b="1" dirty="0">
                <a:hlinkClick r:id="rId5"/>
              </a:rPr>
              <a:t>LinkedIn </a:t>
            </a:r>
            <a:r>
              <a:rPr lang="en-IN" b="1" dirty="0" smtClean="0">
                <a:hlinkClick r:id="rId5"/>
              </a:rPr>
              <a:t>Analytics</a:t>
            </a:r>
            <a:r>
              <a:rPr lang="en-IN" b="1" dirty="0" smtClean="0"/>
              <a:t>: </a:t>
            </a:r>
            <a:r>
              <a:rPr lang="en-IN" dirty="0" smtClean="0"/>
              <a:t>Utilize </a:t>
            </a:r>
            <a:r>
              <a:rPr lang="en-IN" dirty="0"/>
              <a:t>LinkedIn analytics to gain insights into your audience demographics, content engagement, and overall campaign performance. </a:t>
            </a:r>
          </a:p>
          <a:p>
            <a:r>
              <a:rPr lang="en-IN" b="1" dirty="0"/>
              <a:t>Campaign </a:t>
            </a:r>
            <a:r>
              <a:rPr lang="en-IN" b="1" dirty="0" smtClean="0"/>
              <a:t>Optimization:</a:t>
            </a:r>
            <a:r>
              <a:rPr lang="en-IN" dirty="0"/>
              <a:t> </a:t>
            </a:r>
            <a:r>
              <a:rPr lang="en-IN" dirty="0" smtClean="0"/>
              <a:t>Continuously </a:t>
            </a:r>
            <a:r>
              <a:rPr lang="en-IN" dirty="0" err="1"/>
              <a:t>analyze</a:t>
            </a:r>
            <a:r>
              <a:rPr lang="en-IN" dirty="0"/>
              <a:t> campaign performance, adjust targeting based on data, and A/B test different ad </a:t>
            </a:r>
            <a:r>
              <a:rPr lang="en-IN" dirty="0" err="1"/>
              <a:t>creatives</a:t>
            </a:r>
            <a:r>
              <a:rPr lang="en-IN" dirty="0"/>
              <a:t> and targeting strategies to maximize ROI. </a:t>
            </a:r>
          </a:p>
          <a:p>
            <a:endParaRPr lang="en-IN" dirty="0"/>
          </a:p>
        </p:txBody>
      </p:sp>
    </p:spTree>
    <p:extLst>
      <p:ext uri="{BB962C8B-B14F-4D97-AF65-F5344CB8AC3E}">
        <p14:creationId xmlns:p14="http://schemas.microsoft.com/office/powerpoint/2010/main" val="233332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Best Practices for LinkedIn Ad Campaigns:</a:t>
            </a:r>
            <a:br>
              <a:rPr lang="en-IN" dirty="0"/>
            </a:br>
            <a:endParaRPr lang="en-IN" dirty="0"/>
          </a:p>
        </p:txBody>
      </p:sp>
      <p:sp>
        <p:nvSpPr>
          <p:cNvPr id="3" name="Content Placeholder 2"/>
          <p:cNvSpPr>
            <a:spLocks noGrp="1"/>
          </p:cNvSpPr>
          <p:nvPr>
            <p:ph idx="1"/>
          </p:nvPr>
        </p:nvSpPr>
        <p:spPr/>
        <p:txBody>
          <a:bodyPr>
            <a:normAutofit fontScale="62500" lnSpcReduction="20000"/>
          </a:bodyPr>
          <a:lstStyle/>
          <a:p>
            <a:r>
              <a:rPr lang="en-IN" b="1" dirty="0" smtClean="0"/>
              <a:t>Start </a:t>
            </a:r>
            <a:r>
              <a:rPr lang="en-IN" b="1" dirty="0"/>
              <a:t>with clear </a:t>
            </a:r>
            <a:r>
              <a:rPr lang="en-IN" b="1" dirty="0" smtClean="0"/>
              <a:t>objectives: </a:t>
            </a:r>
            <a:r>
              <a:rPr lang="en-IN" dirty="0" smtClean="0"/>
              <a:t>Define </a:t>
            </a:r>
            <a:r>
              <a:rPr lang="en-IN" dirty="0"/>
              <a:t>your goals (e.g., lead generation, brand awareness) and choose the appropriate ad format and targeting options. </a:t>
            </a:r>
          </a:p>
          <a:p>
            <a:r>
              <a:rPr lang="en-IN" b="1" dirty="0"/>
              <a:t>Build a solid </a:t>
            </a:r>
            <a:r>
              <a:rPr lang="en-IN" b="1" dirty="0" smtClean="0"/>
              <a:t>audience: </a:t>
            </a:r>
            <a:r>
              <a:rPr lang="en-IN" dirty="0" smtClean="0"/>
              <a:t>Identify </a:t>
            </a:r>
            <a:r>
              <a:rPr lang="en-IN" dirty="0"/>
              <a:t>the ideal audience for your product or service and leverage LinkedIn's targeting features to reach them effectively. </a:t>
            </a:r>
          </a:p>
          <a:p>
            <a:r>
              <a:rPr lang="en-IN" b="1" dirty="0"/>
              <a:t>Utilize funnel-based </a:t>
            </a:r>
            <a:r>
              <a:rPr lang="en-IN" b="1" dirty="0" smtClean="0"/>
              <a:t>targeting:</a:t>
            </a:r>
            <a:r>
              <a:rPr lang="en-IN" dirty="0"/>
              <a:t> </a:t>
            </a:r>
            <a:r>
              <a:rPr lang="en-IN" dirty="0" smtClean="0"/>
              <a:t>Start </a:t>
            </a:r>
            <a:r>
              <a:rPr lang="en-IN" dirty="0"/>
              <a:t>with broad awareness campaigns (top of the funnel), retarget engaged audiences (middle of the funnel), and focus on high-intent conversions (bottom of the funnel). </a:t>
            </a:r>
          </a:p>
          <a:p>
            <a:r>
              <a:rPr lang="en-IN" b="1" dirty="0"/>
              <a:t>Optimize audience </a:t>
            </a:r>
            <a:r>
              <a:rPr lang="en-IN" b="1" dirty="0" smtClean="0"/>
              <a:t>size:</a:t>
            </a:r>
            <a:r>
              <a:rPr lang="en-IN" dirty="0"/>
              <a:t> </a:t>
            </a:r>
            <a:r>
              <a:rPr lang="en-IN" dirty="0" smtClean="0"/>
              <a:t>Aim </a:t>
            </a:r>
            <a:r>
              <a:rPr lang="en-IN" dirty="0"/>
              <a:t>for a target audience size that is large enough to generate sufficient reach but not so broad that it dilutes your message. </a:t>
            </a:r>
          </a:p>
          <a:p>
            <a:r>
              <a:rPr lang="en-IN" b="1" dirty="0"/>
              <a:t>Monitor and </a:t>
            </a:r>
            <a:r>
              <a:rPr lang="en-IN" b="1" dirty="0" smtClean="0"/>
              <a:t>adjust:</a:t>
            </a:r>
            <a:r>
              <a:rPr lang="en-IN" dirty="0"/>
              <a:t> </a:t>
            </a:r>
            <a:r>
              <a:rPr lang="en-IN" dirty="0" smtClean="0"/>
              <a:t>Regularly </a:t>
            </a:r>
            <a:r>
              <a:rPr lang="en-IN" dirty="0" err="1"/>
              <a:t>analyze</a:t>
            </a:r>
            <a:r>
              <a:rPr lang="en-IN" dirty="0"/>
              <a:t> campaign performance metrics (CPC, CPM, conversion rate, etc.) and adjust your targeting and ad creative accordingly. </a:t>
            </a:r>
          </a:p>
          <a:p>
            <a:r>
              <a:rPr lang="en-IN" b="1" dirty="0"/>
              <a:t>Test and </a:t>
            </a:r>
            <a:r>
              <a:rPr lang="en-IN" b="1" dirty="0" smtClean="0"/>
              <a:t>iterate:</a:t>
            </a:r>
            <a:r>
              <a:rPr lang="en-IN" dirty="0"/>
              <a:t> </a:t>
            </a:r>
            <a:r>
              <a:rPr lang="en-IN" dirty="0" smtClean="0"/>
              <a:t>Experiment </a:t>
            </a:r>
            <a:r>
              <a:rPr lang="en-IN" dirty="0"/>
              <a:t>with different targeting options, ad </a:t>
            </a:r>
            <a:r>
              <a:rPr lang="en-IN" dirty="0" err="1"/>
              <a:t>creatives</a:t>
            </a:r>
            <a:r>
              <a:rPr lang="en-IN" dirty="0"/>
              <a:t>, and bidding strategies to identify what works best for your specific goals and audience. </a:t>
            </a:r>
          </a:p>
          <a:p>
            <a:endParaRPr lang="en-IN" dirty="0"/>
          </a:p>
        </p:txBody>
      </p:sp>
    </p:spTree>
    <p:extLst>
      <p:ext uri="{BB962C8B-B14F-4D97-AF65-F5344CB8AC3E}">
        <p14:creationId xmlns:p14="http://schemas.microsoft.com/office/powerpoint/2010/main" val="1894523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Targeting </a:t>
            </a:r>
            <a:r>
              <a:rPr lang="en-IN" dirty="0"/>
              <a:t>ad campaign in </a:t>
            </a:r>
            <a:r>
              <a:rPr lang="en-IN" dirty="0" err="1"/>
              <a:t>linkedin</a:t>
            </a:r>
            <a:endParaRPr lang="en-IN" dirty="0"/>
          </a:p>
        </p:txBody>
      </p:sp>
      <p:sp>
        <p:nvSpPr>
          <p:cNvPr id="3" name="Content Placeholder 2"/>
          <p:cNvSpPr>
            <a:spLocks noGrp="1"/>
          </p:cNvSpPr>
          <p:nvPr>
            <p:ph idx="1"/>
          </p:nvPr>
        </p:nvSpPr>
        <p:spPr/>
        <p:txBody>
          <a:bodyPr>
            <a:normAutofit fontScale="92500" lnSpcReduction="20000"/>
          </a:bodyPr>
          <a:lstStyle/>
          <a:p>
            <a:r>
              <a:rPr lang="en-IN" dirty="0"/>
              <a:t>LinkedIn allows advertisers to target specific audiences based on professional attributes like job title, seniority, skills, and company information, as well as demographics like location and interests</a:t>
            </a:r>
            <a:r>
              <a:rPr lang="en-IN" dirty="0" smtClean="0"/>
              <a:t>.</a:t>
            </a:r>
          </a:p>
          <a:p>
            <a:r>
              <a:rPr lang="en-IN" dirty="0"/>
              <a:t> You can also target based on company size and industry. </a:t>
            </a:r>
            <a:endParaRPr lang="en-IN" dirty="0" smtClean="0"/>
          </a:p>
          <a:p>
            <a:r>
              <a:rPr lang="en-IN" dirty="0" smtClean="0"/>
              <a:t>Additionally</a:t>
            </a:r>
            <a:r>
              <a:rPr lang="en-IN" dirty="0"/>
              <a:t>, LinkedIn offers features like </a:t>
            </a:r>
            <a:r>
              <a:rPr lang="en-IN" dirty="0">
                <a:hlinkClick r:id="rId2"/>
              </a:rPr>
              <a:t>Account Targeting</a:t>
            </a:r>
            <a:r>
              <a:rPr lang="en-IN" dirty="0"/>
              <a:t> for </a:t>
            </a:r>
            <a:r>
              <a:rPr lang="en-IN" dirty="0">
                <a:hlinkClick r:id="rId3"/>
              </a:rPr>
              <a:t>account-based marketing (ABM)</a:t>
            </a:r>
            <a:r>
              <a:rPr lang="en-IN" dirty="0"/>
              <a:t> campaigns and </a:t>
            </a:r>
            <a:r>
              <a:rPr lang="en-IN" dirty="0">
                <a:hlinkClick r:id="rId4"/>
              </a:rPr>
              <a:t>Website Retargeting</a:t>
            </a:r>
            <a:r>
              <a:rPr lang="en-IN" dirty="0"/>
              <a:t> to re-engage website visitors. </a:t>
            </a:r>
            <a:endParaRPr lang="en-IN" dirty="0"/>
          </a:p>
        </p:txBody>
      </p:sp>
    </p:spTree>
    <p:extLst>
      <p:ext uri="{BB962C8B-B14F-4D97-AF65-F5344CB8AC3E}">
        <p14:creationId xmlns:p14="http://schemas.microsoft.com/office/powerpoint/2010/main" val="2747945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1. Professional Targeting:</a:t>
            </a:r>
            <a:br>
              <a:rPr lang="en-IN" dirty="0"/>
            </a:br>
            <a:endParaRPr lang="en-IN" dirty="0"/>
          </a:p>
        </p:txBody>
      </p:sp>
      <p:sp>
        <p:nvSpPr>
          <p:cNvPr id="3" name="Content Placeholder 2"/>
          <p:cNvSpPr>
            <a:spLocks noGrp="1"/>
          </p:cNvSpPr>
          <p:nvPr>
            <p:ph idx="1"/>
          </p:nvPr>
        </p:nvSpPr>
        <p:spPr/>
        <p:txBody>
          <a:bodyPr/>
          <a:lstStyle/>
          <a:p>
            <a:pPr fontAlgn="ctr"/>
            <a:r>
              <a:rPr lang="en-IN" b="1" dirty="0" smtClean="0"/>
              <a:t>Job </a:t>
            </a:r>
            <a:r>
              <a:rPr lang="en-IN" b="1" dirty="0"/>
              <a:t>Experience:</a:t>
            </a:r>
            <a:r>
              <a:rPr lang="en-IN" dirty="0"/>
              <a:t> Target by job title, function, seniority, skills, and years of experience. </a:t>
            </a:r>
          </a:p>
          <a:p>
            <a:pPr fontAlgn="ctr"/>
            <a:r>
              <a:rPr lang="en-IN" b="1" dirty="0"/>
              <a:t>Company:</a:t>
            </a:r>
            <a:r>
              <a:rPr lang="en-IN" dirty="0"/>
              <a:t> Target by company name, industry, size, and even specific company pages. </a:t>
            </a:r>
          </a:p>
          <a:p>
            <a:r>
              <a:rPr lang="en-IN" b="1" dirty="0"/>
              <a:t>Interests and Traits:</a:t>
            </a:r>
            <a:r>
              <a:rPr lang="en-IN" dirty="0"/>
              <a:t> LinkedIn allows targeting based on member interests and traits, which can be quite granular. </a:t>
            </a:r>
          </a:p>
          <a:p>
            <a:endParaRPr lang="en-IN" dirty="0"/>
          </a:p>
        </p:txBody>
      </p:sp>
    </p:spTree>
    <p:extLst>
      <p:ext uri="{BB962C8B-B14F-4D97-AF65-F5344CB8AC3E}">
        <p14:creationId xmlns:p14="http://schemas.microsoft.com/office/powerpoint/2010/main" val="2127496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2. </a:t>
            </a:r>
            <a:r>
              <a:rPr lang="en-IN" dirty="0">
                <a:hlinkClick r:id="rId2"/>
              </a:rPr>
              <a:t>Demographic Targeting</a:t>
            </a:r>
            <a:r>
              <a:rPr lang="en-IN" dirty="0"/>
              <a:t>:</a:t>
            </a:r>
            <a:br>
              <a:rPr lang="en-IN" dirty="0"/>
            </a:br>
            <a:endParaRPr lang="en-IN" dirty="0"/>
          </a:p>
        </p:txBody>
      </p:sp>
      <p:sp>
        <p:nvSpPr>
          <p:cNvPr id="3" name="Content Placeholder 2"/>
          <p:cNvSpPr>
            <a:spLocks noGrp="1"/>
          </p:cNvSpPr>
          <p:nvPr>
            <p:ph idx="1"/>
          </p:nvPr>
        </p:nvSpPr>
        <p:spPr/>
        <p:txBody>
          <a:bodyPr/>
          <a:lstStyle/>
          <a:p>
            <a:r>
              <a:rPr lang="en-IN" b="1" dirty="0" smtClean="0"/>
              <a:t>Location</a:t>
            </a:r>
            <a:r>
              <a:rPr lang="en-IN" b="1" dirty="0"/>
              <a:t>:</a:t>
            </a:r>
            <a:r>
              <a:rPr lang="en-IN" dirty="0"/>
              <a:t> Target by country, region, city, or even specific postal codes.</a:t>
            </a:r>
          </a:p>
          <a:p>
            <a:r>
              <a:rPr lang="en-IN" b="1" dirty="0"/>
              <a:t>Age and Gender:</a:t>
            </a:r>
            <a:r>
              <a:rPr lang="en-IN" dirty="0"/>
              <a:t> LinkedIn allows targeting based on age and gender, although this is less granular than professional targeting. </a:t>
            </a:r>
          </a:p>
          <a:p>
            <a:endParaRPr lang="en-IN" dirty="0"/>
          </a:p>
        </p:txBody>
      </p:sp>
    </p:spTree>
    <p:extLst>
      <p:ext uri="{BB962C8B-B14F-4D97-AF65-F5344CB8AC3E}">
        <p14:creationId xmlns:p14="http://schemas.microsoft.com/office/powerpoint/2010/main" val="2224848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3. Custom Audiences:</a:t>
            </a:r>
            <a:br>
              <a:rPr lang="en-IN" dirty="0"/>
            </a:br>
            <a:endParaRPr lang="en-IN" dirty="0"/>
          </a:p>
        </p:txBody>
      </p:sp>
      <p:sp>
        <p:nvSpPr>
          <p:cNvPr id="3" name="Content Placeholder 2"/>
          <p:cNvSpPr>
            <a:spLocks noGrp="1"/>
          </p:cNvSpPr>
          <p:nvPr>
            <p:ph idx="1"/>
          </p:nvPr>
        </p:nvSpPr>
        <p:spPr/>
        <p:txBody>
          <a:bodyPr/>
          <a:lstStyle/>
          <a:p>
            <a:r>
              <a:rPr lang="en-IN" b="1" dirty="0" smtClean="0">
                <a:hlinkClick r:id="rId2"/>
              </a:rPr>
              <a:t>Matched </a:t>
            </a:r>
            <a:r>
              <a:rPr lang="en-IN" b="1" dirty="0">
                <a:hlinkClick r:id="rId2"/>
              </a:rPr>
              <a:t>Audiences</a:t>
            </a:r>
            <a:r>
              <a:rPr lang="en-IN" b="1" dirty="0"/>
              <a:t>:</a:t>
            </a:r>
            <a:endParaRPr lang="en-IN" dirty="0"/>
          </a:p>
          <a:p>
            <a:pPr fontAlgn="ctr"/>
            <a:r>
              <a:rPr lang="en-IN" dirty="0"/>
              <a:t>Upload your own contact and company lists to target specific individuals and organizations. </a:t>
            </a:r>
          </a:p>
          <a:p>
            <a:r>
              <a:rPr lang="en-IN" b="1" dirty="0">
                <a:hlinkClick r:id="rId3"/>
              </a:rPr>
              <a:t>Predictive Audiences</a:t>
            </a:r>
            <a:r>
              <a:rPr lang="en-IN" b="1" dirty="0"/>
              <a:t>:</a:t>
            </a:r>
            <a:endParaRPr lang="en-IN" dirty="0"/>
          </a:p>
          <a:p>
            <a:r>
              <a:rPr lang="en-IN" dirty="0"/>
              <a:t>Leverage LinkedIn's algorithms to identify members who are most likely to be interested in your products or services. </a:t>
            </a:r>
          </a:p>
          <a:p>
            <a:endParaRPr lang="en-IN" dirty="0"/>
          </a:p>
        </p:txBody>
      </p:sp>
    </p:spTree>
    <p:extLst>
      <p:ext uri="{BB962C8B-B14F-4D97-AF65-F5344CB8AC3E}">
        <p14:creationId xmlns:p14="http://schemas.microsoft.com/office/powerpoint/2010/main" val="36667490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4. Account-Based Marketing (ABM</a:t>
            </a:r>
            <a:r>
              <a:rPr lang="en-IN" dirty="0" smtClean="0"/>
              <a:t>):</a:t>
            </a:r>
            <a:endParaRPr lang="en-IN" dirty="0"/>
          </a:p>
        </p:txBody>
      </p:sp>
      <p:sp>
        <p:nvSpPr>
          <p:cNvPr id="3" name="Content Placeholder 2"/>
          <p:cNvSpPr>
            <a:spLocks noGrp="1"/>
          </p:cNvSpPr>
          <p:nvPr>
            <p:ph idx="1"/>
          </p:nvPr>
        </p:nvSpPr>
        <p:spPr/>
        <p:txBody>
          <a:bodyPr>
            <a:normAutofit/>
          </a:bodyPr>
          <a:lstStyle/>
          <a:p>
            <a:pPr fontAlgn="ctr"/>
            <a:r>
              <a:rPr lang="en-IN" b="1" dirty="0" smtClean="0"/>
              <a:t>Account </a:t>
            </a:r>
            <a:r>
              <a:rPr lang="en-IN" b="1" dirty="0"/>
              <a:t>Targeting:</a:t>
            </a:r>
            <a:r>
              <a:rPr lang="en-IN" dirty="0"/>
              <a:t> Match your target companies against LinkedIn's company pages to run ABM campaigns and guide decision-makers. </a:t>
            </a:r>
          </a:p>
          <a:p>
            <a:pPr marL="0" indent="0">
              <a:buNone/>
            </a:pPr>
            <a:r>
              <a:rPr lang="en-IN" dirty="0"/>
              <a:t> </a:t>
            </a:r>
          </a:p>
          <a:p>
            <a:endParaRPr lang="en-IN" dirty="0"/>
          </a:p>
        </p:txBody>
      </p:sp>
    </p:spTree>
    <p:extLst>
      <p:ext uri="{BB962C8B-B14F-4D97-AF65-F5344CB8AC3E}">
        <p14:creationId xmlns:p14="http://schemas.microsoft.com/office/powerpoint/2010/main" val="1707521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5. Website Retargeting:</a:t>
            </a:r>
            <a:br>
              <a:rPr lang="en-IN" dirty="0"/>
            </a:br>
            <a:endParaRPr lang="en-IN" dirty="0"/>
          </a:p>
        </p:txBody>
      </p:sp>
      <p:sp>
        <p:nvSpPr>
          <p:cNvPr id="3" name="Content Placeholder 2"/>
          <p:cNvSpPr>
            <a:spLocks noGrp="1"/>
          </p:cNvSpPr>
          <p:nvPr>
            <p:ph idx="1"/>
          </p:nvPr>
        </p:nvSpPr>
        <p:spPr/>
        <p:txBody>
          <a:bodyPr>
            <a:normAutofit/>
          </a:bodyPr>
          <a:lstStyle/>
          <a:p>
            <a:pPr fontAlgn="ctr"/>
            <a:r>
              <a:rPr lang="en-IN" b="1" dirty="0" smtClean="0"/>
              <a:t>Retargeting</a:t>
            </a:r>
            <a:r>
              <a:rPr lang="en-IN" b="1" dirty="0"/>
              <a:t>:</a:t>
            </a:r>
            <a:r>
              <a:rPr lang="en-IN" dirty="0"/>
              <a:t> Re-engage website visitors by targeting them with ads based on the pages they visited on your site. </a:t>
            </a:r>
          </a:p>
        </p:txBody>
      </p:sp>
    </p:spTree>
    <p:extLst>
      <p:ext uri="{BB962C8B-B14F-4D97-AF65-F5344CB8AC3E}">
        <p14:creationId xmlns:p14="http://schemas.microsoft.com/office/powerpoint/2010/main" val="2763198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6. Other Options</a:t>
            </a:r>
            <a:r>
              <a:rPr lang="en-IN" dirty="0" smtClean="0"/>
              <a:t>:</a:t>
            </a:r>
            <a:endParaRPr lang="en-IN" dirty="0"/>
          </a:p>
        </p:txBody>
      </p:sp>
      <p:sp>
        <p:nvSpPr>
          <p:cNvPr id="3" name="Content Placeholder 2"/>
          <p:cNvSpPr>
            <a:spLocks noGrp="1"/>
          </p:cNvSpPr>
          <p:nvPr>
            <p:ph idx="1"/>
          </p:nvPr>
        </p:nvSpPr>
        <p:spPr/>
        <p:txBody>
          <a:bodyPr/>
          <a:lstStyle/>
          <a:p>
            <a:r>
              <a:rPr lang="en-IN" b="1" dirty="0" smtClean="0"/>
              <a:t>AND/OR </a:t>
            </a:r>
            <a:r>
              <a:rPr lang="en-IN" b="1" dirty="0"/>
              <a:t>Functionality:</a:t>
            </a:r>
            <a:endParaRPr lang="en-IN" dirty="0"/>
          </a:p>
          <a:p>
            <a:r>
              <a:rPr lang="en-IN" dirty="0"/>
              <a:t>Use AND/OR operators to combine or exclude different targeting attributes for more precise audience definition.</a:t>
            </a:r>
          </a:p>
          <a:p>
            <a:endParaRPr lang="en-IN" dirty="0"/>
          </a:p>
        </p:txBody>
      </p:sp>
    </p:spTree>
    <p:extLst>
      <p:ext uri="{BB962C8B-B14F-4D97-AF65-F5344CB8AC3E}">
        <p14:creationId xmlns:p14="http://schemas.microsoft.com/office/powerpoint/2010/main" val="8585128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hlinkClick r:id="rId2"/>
              </a:rPr>
              <a:t>Campaign Manager</a:t>
            </a:r>
            <a:r>
              <a:rPr lang="en-IN" b="1" dirty="0" smtClean="0"/>
              <a:t>:</a:t>
            </a:r>
            <a:endParaRPr lang="en-IN" dirty="0"/>
          </a:p>
        </p:txBody>
      </p:sp>
      <p:sp>
        <p:nvSpPr>
          <p:cNvPr id="3" name="Content Placeholder 2"/>
          <p:cNvSpPr>
            <a:spLocks noGrp="1"/>
          </p:cNvSpPr>
          <p:nvPr>
            <p:ph idx="1"/>
          </p:nvPr>
        </p:nvSpPr>
        <p:spPr/>
        <p:txBody>
          <a:bodyPr/>
          <a:lstStyle/>
          <a:p>
            <a:r>
              <a:rPr lang="en-IN" dirty="0" smtClean="0"/>
              <a:t>Use</a:t>
            </a:r>
            <a:r>
              <a:rPr lang="en-IN" dirty="0"/>
              <a:t> </a:t>
            </a:r>
            <a:r>
              <a:rPr lang="en-IN" dirty="0">
                <a:hlinkClick r:id="rId3"/>
              </a:rPr>
              <a:t>LinkedIn's Campaign Manager</a:t>
            </a:r>
            <a:r>
              <a:rPr lang="en-IN" dirty="0"/>
              <a:t> to create and manage your ad campaigns, including defining your target audience. </a:t>
            </a:r>
          </a:p>
          <a:p>
            <a:pPr marL="0" indent="0">
              <a:buNone/>
            </a:pPr>
            <a:endParaRPr lang="en-IN" dirty="0"/>
          </a:p>
        </p:txBody>
      </p:sp>
    </p:spTree>
    <p:extLst>
      <p:ext uri="{BB962C8B-B14F-4D97-AF65-F5344CB8AC3E}">
        <p14:creationId xmlns:p14="http://schemas.microsoft.com/office/powerpoint/2010/main" val="6439564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188</TotalTime>
  <Words>499</Words>
  <Application>Microsoft Office PowerPoint</Application>
  <PresentationFormat>On-screen Show (4:3)</PresentationFormat>
  <Paragraphs>128</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LinkedIn Marketing </vt:lpstr>
      <vt:lpstr>Introduction</vt:lpstr>
      <vt:lpstr>Key Aspects of LinkedIn Marketing: </vt:lpstr>
      <vt:lpstr>continue</vt:lpstr>
      <vt:lpstr>Why LinkedIn is Important for Digital Marketing: </vt:lpstr>
      <vt:lpstr>Importance of LinkedIn Presence</vt:lpstr>
      <vt:lpstr>For Individuals </vt:lpstr>
      <vt:lpstr>For Businesses:</vt:lpstr>
      <vt:lpstr>LinkedIn Strategy</vt:lpstr>
      <vt:lpstr>Introduction</vt:lpstr>
      <vt:lpstr>1. Define Your Goals and Target Audience:  </vt:lpstr>
      <vt:lpstr>2. Content Strategy: </vt:lpstr>
      <vt:lpstr>3. Distribution Strategy:  </vt:lpstr>
      <vt:lpstr>4. Engagement and Analysis: </vt:lpstr>
      <vt:lpstr>5. Key Considerations:</vt:lpstr>
      <vt:lpstr>Key Aspects of LinkedIn Ad Campaigns:</vt:lpstr>
      <vt:lpstr>Best Practices for LinkedIn Ad Campaigns: </vt:lpstr>
      <vt:lpstr>Targeting ad campaign in linkedin</vt:lpstr>
      <vt:lpstr>1. Professional Targeting: </vt:lpstr>
      <vt:lpstr>2. Demographic Targeting: </vt:lpstr>
      <vt:lpstr>3. Custom Audiences: </vt:lpstr>
      <vt:lpstr>4. Account-Based Marketing (ABM):</vt:lpstr>
      <vt:lpstr>5. Website Retargeting: </vt:lpstr>
      <vt:lpstr>6. Other Options:</vt:lpstr>
      <vt:lpstr>Campaign Manager:</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LinkedIn Marketing</dc:title>
  <dc:creator>dypcoe</dc:creator>
  <dc:description>generated using python-pptx</dc:description>
  <cp:lastModifiedBy>dypcoe</cp:lastModifiedBy>
  <cp:revision>6</cp:revision>
  <dcterms:created xsi:type="dcterms:W3CDTF">2013-01-27T09:14:16Z</dcterms:created>
  <dcterms:modified xsi:type="dcterms:W3CDTF">2025-08-18T09:44:13Z</dcterms:modified>
</cp:coreProperties>
</file>