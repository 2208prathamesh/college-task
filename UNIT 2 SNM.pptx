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862"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5143500" type="screen16x9"/>
  <p:notesSz cx="6858000" cy="9144000"/>
  <p:embeddedFontLst>
    <p:embeddedFont>
      <p:font typeface="Libre Franklin" pitchFamily="2" charset="0"/>
      <p:regular r:id="rId61"/>
      <p:bold r:id="rId62"/>
      <p:italic r:id="rId63"/>
      <p:boldItalic r:id="rId64"/>
    </p:embeddedFont>
    <p:embeddedFont>
      <p:font typeface="Nunito" pitchFamily="2" charset="0"/>
      <p:regular r:id="rId65"/>
      <p:bold r:id="rId66"/>
      <p:italic r:id="rId67"/>
      <p:boldItalic r:id="rId68"/>
    </p:embeddedFont>
    <p:embeddedFont>
      <p:font typeface="Roboto" panose="02000000000000000000" pitchFamily="2" charset="0"/>
      <p:regular r:id="rId69"/>
      <p:bold r:id="rId70"/>
      <p:italic r:id="rId71"/>
      <p:boldItalic r:id="rId72"/>
    </p:embeddedFont>
    <p:embeddedFont>
      <p:font typeface="Verdana" panose="020B0604030504040204" pitchFamily="3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90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D49FAB4-2609-4524-91B9-3141F2EFCF11}">
  <a:tblStyle styleId="{DD49FAB4-2609-4524-91B9-3141F2EFCF1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48" y="81"/>
      </p:cViewPr>
      <p:guideLst>
        <p:guide orient="horz" pos="1620"/>
        <p:guide pos="29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openxmlformats.org/officeDocument/2006/relationships/font" Target="fonts/font14.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6.fntdata"/><Relationship Id="rId7" Type="http://schemas.openxmlformats.org/officeDocument/2006/relationships/slide" Target="slides/slide6.xml"/><Relationship Id="rId71"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bf6efe3234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bf6efe3234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bf6efe3234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bf6efe3234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bf6efe3234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bf6efe3234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bf6efe3234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bf6efe3234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bf6efe3234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bf6efe3234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bf6efe3234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bf6efe3234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c07eae810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c07eae810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f6efe3234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bf6efe3234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f6efe3234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f6efe3234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bf6efe3234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bf6efe3234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bf6efe3234_0_10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bf6efe3234_0_1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bf6efe3234_0_10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bf6efe3234_0_10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f6efe3234_0_1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f6efe3234_0_1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f6efe3234_0_10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f6efe3234_0_1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f6efe3234_0_1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bf6efe3234_0_1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bc2aa4879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bc2aa4879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f6efe3234_0_1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f6efe3234_0_1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c3225029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c3225029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bc2aa4879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bc2aa4879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bc2aa48791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bc2aa48791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c2aa48791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bc2aa48791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bc2aa48791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bc2aa48791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bca137427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bca137427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bca137427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bca137427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c2c6ca38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c2c6ca38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c2c6ca381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c2c6ca381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c2c6ca3815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c2c6ca381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c2c6ca3815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c2c6ca3815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c2c6ca381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c2c6ca381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c2c6ca3815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c2c6ca3815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c2c6ca3815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c2c6ca381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c2c6ca3815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c2c6ca3815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c2c6ca381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c2c6ca381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c2c6ca3815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c2c6ca3815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c2c6ca3815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c2c6ca3815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c2c6ca3815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c2c6ca3815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c2c6ca3815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c2c6ca3815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c2c6ca3815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c2c6ca3815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ca46cdaba5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ca46cdaba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ca46cdaba5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ca46cdaba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ca46cdaba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ca46cdaba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ca46cdaba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ca46cdaba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ca46cdaba5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ca46cdaba5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ca46cdaba5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ca46cdaba5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ca46cdaba5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ca46cdaba5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ca46cdaba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ca46cdaba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ca46cdaba5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ca46cdaba5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ca46cdaba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ca46cdaba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ca46cdaba5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ca46cdaba5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ca46cdaba5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ca46cdaba5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ca46cdaba5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ca46cdaba5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ca46cdaba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ca46cdaba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ca46cdaba5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ca46cdaba5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ca46cdaba5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ca46cdaba5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ca46cdaba5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ca46cdaba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ca46cdaba5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ca46cdaba5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ca46cdaba5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ca46cdaba5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Unit 2:IoT Protocols Part - 1 ( S.Y. Btech)</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0188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Unit 2:IoT Protocols Part - 1 ( S.Y. Btech)</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44262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Unit 2:IoT Protocols Part - 1 ( S.Y. Btech)</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961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Unit 2:IoT Protocols Part - 1 ( S.Y. Btech)</a:t>
            </a:r>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4829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Unit 2:IoT Protocols Part - 1 ( S.Y. Btech)</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70017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Unit 2:IoT Protocols Part - 1 ( S.Y. Btech)</a:t>
            </a:r>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15261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Unit 2:IoT Protocols Part - 1 ( S.Y. Btech)</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8189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r>
              <a:rPr lang="en-US"/>
              <a:t>Unit 2:IoT Protocols Part - 1 ( S.Y. Btech)</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34822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Unit 2:IoT Protocols Part - 1 ( S.Y. Btech)</a:t>
            </a:r>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90194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Unit 2:IoT Protocols Part - 1 ( S.Y. Btech)</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4747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Unit 2:IoT Protocols Part - 1 ( S.Y. Btech)</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49509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41180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r>
              <a:rPr lang="en-US"/>
              <a:t>Unit 2:IoT Protocols Part - 1 ( S.Y. Btech)</a:t>
            </a:r>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043054"/>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Lst>
  <p:hf hd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www.tutorialspoint.com/internet_of_things/index.htm"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hyperlink" Target="https://www.tutorialspoint.com/wireless_communication/wireless_communication_bluetooth.htm" TargetMode="External"/><Relationship Id="rId4" Type="http://schemas.openxmlformats.org/officeDocument/2006/relationships/hyperlink" Target="https://www.tutorialspoint.com/wi-fi/index.ht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physics/radio-waves/"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computer-networks/multiplexing-channel-sharing-in-computer-network/"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hyperlink" Target="https://www.geeksforgeeks.org/computer-networks/wireless-application-protoco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computer-science-fundamentals/communication-models-in-iot-internet-of-things/"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hyperlink" Target="https://www.geeksforgeeks.org/computer-networks/introduction-of-a-router/"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https://instrumentationtools.com/what-is-a-network/"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computer-networks/wireless-communication-set-3/" TargetMode="External"/><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computer-networks/what-is-ipv6/" TargetMode="External"/><Relationship Id="rId7" Type="http://schemas.openxmlformats.org/officeDocument/2006/relationships/hyperlink" Target="https://www.geeksforgeeks.org/computer-networks/advanced-encryption-standard-aes/" TargetMode="External"/><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hyperlink" Target="https://www.geeksforgeeks.org/computer-networks/what-is-wi-fiwireless-fidelity/" TargetMode="External"/><Relationship Id="rId5" Type="http://schemas.openxmlformats.org/officeDocument/2006/relationships/hyperlink" Target="https://www.geeksforgeeks.org/computer-networks/overview-of-wireless-personal-area-network-wpan/" TargetMode="External"/><Relationship Id="rId4" Type="http://schemas.openxmlformats.org/officeDocument/2006/relationships/hyperlink" Target="https://www.geeksforgeeks.org/computer-networks/overview-of-personal-area-network-pan/"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blogs/cloud-computing-platforms-and-technologies/" TargetMode="External"/><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hyperlink" Target="https://www.geeksforgeeks.org/computer-networks/bluetooth/"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computer-networks/wireless-sensor-network-wsn/" TargetMode="External"/><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hyperlink" Target="https://www.geeksforgeeks.org/computer-networks/internet-control-message-protocol-icmp/"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www.geeksforgeeks.org/computer-networks/distance-vector-routing-dvr-protocol/"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www.geeksforgeeks.org/dsa/clone-directed-acyclic-graph/"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www.geeksforgeeks.org/node-js/different-kinds-of-http-requests/" TargetMode="External"/><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hyperlink" Target="https://www.geeksforgeeks.org/computer-networks/uri-full-form/"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www.geeksforgeeks.org/computer-networks/protocols-application-layer/" TargetMode="External"/><Relationship Id="rId2" Type="http://schemas.openxmlformats.org/officeDocument/2006/relationships/notesSlide" Target="../notesSlides/notesSlide54.xml"/><Relationship Id="rId1" Type="http://schemas.openxmlformats.org/officeDocument/2006/relationships/slideLayout" Target="../slideLayouts/slideLayout12.xml"/><Relationship Id="rId5" Type="http://schemas.openxmlformats.org/officeDocument/2006/relationships/hyperlink" Target="https://www.geeksforgeeks.org/computer-networks/user-datagram-protocol-udp/" TargetMode="External"/><Relationship Id="rId4" Type="http://schemas.openxmlformats.org/officeDocument/2006/relationships/hyperlink" Target="https://www.geeksforgeeks.org/computer-networks/constrained-application-protocol-coap/"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www.geeksforgeeks.org/computer-networks/piggybacking-in-computer-networks/" TargetMode="External"/><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hyperlink" Target="https://www.geeksforgeeks.org/computer-networks/multicasting-in-computer-network/" TargetMode="External"/><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hyperlink" Target="https://www.geeksforgeeks.org/computer-networks/what-is-proxy-serv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Protocols for Internet of Things</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Clr>
                <a:schemeClr val="dk1"/>
              </a:buClr>
              <a:buSzPts val="1100"/>
              <a:buFont typeface="Arial"/>
              <a:buNone/>
            </a:pPr>
            <a:endParaRPr/>
          </a:p>
          <a:p>
            <a:pPr marL="0" lvl="0" indent="0" algn="ctr" rtl="0">
              <a:spcBef>
                <a:spcPts val="0"/>
              </a:spcBef>
              <a:spcAft>
                <a:spcPts val="0"/>
              </a:spcAft>
              <a:buNone/>
            </a:pPr>
            <a:endParaRPr/>
          </a:p>
        </p:txBody>
      </p:sp>
      <p:sp>
        <p:nvSpPr>
          <p:cNvPr id="60" name="Google Shape;60;p14"/>
          <p:cNvSpPr txBox="1">
            <a:spLocks noGrp="1"/>
          </p:cNvSpPr>
          <p:nvPr>
            <p:ph type="subTitle" idx="1"/>
          </p:nvPr>
        </p:nvSpPr>
        <p:spPr>
          <a:xfrm>
            <a:off x="1453750" y="1836564"/>
            <a:ext cx="6037200" cy="695400"/>
          </a:xfrm>
          <a:prstGeom prst="rect">
            <a:avLst/>
          </a:prstGeom>
        </p:spPr>
        <p:txBody>
          <a:bodyPr spcFirstLastPara="1" wrap="square" lIns="91425" tIns="91425" rIns="91425" bIns="91425" anchor="t" anchorCtr="0">
            <a:normAutofit fontScale="25000" lnSpcReduction="20000"/>
          </a:bodyPr>
          <a:lstStyle/>
          <a:p>
            <a:pPr marL="0" lvl="0" indent="0" algn="ctr" rtl="0">
              <a:lnSpc>
                <a:spcPct val="150000"/>
              </a:lnSpc>
              <a:spcBef>
                <a:spcPts val="0"/>
              </a:spcBef>
              <a:spcAft>
                <a:spcPts val="0"/>
              </a:spcAft>
              <a:buNone/>
            </a:pPr>
            <a:r>
              <a:rPr lang="en" sz="7200" b="1" dirty="0">
                <a:solidFill>
                  <a:srgbClr val="000000"/>
                </a:solidFill>
              </a:rPr>
              <a:t>Course Category-</a:t>
            </a:r>
            <a:r>
              <a:rPr lang="en" sz="7200" dirty="0">
                <a:solidFill>
                  <a:srgbClr val="000000"/>
                </a:solidFill>
              </a:rPr>
              <a:t>Multidisciplinary Minor</a:t>
            </a:r>
            <a:r>
              <a:rPr lang="en" sz="7200" b="1" dirty="0">
                <a:solidFill>
                  <a:srgbClr val="000000"/>
                </a:solidFill>
              </a:rPr>
              <a:t> </a:t>
            </a:r>
            <a:endParaRPr sz="7200" b="1" dirty="0">
              <a:solidFill>
                <a:srgbClr val="000000"/>
              </a:solidFill>
            </a:endParaRPr>
          </a:p>
          <a:p>
            <a:pPr marL="0" lvl="0" indent="0" algn="ctr" rtl="0">
              <a:lnSpc>
                <a:spcPct val="150000"/>
              </a:lnSpc>
              <a:spcBef>
                <a:spcPts val="0"/>
              </a:spcBef>
              <a:spcAft>
                <a:spcPts val="0"/>
              </a:spcAft>
              <a:buClr>
                <a:schemeClr val="dk1"/>
              </a:buClr>
              <a:buSzPts val="275"/>
              <a:buFont typeface="Arial"/>
              <a:buNone/>
            </a:pPr>
            <a:r>
              <a:rPr lang="en" sz="7200" b="1" dirty="0">
                <a:solidFill>
                  <a:srgbClr val="000000"/>
                </a:solidFill>
              </a:rPr>
              <a:t>Course Code- </a:t>
            </a:r>
            <a:r>
              <a:rPr lang="en" sz="7200" dirty="0">
                <a:solidFill>
                  <a:srgbClr val="000000"/>
                </a:solidFill>
              </a:rPr>
              <a:t>ET124MD406</a:t>
            </a:r>
            <a:endParaRPr sz="7200" dirty="0">
              <a:solidFill>
                <a:srgbClr val="000000"/>
              </a:solidFill>
            </a:endParaRPr>
          </a:p>
          <a:p>
            <a:pPr marL="0" lvl="0" indent="0" algn="ctr" rtl="0">
              <a:lnSpc>
                <a:spcPct val="150000"/>
              </a:lnSpc>
              <a:spcBef>
                <a:spcPts val="0"/>
              </a:spcBef>
              <a:spcAft>
                <a:spcPts val="0"/>
              </a:spcAft>
              <a:buClr>
                <a:schemeClr val="dk1"/>
              </a:buClr>
              <a:buSzPts val="275"/>
              <a:buFont typeface="Arial"/>
              <a:buNone/>
            </a:pPr>
            <a:r>
              <a:rPr lang="en" sz="7200" b="1" dirty="0">
                <a:solidFill>
                  <a:srgbClr val="000000"/>
                </a:solidFill>
              </a:rPr>
              <a:t>Course Title- </a:t>
            </a:r>
            <a:r>
              <a:rPr lang="en" sz="7200" dirty="0">
                <a:solidFill>
                  <a:srgbClr val="000000"/>
                </a:solidFill>
              </a:rPr>
              <a:t>Protocols for Internet of Things</a:t>
            </a:r>
            <a:r>
              <a:rPr lang="en" sz="7200" dirty="0">
                <a:solidFill>
                  <a:schemeClr val="dk1"/>
                </a:solidFill>
              </a:rPr>
              <a:t> </a:t>
            </a:r>
            <a:endParaRPr sz="7200" dirty="0">
              <a:solidFill>
                <a:schemeClr val="dk1"/>
              </a:solidFill>
            </a:endParaRPr>
          </a:p>
          <a:p>
            <a:pPr marL="0" lvl="0" indent="0" algn="ctr" rtl="0">
              <a:spcBef>
                <a:spcPts val="0"/>
              </a:spcBef>
              <a:spcAft>
                <a:spcPts val="0"/>
              </a:spcAft>
              <a:buClr>
                <a:schemeClr val="dk1"/>
              </a:buClr>
              <a:buSzPts val="275"/>
              <a:buFont typeface="Arial"/>
              <a:buNone/>
            </a:pPr>
            <a:endParaRPr sz="7200" dirty="0">
              <a:solidFill>
                <a:schemeClr val="dk1"/>
              </a:solidFill>
            </a:endParaRPr>
          </a:p>
          <a:p>
            <a:pPr marL="0" lvl="0" indent="0" algn="ctr" rtl="0">
              <a:spcBef>
                <a:spcPts val="0"/>
              </a:spcBef>
              <a:spcAft>
                <a:spcPts val="0"/>
              </a:spcAft>
              <a:buClr>
                <a:schemeClr val="dk1"/>
              </a:buClr>
              <a:buSzPts val="275"/>
              <a:buFont typeface="Arial"/>
              <a:buNone/>
            </a:pPr>
            <a:endParaRPr sz="7200" dirty="0">
              <a:solidFill>
                <a:schemeClr val="dk2"/>
              </a:solidFill>
            </a:endParaRPr>
          </a:p>
          <a:p>
            <a:pPr marL="0" lvl="0" indent="0" algn="ctr" rtl="0">
              <a:spcBef>
                <a:spcPts val="0"/>
              </a:spcBef>
              <a:spcAft>
                <a:spcPts val="0"/>
              </a:spcAft>
              <a:buClr>
                <a:schemeClr val="dk1"/>
              </a:buClr>
              <a:buSzPts val="275"/>
              <a:buFont typeface="Arial"/>
              <a:buNone/>
            </a:pPr>
            <a:r>
              <a:rPr lang="en" sz="5200" b="1" dirty="0">
                <a:solidFill>
                  <a:schemeClr val="dk2"/>
                </a:solidFill>
              </a:rPr>
              <a:t>                                                                                                                                                                                                            Faculty Name- Mrs. </a:t>
            </a:r>
            <a:r>
              <a:rPr lang="en-US" sz="5200" b="1" dirty="0">
                <a:solidFill>
                  <a:schemeClr val="dk2"/>
                </a:solidFill>
              </a:rPr>
              <a:t>Sayali Mane</a:t>
            </a:r>
            <a:endParaRPr sz="5200" b="1" dirty="0">
              <a:solidFill>
                <a:schemeClr val="dk2"/>
              </a:solidFill>
            </a:endParaRPr>
          </a:p>
          <a:p>
            <a:pPr marL="0" lvl="0" indent="0" algn="ctr" rtl="0">
              <a:spcBef>
                <a:spcPts val="0"/>
              </a:spcBef>
              <a:spcAft>
                <a:spcPts val="0"/>
              </a:spcAft>
              <a:buNone/>
            </a:pPr>
            <a:endParaRPr dirty="0"/>
          </a:p>
        </p:txBody>
      </p:sp>
      <p:pic>
        <p:nvPicPr>
          <p:cNvPr id="61" name="Google Shape;61;p14"/>
          <p:cNvPicPr preferRelativeResize="0"/>
          <p:nvPr/>
        </p:nvPicPr>
        <p:blipFill>
          <a:blip r:embed="rId3">
            <a:alphaModFix/>
          </a:blip>
          <a:stretch>
            <a:fillRect/>
          </a:stretch>
        </p:blipFill>
        <p:spPr>
          <a:xfrm>
            <a:off x="752850" y="252750"/>
            <a:ext cx="619125" cy="609600"/>
          </a:xfrm>
          <a:prstGeom prst="rect">
            <a:avLst/>
          </a:prstGeom>
          <a:noFill/>
          <a:ln>
            <a:noFill/>
          </a:ln>
        </p:spPr>
      </p:pic>
      <p:sp>
        <p:nvSpPr>
          <p:cNvPr id="62" name="Google Shape;62;p14"/>
          <p:cNvSpPr txBox="1"/>
          <p:nvPr/>
        </p:nvSpPr>
        <p:spPr>
          <a:xfrm>
            <a:off x="1692800" y="304800"/>
            <a:ext cx="6546900" cy="505500"/>
          </a:xfrm>
          <a:prstGeom prst="rect">
            <a:avLst/>
          </a:prstGeom>
          <a:noFill/>
          <a:ln>
            <a:noFill/>
          </a:ln>
        </p:spPr>
        <p:txBody>
          <a:bodyPr spcFirstLastPara="1" wrap="square" lIns="91425" tIns="91425" rIns="91425" bIns="91425" anchor="ctr" anchorCtr="0">
            <a:noAutofit/>
          </a:bodyPr>
          <a:lstStyle/>
          <a:p>
            <a:pPr marL="0" marR="800047" lvl="0" indent="0" algn="ctr" rtl="0">
              <a:spcBef>
                <a:spcPts val="0"/>
              </a:spcBef>
              <a:spcAft>
                <a:spcPts val="0"/>
              </a:spcAft>
              <a:buNone/>
            </a:pPr>
            <a:r>
              <a:rPr lang="en" sz="1596" b="1">
                <a:latin typeface="Times New Roman"/>
                <a:ea typeface="Times New Roman"/>
                <a:cs typeface="Times New Roman"/>
                <a:sym typeface="Times New Roman"/>
              </a:rPr>
              <a:t>D Y Patil College of Engineering, Akurdi, Pune </a:t>
            </a:r>
            <a:endParaRPr sz="1596" b="1">
              <a:latin typeface="Times New Roman"/>
              <a:ea typeface="Times New Roman"/>
              <a:cs typeface="Times New Roman"/>
              <a:sym typeface="Times New Roman"/>
            </a:endParaRPr>
          </a:p>
          <a:p>
            <a:pPr marL="0" marR="630631" lvl="0" indent="0" algn="l" rtl="0">
              <a:lnSpc>
                <a:spcPct val="272298"/>
              </a:lnSpc>
              <a:spcBef>
                <a:spcPts val="21"/>
              </a:spcBef>
              <a:spcAft>
                <a:spcPts val="0"/>
              </a:spcAft>
              <a:buNone/>
            </a:pPr>
            <a:r>
              <a:rPr lang="en" sz="900">
                <a:latin typeface="Times New Roman"/>
                <a:ea typeface="Times New Roman"/>
                <a:cs typeface="Times New Roman"/>
                <a:sym typeface="Times New Roman"/>
              </a:rPr>
              <a:t>                        An Autonomous Institute from AY 2024-25, Affiliated to Savitribai Phule Pune University, </a:t>
            </a:r>
            <a:endParaRPr/>
          </a:p>
        </p:txBody>
      </p:sp>
      <p:sp>
        <p:nvSpPr>
          <p:cNvPr id="63" name="Google Shape;63;p14"/>
          <p:cNvSpPr txBox="1"/>
          <p:nvPr/>
        </p:nvSpPr>
        <p:spPr>
          <a:xfrm>
            <a:off x="1258775" y="1171950"/>
            <a:ext cx="7010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B Tech in E &amp; TC Engineering | S Y B Tech Semester IV (2024 COURSE)</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ctrTitle"/>
          </p:nvPr>
        </p:nvSpPr>
        <p:spPr>
          <a:xfrm>
            <a:off x="1311150" y="644450"/>
            <a:ext cx="6939900" cy="18729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IoT Protocols Part - 1</a:t>
            </a:r>
            <a:endParaRPr/>
          </a:p>
        </p:txBody>
      </p:sp>
      <p:sp>
        <p:nvSpPr>
          <p:cNvPr id="70" name="Google Shape;70;p15"/>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UNIT 2 </a:t>
            </a:r>
            <a:endParaRPr dirty="0"/>
          </a:p>
          <a:p>
            <a:pPr marL="0" lvl="0" indent="0" algn="ctr" rtl="0">
              <a:spcBef>
                <a:spcPts val="0"/>
              </a:spcBef>
              <a:spcAft>
                <a:spcPts val="0"/>
              </a:spcAft>
              <a:buNone/>
            </a:pPr>
            <a:r>
              <a:rPr lang="en" dirty="0"/>
              <a:t>By Mrs. Sayali Mane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ctrTitle"/>
          </p:nvPr>
        </p:nvSpPr>
        <p:spPr>
          <a:xfrm>
            <a:off x="824000" y="114550"/>
            <a:ext cx="7314300" cy="5526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00B0F0"/>
              </a:buClr>
              <a:buSzPct val="63461"/>
              <a:buFont typeface="Libre Franklin Medium"/>
              <a:buNone/>
            </a:pPr>
            <a:r>
              <a:rPr lang="en" b="1"/>
              <a:t>CO-PO Mapping</a:t>
            </a:r>
            <a:endParaRPr/>
          </a:p>
        </p:txBody>
      </p:sp>
      <p:sp>
        <p:nvSpPr>
          <p:cNvPr id="77" name="Google Shape;77;p16"/>
          <p:cNvSpPr/>
          <p:nvPr/>
        </p:nvSpPr>
        <p:spPr>
          <a:xfrm>
            <a:off x="2800950" y="2387526"/>
            <a:ext cx="3542100" cy="2280900"/>
          </a:xfrm>
          <a:prstGeom prst="rect">
            <a:avLst/>
          </a:prstGeom>
          <a:solidFill>
            <a:srgbClr val="D8E2F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100" b="1">
                <a:solidFill>
                  <a:srgbClr val="232323"/>
                </a:solidFill>
                <a:latin typeface="Libre Franklin"/>
                <a:ea typeface="Libre Franklin"/>
                <a:cs typeface="Libre Franklin"/>
                <a:sym typeface="Libre Franklin"/>
              </a:rPr>
              <a:t>                                </a:t>
            </a:r>
            <a:r>
              <a:rPr lang="en" sz="1100" b="1" i="0" u="none" strike="noStrike" cap="none">
                <a:solidFill>
                  <a:srgbClr val="232323"/>
                </a:solidFill>
                <a:latin typeface="Libre Franklin"/>
                <a:ea typeface="Libre Franklin"/>
                <a:cs typeface="Libre Franklin"/>
                <a:sym typeface="Libre Franklin"/>
              </a:rPr>
              <a:t>Program Outcomes (POs) </a:t>
            </a:r>
            <a:endParaRPr sz="1100"/>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1. Engineering knowledge </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2. Problem analysis</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3. Design/development of solutions</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4. Conduct investigations of complex problems</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5. Modern tool usage</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6. The engineer and society</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7. Environment and sustainability</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8. Ethics</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9. Individual and teamwork</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10. Communication</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11. Project management and finance</a:t>
            </a:r>
            <a:endParaRPr sz="1100">
              <a:solidFill>
                <a:srgbClr val="1F1F1F"/>
              </a:solidFill>
              <a:latin typeface="Libre Franklin"/>
              <a:ea typeface="Libre Franklin"/>
              <a:cs typeface="Libre Franklin"/>
              <a:sym typeface="Libre Franklin"/>
            </a:endParaRPr>
          </a:p>
          <a:p>
            <a:pPr marL="0" marR="0" lvl="0" indent="0" algn="l" rtl="0">
              <a:spcBef>
                <a:spcPts val="0"/>
              </a:spcBef>
              <a:spcAft>
                <a:spcPts val="0"/>
              </a:spcAft>
              <a:buNone/>
            </a:pPr>
            <a:r>
              <a:rPr lang="en" sz="1100">
                <a:solidFill>
                  <a:srgbClr val="1F1F1F"/>
                </a:solidFill>
                <a:latin typeface="Libre Franklin"/>
                <a:ea typeface="Libre Franklin"/>
                <a:cs typeface="Libre Franklin"/>
                <a:sym typeface="Libre Franklin"/>
              </a:rPr>
              <a:t>12. Lifelong learning</a:t>
            </a:r>
            <a:endParaRPr sz="1100">
              <a:solidFill>
                <a:srgbClr val="1F1F1F"/>
              </a:solidFill>
              <a:latin typeface="Libre Franklin"/>
              <a:ea typeface="Libre Franklin"/>
              <a:cs typeface="Libre Franklin"/>
              <a:sym typeface="Libre Franklin"/>
            </a:endParaRPr>
          </a:p>
        </p:txBody>
      </p:sp>
      <p:graphicFrame>
        <p:nvGraphicFramePr>
          <p:cNvPr id="78" name="Google Shape;78;p16"/>
          <p:cNvGraphicFramePr/>
          <p:nvPr/>
        </p:nvGraphicFramePr>
        <p:xfrm>
          <a:off x="231688" y="774825"/>
          <a:ext cx="8489800" cy="1064514"/>
        </p:xfrm>
        <a:graphic>
          <a:graphicData uri="http://schemas.openxmlformats.org/drawingml/2006/table">
            <a:tbl>
              <a:tblPr>
                <a:noFill/>
                <a:tableStyleId>{DD49FAB4-2609-4524-91B9-3141F2EFCF11}</a:tableStyleId>
              </a:tblPr>
              <a:tblGrid>
                <a:gridCol w="1452075">
                  <a:extLst>
                    <a:ext uri="{9D8B030D-6E8A-4147-A177-3AD203B41FA5}">
                      <a16:colId xmlns:a16="http://schemas.microsoft.com/office/drawing/2014/main" val="20000"/>
                    </a:ext>
                  </a:extLst>
                </a:gridCol>
                <a:gridCol w="1095750">
                  <a:extLst>
                    <a:ext uri="{9D8B030D-6E8A-4147-A177-3AD203B41FA5}">
                      <a16:colId xmlns:a16="http://schemas.microsoft.com/office/drawing/2014/main" val="20001"/>
                    </a:ext>
                  </a:extLst>
                </a:gridCol>
                <a:gridCol w="4106825">
                  <a:extLst>
                    <a:ext uri="{9D8B030D-6E8A-4147-A177-3AD203B41FA5}">
                      <a16:colId xmlns:a16="http://schemas.microsoft.com/office/drawing/2014/main" val="20002"/>
                    </a:ext>
                  </a:extLst>
                </a:gridCol>
                <a:gridCol w="1835150">
                  <a:extLst>
                    <a:ext uri="{9D8B030D-6E8A-4147-A177-3AD203B41FA5}">
                      <a16:colId xmlns:a16="http://schemas.microsoft.com/office/drawing/2014/main" val="20003"/>
                    </a:ext>
                  </a:extLst>
                </a:gridCol>
              </a:tblGrid>
              <a:tr h="473650">
                <a:tc>
                  <a:txBody>
                    <a:bodyPr/>
                    <a:lstStyle/>
                    <a:p>
                      <a:pPr marL="0" lvl="0" indent="0" algn="l" rtl="0">
                        <a:lnSpc>
                          <a:spcPct val="115000"/>
                        </a:lnSpc>
                        <a:spcBef>
                          <a:spcPts val="0"/>
                        </a:spcBef>
                        <a:spcAft>
                          <a:spcPts val="0"/>
                        </a:spcAft>
                        <a:buNone/>
                      </a:pPr>
                      <a:r>
                        <a:rPr lang="en" sz="1100" b="1">
                          <a:solidFill>
                            <a:srgbClr val="1F1F1F"/>
                          </a:solidFill>
                        </a:rPr>
                        <a:t>Course Outcome (CO)</a:t>
                      </a:r>
                      <a:endParaRPr sz="1100" b="1">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en" sz="1100" b="1">
                          <a:solidFill>
                            <a:srgbClr val="1F1F1F"/>
                          </a:solidFill>
                        </a:rPr>
                        <a:t>Bloom's Level</a:t>
                      </a:r>
                      <a:endParaRPr sz="1100" b="1">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en" sz="1100" b="1">
                          <a:solidFill>
                            <a:srgbClr val="1F1F1F"/>
                          </a:solidFill>
                        </a:rPr>
                        <a:t>After successful completion of the course learner will be able to:</a:t>
                      </a:r>
                      <a:endParaRPr sz="1100" b="1">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en" sz="1100" b="1">
                          <a:solidFill>
                            <a:srgbClr val="1F1F1F"/>
                          </a:solidFill>
                        </a:rPr>
                        <a:t>PO Mapping</a:t>
                      </a:r>
                      <a:endParaRPr sz="1100" b="1">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542925">
                <a:tc>
                  <a:txBody>
                    <a:bodyPr/>
                    <a:lstStyle/>
                    <a:p>
                      <a:pPr marL="0" lvl="0" indent="0" algn="l" rtl="0">
                        <a:lnSpc>
                          <a:spcPct val="115000"/>
                        </a:lnSpc>
                        <a:spcBef>
                          <a:spcPts val="0"/>
                        </a:spcBef>
                        <a:spcAft>
                          <a:spcPts val="0"/>
                        </a:spcAft>
                        <a:buNone/>
                      </a:pPr>
                      <a:r>
                        <a:rPr lang="en" sz="1100" b="1">
                          <a:solidFill>
                            <a:srgbClr val="1F1F1F"/>
                          </a:solidFill>
                        </a:rPr>
                        <a:t>CO2</a:t>
                      </a:r>
                      <a:endParaRPr sz="1100" b="1">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b="1">
                          <a:solidFill>
                            <a:srgbClr val="1F1F1F"/>
                          </a:solidFill>
                        </a:rPr>
                        <a:t>L4 (Analyze)</a:t>
                      </a:r>
                      <a:endParaRPr sz="1100" b="1">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solidFill>
                            <a:srgbClr val="1F1F1F"/>
                          </a:solidFill>
                        </a:rPr>
                        <a:t>Analyze and compare different communication models based on specific parameters.</a:t>
                      </a:r>
                      <a:endParaRPr sz="1100">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solidFill>
                            <a:srgbClr val="1F1F1F"/>
                          </a:solidFill>
                        </a:rPr>
                        <a:t>PO (1, 2, 3, 4, 5, 6, 7, 8, 9, 10, 11)</a:t>
                      </a:r>
                      <a:endParaRPr sz="1100">
                        <a:solidFill>
                          <a:srgbClr val="1F1F1F"/>
                        </a:solidFill>
                      </a:endParaRPr>
                    </a:p>
                  </a:txBody>
                  <a:tcPr marL="114300" marR="114300" marT="76200" marB="76200">
                    <a:lnL w="12700" cap="flat" cmpd="sng">
                      <a:solidFill>
                        <a:srgbClr val="1F1F1F"/>
                      </a:solidFill>
                      <a:prstDash val="solid"/>
                      <a:round/>
                      <a:headEnd type="none" w="sm" len="sm"/>
                      <a:tailEnd type="none" w="sm" len="sm"/>
                    </a:lnL>
                    <a:lnR w="12700" cap="flat" cmpd="sng">
                      <a:solidFill>
                        <a:srgbClr val="1F1F1F"/>
                      </a:solidFill>
                      <a:prstDash val="solid"/>
                      <a:round/>
                      <a:headEnd type="none" w="sm" len="sm"/>
                      <a:tailEnd type="none" w="sm" len="sm"/>
                    </a:lnR>
                    <a:lnT w="12700" cap="flat" cmpd="sng">
                      <a:solidFill>
                        <a:srgbClr val="1F1F1F"/>
                      </a:solidFill>
                      <a:prstDash val="solid"/>
                      <a:round/>
                      <a:headEnd type="none" w="sm" len="sm"/>
                      <a:tailEnd type="none" w="sm" len="sm"/>
                    </a:lnT>
                    <a:lnB w="12700" cap="flat" cmpd="sng">
                      <a:solidFill>
                        <a:srgbClr val="1F1F1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ctrTitle"/>
          </p:nvPr>
        </p:nvSpPr>
        <p:spPr>
          <a:xfrm>
            <a:off x="838950" y="826525"/>
            <a:ext cx="7267200" cy="2300400"/>
          </a:xfrm>
          <a:prstGeom prst="rect">
            <a:avLst/>
          </a:prstGeom>
        </p:spPr>
        <p:txBody>
          <a:bodyPr spcFirstLastPara="1" wrap="square" lIns="91425" tIns="91425" rIns="91425" bIns="91425" anchor="b" anchorCtr="0">
            <a:noAutofit/>
          </a:bodyPr>
          <a:lstStyle/>
          <a:p>
            <a:pPr marL="457200" lvl="0" indent="0" algn="ctr" rtl="0">
              <a:spcBef>
                <a:spcPts val="0"/>
              </a:spcBef>
              <a:spcAft>
                <a:spcPts val="0"/>
              </a:spcAft>
              <a:buNone/>
            </a:pPr>
            <a:r>
              <a:rPr lang="en" sz="1800">
                <a:latin typeface="Times New Roman"/>
                <a:ea typeface="Times New Roman"/>
                <a:cs typeface="Times New Roman"/>
                <a:sym typeface="Times New Roman"/>
              </a:rPr>
              <a:t>CONTENTS</a:t>
            </a:r>
            <a:endParaRPr sz="1800">
              <a:latin typeface="Times New Roman"/>
              <a:ea typeface="Times New Roman"/>
              <a:cs typeface="Times New Roman"/>
              <a:sym typeface="Times New Roman"/>
            </a:endParaRPr>
          </a:p>
          <a:p>
            <a:pPr marL="457200" lvl="0" indent="0" algn="ctr" rtl="0">
              <a:spcBef>
                <a:spcPts val="0"/>
              </a:spcBef>
              <a:spcAft>
                <a:spcPts val="0"/>
              </a:spcAft>
              <a:buNone/>
            </a:pPr>
            <a:endParaRPr sz="1800"/>
          </a:p>
          <a:p>
            <a:pPr marL="457200" lvl="0" indent="-342900" algn="l" rtl="0">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PHY/MAC Layer: Wireless HART, ZWave, Bluetooth Low Energy,</a:t>
            </a:r>
            <a:endParaRPr sz="1800">
              <a:latin typeface="Times New Roman"/>
              <a:ea typeface="Times New Roman"/>
              <a:cs typeface="Times New Roman"/>
              <a:sym typeface="Times New Roman"/>
            </a:endParaRPr>
          </a:p>
          <a:p>
            <a:pPr marL="457200" lvl="0" indent="0" algn="l" rtl="0">
              <a:lnSpc>
                <a:spcPct val="150000"/>
              </a:lnSpc>
              <a:spcBef>
                <a:spcPts val="0"/>
              </a:spcBef>
              <a:spcAft>
                <a:spcPts val="0"/>
              </a:spcAft>
              <a:buNone/>
            </a:pPr>
            <a:r>
              <a:rPr lang="en" sz="1800">
                <a:latin typeface="Times New Roman"/>
                <a:ea typeface="Times New Roman"/>
                <a:cs typeface="Times New Roman"/>
                <a:sym typeface="Times New Roman"/>
              </a:rPr>
              <a:t>Zigbee Smart Energy. </a:t>
            </a:r>
            <a:endParaRPr sz="1800">
              <a:latin typeface="Times New Roman"/>
              <a:ea typeface="Times New Roman"/>
              <a:cs typeface="Times New Roman"/>
              <a:sym typeface="Times New Roman"/>
            </a:endParaRPr>
          </a:p>
          <a:p>
            <a:pPr marL="457200" lvl="0" indent="-342900" algn="l" rtl="0">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Network Layer: IPv4, IPv6, 6LoWPAN, ICMP,RPL, COAP</a:t>
            </a:r>
            <a:endParaRPr sz="1800">
              <a:latin typeface="Times New Roman"/>
              <a:ea typeface="Times New Roman"/>
              <a:cs typeface="Times New Roman"/>
              <a:sym typeface="Times New Roman"/>
            </a:endParaRPr>
          </a:p>
          <a:p>
            <a:pPr marL="0" lvl="0" indent="0" algn="l" rtl="0">
              <a:spcBef>
                <a:spcPts val="0"/>
              </a:spcBef>
              <a:spcAft>
                <a:spcPts val="0"/>
              </a:spcAft>
              <a:buNone/>
            </a:pP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body" idx="1"/>
          </p:nvPr>
        </p:nvSpPr>
        <p:spPr>
          <a:xfrm>
            <a:off x="56800" y="168325"/>
            <a:ext cx="9087300" cy="4975200"/>
          </a:xfrm>
          <a:prstGeom prst="rect">
            <a:avLst/>
          </a:prstGeom>
        </p:spPr>
        <p:txBody>
          <a:bodyPr spcFirstLastPara="1" wrap="square" lIns="91425" tIns="91425" rIns="91425" bIns="91425" anchor="t" anchorCtr="0">
            <a:normAutofit fontScale="92500"/>
          </a:bodyPr>
          <a:lstStyle/>
          <a:p>
            <a:pPr marL="0" lvl="0" indent="0" algn="just" rtl="0">
              <a:lnSpc>
                <a:spcPct val="120000"/>
              </a:lnSpc>
              <a:spcBef>
                <a:spcPts val="0"/>
              </a:spcBef>
              <a:spcAft>
                <a:spcPts val="0"/>
              </a:spcAft>
              <a:buNone/>
            </a:pPr>
            <a:r>
              <a:rPr lang="en" sz="1800">
                <a:solidFill>
                  <a:srgbClr val="273239"/>
                </a:solidFill>
                <a:highlight>
                  <a:srgbClr val="FFFFFF"/>
                </a:highlight>
                <a:latin typeface="Times New Roman"/>
                <a:ea typeface="Times New Roman"/>
                <a:cs typeface="Times New Roman"/>
                <a:sym typeface="Times New Roman"/>
              </a:rPr>
              <a:t>To understand how smart devices communicate and function together, learning about the Architecture of the Internet of Things (IoT) is essential. It defines how sensors, networks and cloud systems interact to collect, process and exchange data efficiently.</a:t>
            </a:r>
            <a:endParaRPr sz="1800">
              <a:solidFill>
                <a:srgbClr val="273239"/>
              </a:solidFill>
              <a:highlight>
                <a:srgbClr val="FFFFFF"/>
              </a:highlight>
              <a:latin typeface="Times New Roman"/>
              <a:ea typeface="Times New Roman"/>
              <a:cs typeface="Times New Roman"/>
              <a:sym typeface="Times New Roman"/>
            </a:endParaRPr>
          </a:p>
          <a:p>
            <a:pPr marL="685800" lvl="0" indent="-342900" algn="l" rtl="0">
              <a:lnSpc>
                <a:spcPct val="158000"/>
              </a:lnSpc>
              <a:spcBef>
                <a:spcPts val="800"/>
              </a:spcBef>
              <a:spcAft>
                <a:spcPts val="0"/>
              </a:spcAft>
              <a:buClr>
                <a:srgbClr val="273239"/>
              </a:buClr>
              <a:buSzPts val="1800"/>
              <a:buFont typeface="Times New Roman"/>
              <a:buChar char="●"/>
            </a:pPr>
            <a:r>
              <a:rPr lang="en" sz="1800">
                <a:solidFill>
                  <a:srgbClr val="273239"/>
                </a:solidFill>
                <a:highlight>
                  <a:schemeClr val="accent6"/>
                </a:highlight>
                <a:latin typeface="Times New Roman"/>
                <a:ea typeface="Times New Roman"/>
                <a:cs typeface="Times New Roman"/>
                <a:sym typeface="Times New Roman"/>
              </a:rPr>
              <a:t>The IoT architecture acts as the foundation for all connected devices and applications.</a:t>
            </a:r>
            <a:endParaRPr sz="1800">
              <a:solidFill>
                <a:srgbClr val="273239"/>
              </a:solidFill>
              <a:highlight>
                <a:schemeClr val="accent6"/>
              </a:highlight>
              <a:latin typeface="Times New Roman"/>
              <a:ea typeface="Times New Roman"/>
              <a:cs typeface="Times New Roman"/>
              <a:sym typeface="Times New Roman"/>
            </a:endParaRPr>
          </a:p>
          <a:p>
            <a:pPr marL="685800" lvl="0" indent="-342900" algn="l" rtl="0">
              <a:lnSpc>
                <a:spcPct val="158000"/>
              </a:lnSpc>
              <a:spcBef>
                <a:spcPts val="0"/>
              </a:spcBef>
              <a:spcAft>
                <a:spcPts val="0"/>
              </a:spcAft>
              <a:buClr>
                <a:srgbClr val="273239"/>
              </a:buClr>
              <a:buSzPts val="1800"/>
              <a:buFont typeface="Times New Roman"/>
              <a:buChar char="●"/>
            </a:pPr>
            <a:r>
              <a:rPr lang="en" sz="1800">
                <a:solidFill>
                  <a:srgbClr val="273239"/>
                </a:solidFill>
                <a:highlight>
                  <a:srgbClr val="FFFFFF"/>
                </a:highlight>
                <a:latin typeface="Times New Roman"/>
                <a:ea typeface="Times New Roman"/>
                <a:cs typeface="Times New Roman"/>
                <a:sym typeface="Times New Roman"/>
              </a:rPr>
              <a:t>Each layer has a distinct role, from sensing real-world data to delivering intelligent actions.</a:t>
            </a:r>
            <a:endParaRPr sz="1800">
              <a:solidFill>
                <a:srgbClr val="273239"/>
              </a:solidFill>
              <a:highlight>
                <a:srgbClr val="FFFFFF"/>
              </a:highlight>
              <a:latin typeface="Times New Roman"/>
              <a:ea typeface="Times New Roman"/>
              <a:cs typeface="Times New Roman"/>
              <a:sym typeface="Times New Roman"/>
            </a:endParaRPr>
          </a:p>
          <a:p>
            <a:pPr marL="685800" lvl="0" indent="-342900" algn="l" rtl="0">
              <a:lnSpc>
                <a:spcPct val="158000"/>
              </a:lnSpc>
              <a:spcBef>
                <a:spcPts val="0"/>
              </a:spcBef>
              <a:spcAft>
                <a:spcPts val="0"/>
              </a:spcAft>
              <a:buClr>
                <a:srgbClr val="273239"/>
              </a:buClr>
              <a:buSzPts val="1800"/>
              <a:buFont typeface="Times New Roman"/>
              <a:buChar char="●"/>
            </a:pPr>
            <a:r>
              <a:rPr lang="en" sz="1800">
                <a:solidFill>
                  <a:srgbClr val="273239"/>
                </a:solidFill>
                <a:highlight>
                  <a:srgbClr val="FFFFFF"/>
                </a:highlight>
                <a:latin typeface="Times New Roman"/>
                <a:ea typeface="Times New Roman"/>
                <a:cs typeface="Times New Roman"/>
                <a:sym typeface="Times New Roman"/>
              </a:rPr>
              <a:t>A clear structure ensures scalability, security and smooth device communication.</a:t>
            </a:r>
            <a:endParaRPr sz="1800">
              <a:solidFill>
                <a:srgbClr val="273239"/>
              </a:solidFill>
              <a:highlight>
                <a:srgbClr val="FFFFFF"/>
              </a:highlight>
              <a:latin typeface="Times New Roman"/>
              <a:ea typeface="Times New Roman"/>
              <a:cs typeface="Times New Roman"/>
              <a:sym typeface="Times New Roman"/>
            </a:endParaRPr>
          </a:p>
          <a:p>
            <a:pPr marL="0" lvl="0" indent="0" algn="l" rtl="0">
              <a:lnSpc>
                <a:spcPct val="120000"/>
              </a:lnSpc>
              <a:spcBef>
                <a:spcPts val="1800"/>
              </a:spcBef>
              <a:spcAft>
                <a:spcPts val="0"/>
              </a:spcAft>
              <a:buNone/>
            </a:pPr>
            <a:r>
              <a:rPr lang="en" sz="1800">
                <a:solidFill>
                  <a:srgbClr val="273239"/>
                </a:solidFill>
                <a:highlight>
                  <a:srgbClr val="FFFFFF"/>
                </a:highlight>
                <a:latin typeface="Times New Roman"/>
                <a:ea typeface="Times New Roman"/>
                <a:cs typeface="Times New Roman"/>
                <a:sym typeface="Times New Roman"/>
              </a:rPr>
              <a:t>This architecture forms the backbone of IoT systems, powering everything from smart homes to industrial automation.</a:t>
            </a:r>
            <a:r>
              <a:rPr lang="en" sz="1800">
                <a:solidFill>
                  <a:srgbClr val="000000"/>
                </a:solidFill>
                <a:highlight>
                  <a:srgbClr val="FFFFFF"/>
                </a:highlight>
                <a:latin typeface="Times New Roman"/>
                <a:ea typeface="Times New Roman"/>
                <a:cs typeface="Times New Roman"/>
                <a:sym typeface="Times New Roman"/>
              </a:rPr>
              <a:t>At its core, </a:t>
            </a:r>
            <a:r>
              <a:rPr lang="en" sz="1800">
                <a:solidFill>
                  <a:srgbClr val="000000"/>
                </a:solidFill>
                <a:highlight>
                  <a:srgbClr val="FFFF00"/>
                </a:highlight>
                <a:latin typeface="Times New Roman"/>
                <a:ea typeface="Times New Roman"/>
                <a:cs typeface="Times New Roman"/>
                <a:sym typeface="Times New Roman"/>
              </a:rPr>
              <a:t>IoT architecture is a </a:t>
            </a:r>
            <a:r>
              <a:rPr lang="en" sz="1800" b="1">
                <a:solidFill>
                  <a:srgbClr val="000000"/>
                </a:solidFill>
                <a:highlight>
                  <a:srgbClr val="FFFF00"/>
                </a:highlight>
                <a:latin typeface="Times New Roman"/>
                <a:ea typeface="Times New Roman"/>
                <a:cs typeface="Times New Roman"/>
                <a:sym typeface="Times New Roman"/>
              </a:rPr>
              <a:t>framework or blueprint</a:t>
            </a:r>
            <a:r>
              <a:rPr lang="en" sz="1800">
                <a:solidFill>
                  <a:srgbClr val="000000"/>
                </a:solidFill>
                <a:highlight>
                  <a:srgbClr val="FFFFFF"/>
                </a:highlight>
                <a:latin typeface="Times New Roman"/>
                <a:ea typeface="Times New Roman"/>
                <a:cs typeface="Times New Roman"/>
                <a:sym typeface="Times New Roman"/>
              </a:rPr>
              <a:t> that defines how different parts of an IoT ecosystem—devices, networks, software, and users—interact with each other. It organizes the workflow of sensing, communicating, processing, and acting into structured layers.</a:t>
            </a:r>
            <a:endParaRPr sz="1800">
              <a:solidFill>
                <a:srgbClr val="273239"/>
              </a:solidFill>
              <a:highlight>
                <a:srgbClr val="FFFFFF"/>
              </a:highlight>
              <a:latin typeface="Times New Roman"/>
              <a:ea typeface="Times New Roman"/>
              <a:cs typeface="Times New Roman"/>
              <a:sym typeface="Times New Roman"/>
            </a:endParaRPr>
          </a:p>
          <a:p>
            <a:pPr marL="0" lvl="0" indent="0" algn="l" rtl="0">
              <a:spcBef>
                <a:spcPts val="800"/>
              </a:spcBef>
              <a:spcAft>
                <a:spcPts val="1200"/>
              </a:spcAft>
              <a:buNone/>
            </a:pPr>
            <a:r>
              <a:rPr lang="en"/>
              <a:t> </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body" idx="1"/>
          </p:nvPr>
        </p:nvSpPr>
        <p:spPr>
          <a:xfrm>
            <a:off x="37875" y="231600"/>
            <a:ext cx="8934600" cy="49119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Font typeface="Times New Roman"/>
              <a:buChar char="●"/>
            </a:pPr>
            <a:r>
              <a:rPr lang="en" sz="1600">
                <a:solidFill>
                  <a:srgbClr val="000000"/>
                </a:solidFill>
                <a:latin typeface="Times New Roman"/>
                <a:ea typeface="Times New Roman"/>
                <a:cs typeface="Times New Roman"/>
                <a:sym typeface="Times New Roman"/>
              </a:rPr>
              <a:t>The </a:t>
            </a:r>
            <a:r>
              <a:rPr lang="en" sz="1600">
                <a:solidFill>
                  <a:srgbClr val="008000"/>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Internet of Things (IoT)</a:t>
            </a:r>
            <a:r>
              <a:rPr lang="en" sz="1600">
                <a:solidFill>
                  <a:srgbClr val="000000"/>
                </a:solidFill>
                <a:latin typeface="Times New Roman"/>
                <a:ea typeface="Times New Roman"/>
                <a:cs typeface="Times New Roman"/>
                <a:sym typeface="Times New Roman"/>
              </a:rPr>
              <a:t> is about the network of sensor devices to the web in real-time. IoT devices communicate with each other over the network, so certain standards and</a:t>
            </a:r>
            <a:r>
              <a:rPr lang="en" sz="1600">
                <a:solidFill>
                  <a:srgbClr val="000000"/>
                </a:solidFill>
                <a:highlight>
                  <a:srgbClr val="FFFF00"/>
                </a:highlight>
                <a:latin typeface="Times New Roman"/>
                <a:ea typeface="Times New Roman"/>
                <a:cs typeface="Times New Roman"/>
                <a:sym typeface="Times New Roman"/>
              </a:rPr>
              <a:t> rules need to be set to determine how data is exchanged</a:t>
            </a:r>
            <a:r>
              <a:rPr lang="en" sz="1600">
                <a:solidFill>
                  <a:srgbClr val="000000"/>
                </a:solidFill>
                <a:latin typeface="Times New Roman"/>
                <a:ea typeface="Times New Roman"/>
                <a:cs typeface="Times New Roman"/>
                <a:sym typeface="Times New Roman"/>
              </a:rPr>
              <a:t>. These rules are called </a:t>
            </a:r>
            <a:r>
              <a:rPr lang="en" sz="1600" b="1">
                <a:solidFill>
                  <a:srgbClr val="000000"/>
                </a:solidFill>
                <a:latin typeface="Times New Roman"/>
                <a:ea typeface="Times New Roman"/>
                <a:cs typeface="Times New Roman"/>
                <a:sym typeface="Times New Roman"/>
              </a:rPr>
              <a:t>IoT Network Protocols</a:t>
            </a:r>
            <a:r>
              <a:rPr lang="en" sz="1600">
                <a:solidFill>
                  <a:srgbClr val="000000"/>
                </a:solidFill>
                <a:latin typeface="Times New Roman"/>
                <a:ea typeface="Times New Roman"/>
                <a:cs typeface="Times New Roman"/>
                <a:sym typeface="Times New Roman"/>
              </a:rPr>
              <a:t>. Depending on the IoT application's functionality, its workflow or architecture varies. 				</a:t>
            </a:r>
            <a:endParaRPr sz="1600">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1600">
                <a:solidFill>
                  <a:srgbClr val="000000"/>
                </a:solidFill>
                <a:latin typeface="Times New Roman"/>
                <a:ea typeface="Times New Roman"/>
                <a:cs typeface="Times New Roman"/>
                <a:sym typeface="Times New Roman"/>
              </a:rPr>
              <a:t>Basic architecture involves four layers, i.e., the </a:t>
            </a:r>
            <a:r>
              <a:rPr lang="en" sz="1600" b="1">
                <a:solidFill>
                  <a:srgbClr val="000000"/>
                </a:solidFill>
                <a:latin typeface="Times New Roman"/>
                <a:ea typeface="Times New Roman"/>
                <a:cs typeface="Times New Roman"/>
                <a:sym typeface="Times New Roman"/>
              </a:rPr>
              <a:t>Sensing layer, Network layer, Data processing layer, and Application layer</a:t>
            </a:r>
            <a:r>
              <a:rPr lang="en" sz="1600">
                <a:solidFill>
                  <a:srgbClr val="000000"/>
                </a:solidFill>
                <a:latin typeface="Times New Roman"/>
                <a:ea typeface="Times New Roman"/>
                <a:cs typeface="Times New Roman"/>
                <a:sym typeface="Times New Roman"/>
              </a:rPr>
              <a:t>.</a:t>
            </a:r>
            <a:endParaRPr sz="1600">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1600">
                <a:solidFill>
                  <a:srgbClr val="000000"/>
                </a:solidFill>
                <a:highlight>
                  <a:srgbClr val="A4C2F4"/>
                </a:highlight>
                <a:latin typeface="Times New Roman"/>
                <a:ea typeface="Times New Roman"/>
                <a:cs typeface="Times New Roman"/>
                <a:sym typeface="Times New Roman"/>
              </a:rPr>
              <a:t>The Sensing layer </a:t>
            </a:r>
            <a:r>
              <a:rPr lang="en" sz="1600">
                <a:solidFill>
                  <a:srgbClr val="000000"/>
                </a:solidFill>
                <a:highlight>
                  <a:srgbClr val="FFFF00"/>
                </a:highlight>
                <a:latin typeface="Times New Roman"/>
                <a:ea typeface="Times New Roman"/>
                <a:cs typeface="Times New Roman"/>
                <a:sym typeface="Times New Roman"/>
              </a:rPr>
              <a:t>contains all the hardware,</a:t>
            </a:r>
            <a:r>
              <a:rPr lang="en" sz="1600">
                <a:solidFill>
                  <a:srgbClr val="000000"/>
                </a:solidFill>
                <a:latin typeface="Times New Roman"/>
                <a:ea typeface="Times New Roman"/>
                <a:cs typeface="Times New Roman"/>
                <a:sym typeface="Times New Roman"/>
              </a:rPr>
              <a:t> like sensors, actuators, chips, etc., that collect information. This layer is connected to the successive layer, which is the network layer, through protocols. </a:t>
            </a:r>
            <a:endParaRPr sz="1600">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1600">
                <a:solidFill>
                  <a:srgbClr val="000000"/>
                </a:solidFill>
                <a:highlight>
                  <a:srgbClr val="9FC5E8"/>
                </a:highlight>
                <a:latin typeface="Times New Roman"/>
                <a:ea typeface="Times New Roman"/>
                <a:cs typeface="Times New Roman"/>
                <a:sym typeface="Times New Roman"/>
              </a:rPr>
              <a:t>The Network layer</a:t>
            </a:r>
            <a:r>
              <a:rPr lang="en" sz="1600">
                <a:solidFill>
                  <a:srgbClr val="000000"/>
                </a:solidFill>
                <a:highlight>
                  <a:srgbClr val="FFFF00"/>
                </a:highlight>
                <a:latin typeface="Times New Roman"/>
                <a:ea typeface="Times New Roman"/>
                <a:cs typeface="Times New Roman"/>
                <a:sym typeface="Times New Roman"/>
              </a:rPr>
              <a:t> allows communications among devices using network protocols </a:t>
            </a:r>
            <a:r>
              <a:rPr lang="en" sz="1600">
                <a:solidFill>
                  <a:srgbClr val="000000"/>
                </a:solidFill>
                <a:latin typeface="Times New Roman"/>
                <a:ea typeface="Times New Roman"/>
                <a:cs typeface="Times New Roman"/>
                <a:sym typeface="Times New Roman"/>
              </a:rPr>
              <a:t>like cellular, </a:t>
            </a:r>
            <a:r>
              <a:rPr lang="en" sz="1600">
                <a:solidFill>
                  <a:srgbClr val="008000"/>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Wi-Fi</a:t>
            </a:r>
            <a:r>
              <a:rPr lang="en" sz="1600">
                <a:solidFill>
                  <a:srgbClr val="000000"/>
                </a:solidFill>
                <a:latin typeface="Times New Roman"/>
                <a:ea typeface="Times New Roman"/>
                <a:cs typeface="Times New Roman"/>
                <a:sym typeface="Times New Roman"/>
              </a:rPr>
              <a:t>, </a:t>
            </a:r>
            <a:r>
              <a:rPr lang="en" sz="1600">
                <a:solidFill>
                  <a:srgbClr val="008000"/>
                </a:solidFill>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Bluetooth</a:t>
            </a:r>
            <a:r>
              <a:rPr lang="en" sz="1600">
                <a:solidFill>
                  <a:srgbClr val="000000"/>
                </a:solidFill>
                <a:latin typeface="Times New Roman"/>
                <a:ea typeface="Times New Roman"/>
                <a:cs typeface="Times New Roman"/>
                <a:sym typeface="Times New Roman"/>
              </a:rPr>
              <a:t>, Zigbee, etc. </a:t>
            </a:r>
            <a:endParaRPr sz="1600">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1600">
                <a:solidFill>
                  <a:srgbClr val="000000"/>
                </a:solidFill>
                <a:highlight>
                  <a:srgbClr val="FFFF00"/>
                </a:highlight>
                <a:latin typeface="Times New Roman"/>
                <a:ea typeface="Times New Roman"/>
                <a:cs typeface="Times New Roman"/>
                <a:sym typeface="Times New Roman"/>
              </a:rPr>
              <a:t>The data collected by IoT devices is processed in the </a:t>
            </a:r>
            <a:r>
              <a:rPr lang="en" sz="1600">
                <a:solidFill>
                  <a:srgbClr val="000000"/>
                </a:solidFill>
                <a:highlight>
                  <a:srgbClr val="9FC5E8"/>
                </a:highlight>
                <a:latin typeface="Times New Roman"/>
                <a:ea typeface="Times New Roman"/>
                <a:cs typeface="Times New Roman"/>
                <a:sym typeface="Times New Roman"/>
              </a:rPr>
              <a:t>Data processing layer</a:t>
            </a:r>
            <a:r>
              <a:rPr lang="en" sz="1600">
                <a:solidFill>
                  <a:srgbClr val="000000"/>
                </a:solidFill>
                <a:latin typeface="Times New Roman"/>
                <a:ea typeface="Times New Roman"/>
                <a:cs typeface="Times New Roman"/>
                <a:sym typeface="Times New Roman"/>
              </a:rPr>
              <a:t> using technologies like data analytics and machine learning algorithms. </a:t>
            </a:r>
            <a:endParaRPr sz="1600">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1600">
                <a:solidFill>
                  <a:srgbClr val="000000"/>
                </a:solidFill>
                <a:latin typeface="Times New Roman"/>
                <a:ea typeface="Times New Roman"/>
                <a:cs typeface="Times New Roman"/>
                <a:sym typeface="Times New Roman"/>
              </a:rPr>
              <a:t>This processed data can be </a:t>
            </a:r>
            <a:r>
              <a:rPr lang="en" sz="1600">
                <a:solidFill>
                  <a:srgbClr val="000000"/>
                </a:solidFill>
                <a:highlight>
                  <a:srgbClr val="FFFF00"/>
                </a:highlight>
                <a:latin typeface="Times New Roman"/>
                <a:ea typeface="Times New Roman"/>
                <a:cs typeface="Times New Roman"/>
                <a:sym typeface="Times New Roman"/>
              </a:rPr>
              <a:t>displayed to the user through web portals, apps</a:t>
            </a:r>
            <a:r>
              <a:rPr lang="en" sz="1600">
                <a:solidFill>
                  <a:srgbClr val="000000"/>
                </a:solidFill>
                <a:latin typeface="Times New Roman"/>
                <a:ea typeface="Times New Roman"/>
                <a:cs typeface="Times New Roman"/>
                <a:sym typeface="Times New Roman"/>
              </a:rPr>
              <a:t>, or interfaces provided by the</a:t>
            </a:r>
            <a:r>
              <a:rPr lang="en" sz="1600">
                <a:solidFill>
                  <a:srgbClr val="000000"/>
                </a:solidFill>
                <a:highlight>
                  <a:srgbClr val="9FC5E8"/>
                </a:highlight>
                <a:latin typeface="Times New Roman"/>
                <a:ea typeface="Times New Roman"/>
                <a:cs typeface="Times New Roman"/>
                <a:sym typeface="Times New Roman"/>
              </a:rPr>
              <a:t> application layer. </a:t>
            </a:r>
            <a:r>
              <a:rPr lang="en" sz="1600">
                <a:solidFill>
                  <a:srgbClr val="000000"/>
                </a:solidFill>
                <a:latin typeface="Times New Roman"/>
                <a:ea typeface="Times New Roman"/>
                <a:cs typeface="Times New Roman"/>
                <a:sym typeface="Times New Roman"/>
              </a:rPr>
              <a:t>Users can directly interact and visualize the data obtained from IoT devices through these interfaces.</a:t>
            </a:r>
            <a:endParaRPr sz="160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2200">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body" idx="1"/>
          </p:nvPr>
        </p:nvSpPr>
        <p:spPr>
          <a:xfrm>
            <a:off x="311700" y="48575"/>
            <a:ext cx="8520600" cy="5023800"/>
          </a:xfrm>
          <a:prstGeom prst="rect">
            <a:avLst/>
          </a:prstGeom>
        </p:spPr>
        <p:txBody>
          <a:bodyPr spcFirstLastPara="1" wrap="square" lIns="91425" tIns="91425" rIns="91425" bIns="91425" anchor="t" anchorCtr="0">
            <a:normAutofit/>
          </a:bodyPr>
          <a:lstStyle/>
          <a:p>
            <a:pPr marL="0" lvl="0" indent="0" algn="l" rtl="0">
              <a:lnSpc>
                <a:spcPct val="132352"/>
              </a:lnSpc>
              <a:spcBef>
                <a:spcPts val="1800"/>
              </a:spcBef>
              <a:spcAft>
                <a:spcPts val="0"/>
              </a:spcAft>
              <a:buClr>
                <a:schemeClr val="dk1"/>
              </a:buClr>
              <a:buSzPts val="1100"/>
              <a:buFont typeface="Arial"/>
              <a:buNone/>
            </a:pPr>
            <a:r>
              <a:rPr lang="en" sz="2200" dirty="0">
                <a:solidFill>
                  <a:schemeClr val="dk1"/>
                </a:solidFill>
                <a:latin typeface="Times New Roman"/>
                <a:ea typeface="Times New Roman"/>
                <a:cs typeface="Times New Roman"/>
                <a:sym typeface="Times New Roman"/>
              </a:rPr>
              <a:t>Essential Requirements for Effective IoT Protocols</a:t>
            </a:r>
            <a:endParaRPr sz="2200" dirty="0">
              <a:solidFill>
                <a:schemeClr val="dk1"/>
              </a:solidFill>
              <a:latin typeface="Times New Roman"/>
              <a:ea typeface="Times New Roman"/>
              <a:cs typeface="Times New Roman"/>
              <a:sym typeface="Times New Roman"/>
            </a:endParaRPr>
          </a:p>
          <a:p>
            <a:pPr marL="0" lvl="0" indent="0" algn="l" rtl="0">
              <a:spcBef>
                <a:spcPts val="400"/>
              </a:spcBef>
              <a:spcAft>
                <a:spcPts val="0"/>
              </a:spcAft>
              <a:buClr>
                <a:schemeClr val="dk1"/>
              </a:buClr>
              <a:buSzPts val="1100"/>
              <a:buFont typeface="Arial"/>
              <a:buNone/>
            </a:pPr>
            <a:r>
              <a:rPr lang="en" sz="1700" dirty="0">
                <a:solidFill>
                  <a:schemeClr val="dk1"/>
                </a:solidFill>
                <a:latin typeface="Times New Roman"/>
                <a:ea typeface="Times New Roman"/>
                <a:cs typeface="Times New Roman"/>
                <a:sym typeface="Times New Roman"/>
              </a:rPr>
              <a:t>IoT protocols should also satisfy these requirements:</a:t>
            </a:r>
            <a:endParaRPr sz="1700" dirty="0">
              <a:solidFill>
                <a:schemeClr val="dk1"/>
              </a:solidFill>
              <a:latin typeface="Times New Roman"/>
              <a:ea typeface="Times New Roman"/>
              <a:cs typeface="Times New Roman"/>
              <a:sym typeface="Times New Roman"/>
            </a:endParaRPr>
          </a:p>
          <a:p>
            <a:pPr marL="457200" lvl="0" indent="-336550" algn="just" rtl="0">
              <a:spcBef>
                <a:spcPts val="120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Allow communication among various devices </a:t>
            </a:r>
            <a:r>
              <a:rPr lang="en" sz="1700" dirty="0">
                <a:solidFill>
                  <a:schemeClr val="dk1"/>
                </a:solidFill>
                <a:highlight>
                  <a:schemeClr val="accent6"/>
                </a:highlight>
                <a:latin typeface="Times New Roman"/>
                <a:ea typeface="Times New Roman"/>
                <a:cs typeface="Times New Roman"/>
                <a:sym typeface="Times New Roman"/>
              </a:rPr>
              <a:t>simultaneously.</a:t>
            </a:r>
            <a:endParaRPr sz="1700" dirty="0">
              <a:solidFill>
                <a:schemeClr val="dk1"/>
              </a:solidFill>
              <a:highlight>
                <a:schemeClr val="accent6"/>
              </a:highlight>
              <a:latin typeface="Times New Roman"/>
              <a:ea typeface="Times New Roman"/>
              <a:cs typeface="Times New Roman"/>
              <a:sym typeface="Times New Roman"/>
            </a:endParaRPr>
          </a:p>
          <a:p>
            <a:pPr marL="457200" lvl="0" indent="-336550" algn="just" rtl="0">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IoT is being </a:t>
            </a:r>
            <a:r>
              <a:rPr lang="en" sz="1700" dirty="0">
                <a:solidFill>
                  <a:schemeClr val="dk1"/>
                </a:solidFill>
                <a:highlight>
                  <a:schemeClr val="accent6"/>
                </a:highlight>
                <a:latin typeface="Times New Roman"/>
                <a:ea typeface="Times New Roman"/>
                <a:cs typeface="Times New Roman"/>
                <a:sym typeface="Times New Roman"/>
              </a:rPr>
              <a:t>used in critical areas</a:t>
            </a:r>
            <a:r>
              <a:rPr lang="en" sz="1700" dirty="0">
                <a:solidFill>
                  <a:schemeClr val="dk1"/>
                </a:solidFill>
                <a:latin typeface="Times New Roman"/>
                <a:ea typeface="Times New Roman"/>
                <a:cs typeface="Times New Roman"/>
                <a:sym typeface="Times New Roman"/>
              </a:rPr>
              <a:t> like health, industries, home surveillance, etc. hence communication security needs to be ensured.</a:t>
            </a:r>
            <a:endParaRPr sz="1700" dirty="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chemeClr val="dk1"/>
              </a:buClr>
              <a:buSzPts val="1700"/>
              <a:buFont typeface="Times New Roman"/>
              <a:buChar char="●"/>
            </a:pPr>
            <a:r>
              <a:rPr lang="en" sz="1700" dirty="0">
                <a:solidFill>
                  <a:schemeClr val="dk1"/>
                </a:solidFill>
                <a:highlight>
                  <a:schemeClr val="accent6"/>
                </a:highlight>
                <a:latin typeface="Times New Roman"/>
                <a:ea typeface="Times New Roman"/>
                <a:cs typeface="Times New Roman"/>
                <a:sym typeface="Times New Roman"/>
              </a:rPr>
              <a:t>Transport data efficiently.</a:t>
            </a:r>
            <a:endParaRPr sz="1700" dirty="0">
              <a:solidFill>
                <a:schemeClr val="dk1"/>
              </a:solidFill>
              <a:highlight>
                <a:schemeClr val="accent6"/>
              </a:highlight>
              <a:latin typeface="Times New Roman"/>
              <a:ea typeface="Times New Roman"/>
              <a:cs typeface="Times New Roman"/>
              <a:sym typeface="Times New Roman"/>
            </a:endParaRPr>
          </a:p>
          <a:p>
            <a:pPr marL="457200" lvl="0" indent="-336550" algn="just" rtl="0">
              <a:spcBef>
                <a:spcPts val="0"/>
              </a:spcBef>
              <a:spcAft>
                <a:spcPts val="0"/>
              </a:spcAft>
              <a:buClr>
                <a:schemeClr val="dk1"/>
              </a:buClr>
              <a:buSzPts val="1700"/>
              <a:buFont typeface="Times New Roman"/>
              <a:buChar char="●"/>
            </a:pPr>
            <a:r>
              <a:rPr lang="en" sz="1700" dirty="0">
                <a:solidFill>
                  <a:schemeClr val="dk1"/>
                </a:solidFill>
                <a:latin typeface="Times New Roman"/>
                <a:ea typeface="Times New Roman"/>
                <a:cs typeface="Times New Roman"/>
                <a:sym typeface="Times New Roman"/>
              </a:rPr>
              <a:t>IoT devices can be added or removed from the IoT network. Hence protocols must provide </a:t>
            </a:r>
            <a:r>
              <a:rPr lang="en" sz="1700" dirty="0">
                <a:solidFill>
                  <a:schemeClr val="dk1"/>
                </a:solidFill>
                <a:highlight>
                  <a:schemeClr val="accent6"/>
                </a:highlight>
                <a:latin typeface="Times New Roman"/>
                <a:ea typeface="Times New Roman"/>
                <a:cs typeface="Times New Roman"/>
                <a:sym typeface="Times New Roman"/>
              </a:rPr>
              <a:t>scalability.</a:t>
            </a:r>
            <a:endParaRPr sz="1700" dirty="0">
              <a:solidFill>
                <a:schemeClr val="dk1"/>
              </a:solidFill>
              <a:highlight>
                <a:schemeClr val="accent6"/>
              </a:highlight>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700" dirty="0">
                <a:solidFill>
                  <a:schemeClr val="dk1"/>
                </a:solidFill>
                <a:latin typeface="Times New Roman"/>
                <a:ea typeface="Times New Roman"/>
                <a:cs typeface="Times New Roman"/>
                <a:sym typeface="Times New Roman"/>
              </a:rPr>
              <a:t>There are many such protocols developed for IoT, then how to choose one??</a:t>
            </a:r>
            <a:endParaRPr sz="17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700" dirty="0">
                <a:solidFill>
                  <a:schemeClr val="dk1"/>
                </a:solidFill>
                <a:latin typeface="Times New Roman"/>
                <a:ea typeface="Times New Roman"/>
                <a:cs typeface="Times New Roman"/>
                <a:sym typeface="Times New Roman"/>
              </a:rPr>
              <a:t>One way to decide which protocol to use is to consider the </a:t>
            </a:r>
            <a:r>
              <a:rPr lang="en" sz="1700" dirty="0">
                <a:solidFill>
                  <a:schemeClr val="dk1"/>
                </a:solidFill>
                <a:highlight>
                  <a:srgbClr val="FF9900"/>
                </a:highlight>
                <a:latin typeface="Times New Roman"/>
                <a:ea typeface="Times New Roman"/>
                <a:cs typeface="Times New Roman"/>
                <a:sym typeface="Times New Roman"/>
              </a:rPr>
              <a:t>environment </a:t>
            </a:r>
            <a:r>
              <a:rPr lang="en" sz="1700" dirty="0">
                <a:solidFill>
                  <a:schemeClr val="dk1"/>
                </a:solidFill>
                <a:latin typeface="Times New Roman"/>
                <a:ea typeface="Times New Roman"/>
                <a:cs typeface="Times New Roman"/>
                <a:sym typeface="Times New Roman"/>
              </a:rPr>
              <a:t>for which these protocols are designed. Some are designed for small ranges; some are for wide ranges, high data rates, low data rates, etc. They vary based on power consumption, range, cost, data rate, etc.</a:t>
            </a:r>
            <a:endParaRPr sz="1700" dirty="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23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762000" y="323650"/>
            <a:ext cx="7620000" cy="41531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9" name="Google Shape;109;p22"/>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0" name="Google Shape;110;p22"/>
          <p:cNvPicPr preferRelativeResize="0"/>
          <p:nvPr/>
        </p:nvPicPr>
        <p:blipFill rotWithShape="1">
          <a:blip r:embed="rId3">
            <a:alphaModFix/>
          </a:blip>
          <a:srcRect b="4961"/>
          <a:stretch/>
        </p:blipFill>
        <p:spPr>
          <a:xfrm>
            <a:off x="310975" y="20975"/>
            <a:ext cx="8756124" cy="48885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body" idx="1"/>
          </p:nvPr>
        </p:nvSpPr>
        <p:spPr>
          <a:xfrm>
            <a:off x="1725000" y="177575"/>
            <a:ext cx="7419000" cy="4965900"/>
          </a:xfrm>
          <a:prstGeom prst="rect">
            <a:avLst/>
          </a:prstGeom>
        </p:spPr>
        <p:txBody>
          <a:bodyPr spcFirstLastPara="1" wrap="square" lIns="91425" tIns="91425" rIns="91425" bIns="91425" anchor="t" anchorCtr="0">
            <a:noAutofit/>
          </a:bodyPr>
          <a:lstStyle/>
          <a:p>
            <a:pPr marL="0" lvl="0" indent="0" algn="just" rtl="0">
              <a:lnSpc>
                <a:spcPct val="95000"/>
              </a:lnSpc>
              <a:spcBef>
                <a:spcPts val="0"/>
              </a:spcBef>
              <a:spcAft>
                <a:spcPts val="0"/>
              </a:spcAft>
              <a:buSzPts val="935"/>
              <a:buNone/>
            </a:pPr>
            <a:r>
              <a:rPr lang="en" sz="1220">
                <a:solidFill>
                  <a:srgbClr val="374151"/>
                </a:solidFill>
                <a:highlight>
                  <a:srgbClr val="FFFFFF"/>
                </a:highlight>
                <a:latin typeface="Times New Roman"/>
                <a:ea typeface="Times New Roman"/>
                <a:cs typeface="Times New Roman"/>
                <a:sym typeface="Times New Roman"/>
              </a:rPr>
              <a:t>In the context of IoT (Internet of Things) networking, the PHY (Physical) layer and MAC (Media Access Control) layer are two fundamental layers of the OSI (Open Systems Interconnection) model that play crucial roles in enabling communication between devices. They represent different layers of the networking stack and serve distinct functions. 			</a:t>
            </a:r>
            <a:endParaRPr sz="1220">
              <a:solidFill>
                <a:srgbClr val="374151"/>
              </a:solidFill>
              <a:highlight>
                <a:srgbClr val="FFFFFF"/>
              </a:highlight>
              <a:latin typeface="Times New Roman"/>
              <a:ea typeface="Times New Roman"/>
              <a:cs typeface="Times New Roman"/>
              <a:sym typeface="Times New Roman"/>
            </a:endParaRPr>
          </a:p>
          <a:p>
            <a:pPr marL="0" lvl="0" indent="0" algn="just" rtl="0">
              <a:lnSpc>
                <a:spcPct val="95000"/>
              </a:lnSpc>
              <a:spcBef>
                <a:spcPts val="0"/>
              </a:spcBef>
              <a:spcAft>
                <a:spcPts val="0"/>
              </a:spcAft>
              <a:buSzPts val="935"/>
              <a:buNone/>
            </a:pPr>
            <a:r>
              <a:rPr lang="en" sz="1220">
                <a:solidFill>
                  <a:srgbClr val="374151"/>
                </a:solidFill>
                <a:highlight>
                  <a:srgbClr val="FFFFFF"/>
                </a:highlight>
                <a:latin typeface="Times New Roman"/>
                <a:ea typeface="Times New Roman"/>
                <a:cs typeface="Times New Roman"/>
                <a:sym typeface="Times New Roman"/>
              </a:rPr>
              <a:t>The PHY layer occupies the lowest layer-1 of OSI </a:t>
            </a:r>
            <a:r>
              <a:rPr lang="en" sz="1220">
                <a:solidFill>
                  <a:srgbClr val="374151"/>
                </a:solidFill>
                <a:highlight>
                  <a:srgbClr val="FFFF00"/>
                </a:highlight>
                <a:latin typeface="Times New Roman"/>
                <a:ea typeface="Times New Roman"/>
                <a:cs typeface="Times New Roman"/>
                <a:sym typeface="Times New Roman"/>
              </a:rPr>
              <a:t>stack and handles the physical aspects of communication.	</a:t>
            </a:r>
            <a:endParaRPr sz="1220">
              <a:solidFill>
                <a:srgbClr val="374151"/>
              </a:solidFill>
              <a:highlight>
                <a:srgbClr val="FFFF00"/>
              </a:highlight>
              <a:latin typeface="Times New Roman"/>
              <a:ea typeface="Times New Roman"/>
              <a:cs typeface="Times New Roman"/>
              <a:sym typeface="Times New Roman"/>
            </a:endParaRPr>
          </a:p>
          <a:p>
            <a:pPr marL="0" lvl="0" indent="0" algn="just" rtl="0">
              <a:lnSpc>
                <a:spcPct val="95000"/>
              </a:lnSpc>
              <a:spcBef>
                <a:spcPts val="0"/>
              </a:spcBef>
              <a:spcAft>
                <a:spcPts val="0"/>
              </a:spcAft>
              <a:buSzPts val="935"/>
              <a:buNone/>
            </a:pPr>
            <a:r>
              <a:rPr lang="en" sz="1220">
                <a:solidFill>
                  <a:srgbClr val="374151"/>
                </a:solidFill>
                <a:highlight>
                  <a:srgbClr val="FFFFFF"/>
                </a:highlight>
                <a:latin typeface="Times New Roman"/>
                <a:ea typeface="Times New Roman"/>
                <a:cs typeface="Times New Roman"/>
                <a:sym typeface="Times New Roman"/>
              </a:rPr>
              <a:t>The MAC layer occupies the lowest layer-2 and m</a:t>
            </a:r>
            <a:r>
              <a:rPr lang="en" sz="1220">
                <a:solidFill>
                  <a:srgbClr val="374151"/>
                </a:solidFill>
                <a:highlight>
                  <a:srgbClr val="FFFF00"/>
                </a:highlight>
                <a:latin typeface="Times New Roman"/>
                <a:ea typeface="Times New Roman"/>
                <a:cs typeface="Times New Roman"/>
                <a:sym typeface="Times New Roman"/>
              </a:rPr>
              <a:t>anages access to the communication medium</a:t>
            </a:r>
            <a:r>
              <a:rPr lang="en" sz="1220">
                <a:solidFill>
                  <a:srgbClr val="374151"/>
                </a:solidFill>
                <a:highlight>
                  <a:srgbClr val="FFFFFF"/>
                </a:highlight>
                <a:latin typeface="Times New Roman"/>
                <a:ea typeface="Times New Roman"/>
                <a:cs typeface="Times New Roman"/>
                <a:sym typeface="Times New Roman"/>
              </a:rPr>
              <a:t> and ensures efficient and </a:t>
            </a:r>
            <a:r>
              <a:rPr lang="en" sz="1220">
                <a:solidFill>
                  <a:srgbClr val="374151"/>
                </a:solidFill>
                <a:highlight>
                  <a:srgbClr val="FFFF00"/>
                </a:highlight>
                <a:latin typeface="Times New Roman"/>
                <a:ea typeface="Times New Roman"/>
                <a:cs typeface="Times New Roman"/>
                <a:sym typeface="Times New Roman"/>
              </a:rPr>
              <a:t>secure data transmission </a:t>
            </a:r>
            <a:r>
              <a:rPr lang="en" sz="1220">
                <a:solidFill>
                  <a:srgbClr val="374151"/>
                </a:solidFill>
                <a:highlight>
                  <a:srgbClr val="FFFFFF"/>
                </a:highlight>
                <a:latin typeface="Times New Roman"/>
                <a:ea typeface="Times New Roman"/>
                <a:cs typeface="Times New Roman"/>
                <a:sym typeface="Times New Roman"/>
              </a:rPr>
              <a:t>in IoT networks.</a:t>
            </a:r>
            <a:endParaRPr sz="1220">
              <a:solidFill>
                <a:srgbClr val="374151"/>
              </a:solidFill>
              <a:highlight>
                <a:srgbClr val="FFFFFF"/>
              </a:highlight>
              <a:latin typeface="Times New Roman"/>
              <a:ea typeface="Times New Roman"/>
              <a:cs typeface="Times New Roman"/>
              <a:sym typeface="Times New Roman"/>
            </a:endParaRPr>
          </a:p>
          <a:p>
            <a:pPr marL="0" lvl="0" indent="0" algn="just" rtl="0">
              <a:lnSpc>
                <a:spcPct val="95000"/>
              </a:lnSpc>
              <a:spcBef>
                <a:spcPts val="0"/>
              </a:spcBef>
              <a:spcAft>
                <a:spcPts val="0"/>
              </a:spcAft>
              <a:buSzPts val="935"/>
              <a:buNone/>
            </a:pPr>
            <a:endParaRPr sz="1220">
              <a:solidFill>
                <a:srgbClr val="374151"/>
              </a:solidFill>
              <a:highlight>
                <a:srgbClr val="FFFFFF"/>
              </a:highlight>
              <a:latin typeface="Times New Roman"/>
              <a:ea typeface="Times New Roman"/>
              <a:cs typeface="Times New Roman"/>
              <a:sym typeface="Times New Roman"/>
            </a:endParaRPr>
          </a:p>
          <a:p>
            <a:pPr marL="0" lvl="0" indent="0" algn="l" rtl="0">
              <a:lnSpc>
                <a:spcPct val="113333"/>
              </a:lnSpc>
              <a:spcBef>
                <a:spcPts val="0"/>
              </a:spcBef>
              <a:spcAft>
                <a:spcPts val="0"/>
              </a:spcAft>
              <a:buSzPts val="935"/>
              <a:buNone/>
            </a:pPr>
            <a:r>
              <a:rPr lang="en" sz="1645" b="1">
                <a:solidFill>
                  <a:srgbClr val="111827"/>
                </a:solidFill>
                <a:highlight>
                  <a:srgbClr val="FFFFFF"/>
                </a:highlight>
                <a:latin typeface="Times New Roman"/>
                <a:ea typeface="Times New Roman"/>
                <a:cs typeface="Times New Roman"/>
                <a:sym typeface="Times New Roman"/>
              </a:rPr>
              <a:t>What is PHY Layer</a:t>
            </a:r>
            <a:endParaRPr sz="1645" b="1">
              <a:solidFill>
                <a:srgbClr val="111827"/>
              </a:solidFill>
              <a:highlight>
                <a:srgbClr val="FFFFFF"/>
              </a:highlight>
              <a:latin typeface="Times New Roman"/>
              <a:ea typeface="Times New Roman"/>
              <a:cs typeface="Times New Roman"/>
              <a:sym typeface="Times New Roman"/>
            </a:endParaRPr>
          </a:p>
          <a:p>
            <a:pPr marL="0" lvl="0" indent="0" algn="just" rtl="0">
              <a:lnSpc>
                <a:spcPct val="95000"/>
              </a:lnSpc>
              <a:spcBef>
                <a:spcPts val="0"/>
              </a:spcBef>
              <a:spcAft>
                <a:spcPts val="0"/>
              </a:spcAft>
              <a:buSzPts val="935"/>
              <a:buNone/>
            </a:pPr>
            <a:r>
              <a:rPr lang="en" sz="1220">
                <a:solidFill>
                  <a:srgbClr val="374151"/>
                </a:solidFill>
                <a:highlight>
                  <a:srgbClr val="FFFFFF"/>
                </a:highlight>
                <a:latin typeface="Times New Roman"/>
                <a:ea typeface="Times New Roman"/>
                <a:cs typeface="Times New Roman"/>
                <a:sym typeface="Times New Roman"/>
              </a:rPr>
              <a:t>PHY is the short form of Physical Layer. It is the layer-1 in OSI stack. It interfaces physical medium with MAC and upper layers. </a:t>
            </a:r>
            <a:r>
              <a:rPr lang="en" sz="1220">
                <a:solidFill>
                  <a:srgbClr val="374151"/>
                </a:solidFill>
                <a:highlight>
                  <a:srgbClr val="FFFF00"/>
                </a:highlight>
                <a:latin typeface="Times New Roman"/>
                <a:ea typeface="Times New Roman"/>
                <a:cs typeface="Times New Roman"/>
                <a:sym typeface="Times New Roman"/>
              </a:rPr>
              <a:t>Physical medium can be copper wire, fiber optic cable, twisted pair or even wireless channel.</a:t>
            </a:r>
            <a:endParaRPr sz="1220">
              <a:solidFill>
                <a:srgbClr val="374151"/>
              </a:solidFill>
              <a:highlight>
                <a:srgbClr val="FFFF00"/>
              </a:highlight>
              <a:latin typeface="Times New Roman"/>
              <a:ea typeface="Times New Roman"/>
              <a:cs typeface="Times New Roman"/>
              <a:sym typeface="Times New Roman"/>
            </a:endParaRPr>
          </a:p>
          <a:p>
            <a:pPr marL="0" lvl="0" indent="0" algn="just" rtl="0">
              <a:lnSpc>
                <a:spcPct val="95000"/>
              </a:lnSpc>
              <a:spcBef>
                <a:spcPts val="1500"/>
              </a:spcBef>
              <a:spcAft>
                <a:spcPts val="0"/>
              </a:spcAft>
              <a:buSzPts val="935"/>
              <a:buNone/>
            </a:pPr>
            <a:r>
              <a:rPr lang="en" sz="1220" b="1">
                <a:solidFill>
                  <a:srgbClr val="111827"/>
                </a:solidFill>
                <a:highlight>
                  <a:srgbClr val="FFFFFF"/>
                </a:highlight>
                <a:latin typeface="Times New Roman"/>
                <a:ea typeface="Times New Roman"/>
                <a:cs typeface="Times New Roman"/>
                <a:sym typeface="Times New Roman"/>
              </a:rPr>
              <a:t>Function:</a:t>
            </a:r>
            <a:r>
              <a:rPr lang="en" sz="1220" b="1">
                <a:solidFill>
                  <a:srgbClr val="374151"/>
                </a:solidFill>
                <a:highlight>
                  <a:srgbClr val="FFFFFF"/>
                </a:highlight>
                <a:latin typeface="Times New Roman"/>
                <a:ea typeface="Times New Roman"/>
                <a:cs typeface="Times New Roman"/>
                <a:sym typeface="Times New Roman"/>
              </a:rPr>
              <a:t> </a:t>
            </a:r>
            <a:r>
              <a:rPr lang="en" sz="1220">
                <a:solidFill>
                  <a:srgbClr val="374151"/>
                </a:solidFill>
                <a:highlight>
                  <a:srgbClr val="FFFFFF"/>
                </a:highlight>
                <a:latin typeface="Times New Roman"/>
                <a:ea typeface="Times New Roman"/>
                <a:cs typeface="Times New Roman"/>
                <a:sym typeface="Times New Roman"/>
              </a:rPr>
              <a:t>The PHY layer is the lowest layer in the OSI model and is responsible for the physical transmission of raw bits over the communication medium. Following are the key responsibilities of PHY layer :</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FF"/>
                </a:highlight>
                <a:latin typeface="Times New Roman"/>
                <a:ea typeface="Times New Roman"/>
                <a:cs typeface="Times New Roman"/>
                <a:sym typeface="Times New Roman"/>
              </a:rPr>
              <a:t>It converts MAC layer</a:t>
            </a:r>
            <a:r>
              <a:rPr lang="en" sz="1220">
                <a:solidFill>
                  <a:srgbClr val="374151"/>
                </a:solidFill>
                <a:highlight>
                  <a:srgbClr val="FFFF00"/>
                </a:highlight>
                <a:latin typeface="Times New Roman"/>
                <a:ea typeface="Times New Roman"/>
                <a:cs typeface="Times New Roman"/>
                <a:sym typeface="Times New Roman"/>
              </a:rPr>
              <a:t> format suitable</a:t>
            </a:r>
            <a:r>
              <a:rPr lang="en" sz="1220">
                <a:solidFill>
                  <a:srgbClr val="374151"/>
                </a:solidFill>
                <a:highlight>
                  <a:srgbClr val="FFFFFF"/>
                </a:highlight>
                <a:latin typeface="Times New Roman"/>
                <a:ea typeface="Times New Roman"/>
                <a:cs typeface="Times New Roman"/>
                <a:sym typeface="Times New Roman"/>
              </a:rPr>
              <a:t> to be transported over the medium.</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00"/>
                </a:highlight>
                <a:latin typeface="Times New Roman"/>
                <a:ea typeface="Times New Roman"/>
                <a:cs typeface="Times New Roman"/>
                <a:sym typeface="Times New Roman"/>
              </a:rPr>
              <a:t>Defines the characteristics </a:t>
            </a:r>
            <a:r>
              <a:rPr lang="en" sz="1220">
                <a:solidFill>
                  <a:srgbClr val="374151"/>
                </a:solidFill>
                <a:highlight>
                  <a:srgbClr val="FFFFFF"/>
                </a:highlight>
                <a:latin typeface="Times New Roman"/>
                <a:ea typeface="Times New Roman"/>
                <a:cs typeface="Times New Roman"/>
                <a:sym typeface="Times New Roman"/>
              </a:rPr>
              <a:t>of the physical medium, such as cables, wireless channels, or optical fibers.</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00"/>
                </a:highlight>
                <a:latin typeface="Times New Roman"/>
                <a:ea typeface="Times New Roman"/>
                <a:cs typeface="Times New Roman"/>
                <a:sym typeface="Times New Roman"/>
              </a:rPr>
              <a:t>Converts digital data</a:t>
            </a:r>
            <a:r>
              <a:rPr lang="en" sz="1220">
                <a:solidFill>
                  <a:srgbClr val="374151"/>
                </a:solidFill>
                <a:highlight>
                  <a:srgbClr val="FFFFFF"/>
                </a:highlight>
                <a:latin typeface="Times New Roman"/>
                <a:ea typeface="Times New Roman"/>
                <a:cs typeface="Times New Roman"/>
                <a:sym typeface="Times New Roman"/>
              </a:rPr>
              <a:t> into analog signals for transmission and vice versa.</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FF"/>
                </a:highlight>
                <a:latin typeface="Times New Roman"/>
                <a:ea typeface="Times New Roman"/>
                <a:cs typeface="Times New Roman"/>
                <a:sym typeface="Times New Roman"/>
              </a:rPr>
              <a:t>Incorporates </a:t>
            </a:r>
            <a:r>
              <a:rPr lang="en" sz="1220">
                <a:solidFill>
                  <a:srgbClr val="374151"/>
                </a:solidFill>
                <a:highlight>
                  <a:srgbClr val="FFF2CC"/>
                </a:highlight>
                <a:latin typeface="Times New Roman"/>
                <a:ea typeface="Times New Roman"/>
                <a:cs typeface="Times New Roman"/>
                <a:sym typeface="Times New Roman"/>
              </a:rPr>
              <a:t>modulation and demodulation </a:t>
            </a:r>
            <a:r>
              <a:rPr lang="en" sz="1220">
                <a:solidFill>
                  <a:srgbClr val="374151"/>
                </a:solidFill>
                <a:highlight>
                  <a:srgbClr val="FFFFFF"/>
                </a:highlight>
                <a:latin typeface="Times New Roman"/>
                <a:ea typeface="Times New Roman"/>
                <a:cs typeface="Times New Roman"/>
                <a:sym typeface="Times New Roman"/>
              </a:rPr>
              <a:t>functionalities which transforms bits into symbols and vice versa.</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FF"/>
                </a:highlight>
                <a:latin typeface="Times New Roman"/>
                <a:ea typeface="Times New Roman"/>
                <a:cs typeface="Times New Roman"/>
                <a:sym typeface="Times New Roman"/>
              </a:rPr>
              <a:t>Specifies the </a:t>
            </a:r>
            <a:r>
              <a:rPr lang="en" sz="1220">
                <a:solidFill>
                  <a:srgbClr val="374151"/>
                </a:solidFill>
                <a:highlight>
                  <a:srgbClr val="FFFF00"/>
                </a:highlight>
                <a:latin typeface="Times New Roman"/>
                <a:ea typeface="Times New Roman"/>
                <a:cs typeface="Times New Roman"/>
                <a:sym typeface="Times New Roman"/>
              </a:rPr>
              <a:t>data transfer rate and the encoding scheme </a:t>
            </a:r>
            <a:r>
              <a:rPr lang="en" sz="1220">
                <a:solidFill>
                  <a:srgbClr val="374151"/>
                </a:solidFill>
                <a:highlight>
                  <a:srgbClr val="FFFFFF"/>
                </a:highlight>
                <a:latin typeface="Times New Roman"/>
                <a:ea typeface="Times New Roman"/>
                <a:cs typeface="Times New Roman"/>
                <a:sym typeface="Times New Roman"/>
              </a:rPr>
              <a:t>used for transmitting data over the physical medium.</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FF"/>
                </a:highlight>
                <a:latin typeface="Times New Roman"/>
                <a:ea typeface="Times New Roman"/>
                <a:cs typeface="Times New Roman"/>
                <a:sym typeface="Times New Roman"/>
              </a:rPr>
              <a:t>Provides </a:t>
            </a:r>
            <a:r>
              <a:rPr lang="en" sz="1220">
                <a:solidFill>
                  <a:srgbClr val="374151"/>
                </a:solidFill>
                <a:highlight>
                  <a:srgbClr val="FFFF00"/>
                </a:highlight>
                <a:latin typeface="Times New Roman"/>
                <a:ea typeface="Times New Roman"/>
                <a:cs typeface="Times New Roman"/>
                <a:sym typeface="Times New Roman"/>
              </a:rPr>
              <a:t>error correction </a:t>
            </a:r>
            <a:r>
              <a:rPr lang="en" sz="1220">
                <a:solidFill>
                  <a:srgbClr val="374151"/>
                </a:solidFill>
                <a:highlight>
                  <a:srgbClr val="FFFFFF"/>
                </a:highlight>
                <a:latin typeface="Times New Roman"/>
                <a:ea typeface="Times New Roman"/>
                <a:cs typeface="Times New Roman"/>
                <a:sym typeface="Times New Roman"/>
              </a:rPr>
              <a:t>capability by using convolutional encoder or turbo encoder at transmit end and suitable decoder at the receive end.</a:t>
            </a:r>
            <a:endParaRPr sz="1220">
              <a:solidFill>
                <a:srgbClr val="374151"/>
              </a:solidFill>
              <a:highlight>
                <a:srgbClr val="FFFFFF"/>
              </a:highlight>
              <a:latin typeface="Times New Roman"/>
              <a:ea typeface="Times New Roman"/>
              <a:cs typeface="Times New Roman"/>
              <a:sym typeface="Times New Roman"/>
            </a:endParaRPr>
          </a:p>
          <a:p>
            <a:pPr marL="457200" lvl="0" indent="-306070" algn="l" rtl="0">
              <a:lnSpc>
                <a:spcPct val="95000"/>
              </a:lnSpc>
              <a:spcBef>
                <a:spcPts val="0"/>
              </a:spcBef>
              <a:spcAft>
                <a:spcPts val="0"/>
              </a:spcAft>
              <a:buClr>
                <a:srgbClr val="374151"/>
              </a:buClr>
              <a:buSzPts val="1220"/>
              <a:buFont typeface="Times New Roman"/>
              <a:buChar char="●"/>
            </a:pPr>
            <a:r>
              <a:rPr lang="en" sz="1220">
                <a:solidFill>
                  <a:srgbClr val="374151"/>
                </a:solidFill>
                <a:highlight>
                  <a:srgbClr val="FFFFFF"/>
                </a:highlight>
                <a:latin typeface="Times New Roman"/>
                <a:ea typeface="Times New Roman"/>
                <a:cs typeface="Times New Roman"/>
                <a:sym typeface="Times New Roman"/>
              </a:rPr>
              <a:t>Describes the physical connectors, pinouts, and electrical properties required for data transmission.</a:t>
            </a:r>
            <a:endParaRPr sz="1220">
              <a:solidFill>
                <a:srgbClr val="374151"/>
              </a:solidFill>
              <a:highlight>
                <a:srgbClr val="FFFFFF"/>
              </a:highlight>
              <a:latin typeface="Times New Roman"/>
              <a:ea typeface="Times New Roman"/>
              <a:cs typeface="Times New Roman"/>
              <a:sym typeface="Times New Roman"/>
            </a:endParaRPr>
          </a:p>
          <a:p>
            <a:pPr marL="0" lvl="0" indent="0" algn="l" rtl="0">
              <a:lnSpc>
                <a:spcPct val="95000"/>
              </a:lnSpc>
              <a:spcBef>
                <a:spcPts val="2100"/>
              </a:spcBef>
              <a:spcAft>
                <a:spcPts val="1200"/>
              </a:spcAft>
              <a:buSzPts val="935"/>
              <a:buNone/>
            </a:pPr>
            <a:endParaRPr sz="1305">
              <a:latin typeface="Times New Roman"/>
              <a:ea typeface="Times New Roman"/>
              <a:cs typeface="Times New Roman"/>
              <a:sym typeface="Times New Roman"/>
            </a:endParaRPr>
          </a:p>
        </p:txBody>
      </p:sp>
      <p:pic>
        <p:nvPicPr>
          <p:cNvPr id="116" name="Google Shape;116;p23"/>
          <p:cNvPicPr preferRelativeResize="0"/>
          <p:nvPr/>
        </p:nvPicPr>
        <p:blipFill>
          <a:blip r:embed="rId3">
            <a:alphaModFix/>
          </a:blip>
          <a:stretch>
            <a:fillRect/>
          </a:stretch>
        </p:blipFill>
        <p:spPr>
          <a:xfrm>
            <a:off x="0" y="1021700"/>
            <a:ext cx="1677975" cy="378142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p:nvPr/>
        </p:nvSpPr>
        <p:spPr>
          <a:xfrm>
            <a:off x="0" y="0"/>
            <a:ext cx="9087000" cy="52203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3400"/>
              </a:spcBef>
              <a:spcAft>
                <a:spcPts val="0"/>
              </a:spcAft>
              <a:buNone/>
            </a:pPr>
            <a:r>
              <a:rPr lang="en" sz="2200" b="1">
                <a:solidFill>
                  <a:srgbClr val="111827"/>
                </a:solidFill>
                <a:highlight>
                  <a:srgbClr val="FFFFFF"/>
                </a:highlight>
                <a:latin typeface="Times New Roman"/>
                <a:ea typeface="Times New Roman"/>
                <a:cs typeface="Times New Roman"/>
                <a:sym typeface="Times New Roman"/>
              </a:rPr>
              <a:t>What is MAC Layer</a:t>
            </a:r>
            <a:endParaRPr sz="2200" b="1">
              <a:solidFill>
                <a:srgbClr val="111827"/>
              </a:solidFill>
              <a:highlight>
                <a:srgbClr val="FFFFFF"/>
              </a:highlight>
              <a:latin typeface="Times New Roman"/>
              <a:ea typeface="Times New Roman"/>
              <a:cs typeface="Times New Roman"/>
              <a:sym typeface="Times New Roman"/>
            </a:endParaRPr>
          </a:p>
          <a:p>
            <a:pPr marL="0" lvl="0" indent="0" algn="just" rtl="0">
              <a:lnSpc>
                <a:spcPct val="115000"/>
              </a:lnSpc>
              <a:spcBef>
                <a:spcPts val="1700"/>
              </a:spcBef>
              <a:spcAft>
                <a:spcPts val="0"/>
              </a:spcAft>
              <a:buNone/>
            </a:pPr>
            <a:r>
              <a:rPr lang="en" sz="1700">
                <a:solidFill>
                  <a:srgbClr val="374151"/>
                </a:solidFill>
                <a:highlight>
                  <a:srgbClr val="FFFFFF"/>
                </a:highlight>
                <a:latin typeface="Times New Roman"/>
                <a:ea typeface="Times New Roman"/>
                <a:cs typeface="Times New Roman"/>
                <a:sym typeface="Times New Roman"/>
              </a:rPr>
              <a:t>MAC is the short form of Medium Access Control Layer. It is the layer-2 in OSI stack. It interfaces PHY layer and Upper layers (i.e. network and above).</a:t>
            </a:r>
            <a:endParaRPr sz="1700">
              <a:solidFill>
                <a:srgbClr val="374151"/>
              </a:solidFill>
              <a:highlight>
                <a:srgbClr val="FFFFFF"/>
              </a:highlight>
              <a:latin typeface="Times New Roman"/>
              <a:ea typeface="Times New Roman"/>
              <a:cs typeface="Times New Roman"/>
              <a:sym typeface="Times New Roman"/>
            </a:endParaRPr>
          </a:p>
          <a:p>
            <a:pPr marL="0" lvl="0" indent="0" algn="just" rtl="0">
              <a:lnSpc>
                <a:spcPct val="115000"/>
              </a:lnSpc>
              <a:spcBef>
                <a:spcPts val="1500"/>
              </a:spcBef>
              <a:spcAft>
                <a:spcPts val="0"/>
              </a:spcAft>
              <a:buNone/>
            </a:pPr>
            <a:r>
              <a:rPr lang="en" sz="1700">
                <a:solidFill>
                  <a:srgbClr val="111827"/>
                </a:solidFill>
                <a:highlight>
                  <a:srgbClr val="FFFFFF"/>
                </a:highlight>
                <a:latin typeface="Times New Roman"/>
                <a:ea typeface="Times New Roman"/>
                <a:cs typeface="Times New Roman"/>
                <a:sym typeface="Times New Roman"/>
              </a:rPr>
              <a:t>Function:</a:t>
            </a:r>
            <a:r>
              <a:rPr lang="en" sz="1700">
                <a:solidFill>
                  <a:srgbClr val="374151"/>
                </a:solidFill>
                <a:highlight>
                  <a:srgbClr val="FFFFFF"/>
                </a:highlight>
                <a:latin typeface="Times New Roman"/>
                <a:ea typeface="Times New Roman"/>
                <a:cs typeface="Times New Roman"/>
                <a:sym typeface="Times New Roman"/>
              </a:rPr>
              <a:t> The MAC layer operates at a higher level than the PHY layer and is r</a:t>
            </a:r>
            <a:r>
              <a:rPr lang="en" sz="1700">
                <a:solidFill>
                  <a:srgbClr val="374151"/>
                </a:solidFill>
                <a:highlight>
                  <a:srgbClr val="FFFF00"/>
                </a:highlight>
                <a:latin typeface="Times New Roman"/>
                <a:ea typeface="Times New Roman"/>
                <a:cs typeface="Times New Roman"/>
                <a:sym typeface="Times New Roman"/>
              </a:rPr>
              <a:t>esponsible for managing access to the shared communication medium. </a:t>
            </a:r>
            <a:r>
              <a:rPr lang="en" sz="1700">
                <a:solidFill>
                  <a:srgbClr val="374151"/>
                </a:solidFill>
                <a:highlight>
                  <a:srgbClr val="FFFFFF"/>
                </a:highlight>
                <a:latin typeface="Times New Roman"/>
                <a:ea typeface="Times New Roman"/>
                <a:cs typeface="Times New Roman"/>
                <a:sym typeface="Times New Roman"/>
              </a:rPr>
              <a:t>Following are the key responsibilities of MAC layer :</a:t>
            </a:r>
            <a:endParaRPr sz="1700">
              <a:solidFill>
                <a:srgbClr val="374151"/>
              </a:solidFill>
              <a:highlight>
                <a:srgbClr val="FFFFFF"/>
              </a:highlight>
              <a:latin typeface="Times New Roman"/>
              <a:ea typeface="Times New Roman"/>
              <a:cs typeface="Times New Roman"/>
              <a:sym typeface="Times New Roman"/>
            </a:endParaRPr>
          </a:p>
          <a:p>
            <a:pPr marL="457200" lvl="0" indent="-336550" algn="l" rtl="0">
              <a:lnSpc>
                <a:spcPct val="115000"/>
              </a:lnSpc>
              <a:spcBef>
                <a:spcPts val="0"/>
              </a:spcBef>
              <a:spcAft>
                <a:spcPts val="0"/>
              </a:spcAft>
              <a:buClr>
                <a:srgbClr val="374151"/>
              </a:buClr>
              <a:buSzPts val="1700"/>
              <a:buFont typeface="Times New Roman"/>
              <a:buChar char="●"/>
            </a:pPr>
            <a:r>
              <a:rPr lang="en" sz="1700" b="1">
                <a:solidFill>
                  <a:srgbClr val="111827"/>
                </a:solidFill>
                <a:highlight>
                  <a:srgbClr val="FFFFFF"/>
                </a:highlight>
                <a:latin typeface="Times New Roman"/>
                <a:ea typeface="Times New Roman"/>
                <a:cs typeface="Times New Roman"/>
                <a:sym typeface="Times New Roman"/>
              </a:rPr>
              <a:t>Addressing:</a:t>
            </a:r>
            <a:r>
              <a:rPr lang="en" sz="1700">
                <a:solidFill>
                  <a:srgbClr val="374151"/>
                </a:solidFill>
                <a:highlight>
                  <a:srgbClr val="FFFFFF"/>
                </a:highlight>
                <a:latin typeface="Times New Roman"/>
                <a:ea typeface="Times New Roman"/>
                <a:cs typeface="Times New Roman"/>
                <a:sym typeface="Times New Roman"/>
              </a:rPr>
              <a:t> Assigns unique MAC addresses to devices on the network for identification. MAC Header is added at the beginning of IP packet for this purpose.</a:t>
            </a:r>
            <a:endParaRPr sz="1700">
              <a:solidFill>
                <a:srgbClr val="374151"/>
              </a:solidFill>
              <a:highlight>
                <a:srgbClr val="FFFFFF"/>
              </a:highlight>
              <a:latin typeface="Times New Roman"/>
              <a:ea typeface="Times New Roman"/>
              <a:cs typeface="Times New Roman"/>
              <a:sym typeface="Times New Roman"/>
            </a:endParaRPr>
          </a:p>
          <a:p>
            <a:pPr marL="457200" lvl="0" indent="-336550" algn="l" rtl="0">
              <a:lnSpc>
                <a:spcPct val="115000"/>
              </a:lnSpc>
              <a:spcBef>
                <a:spcPts val="0"/>
              </a:spcBef>
              <a:spcAft>
                <a:spcPts val="0"/>
              </a:spcAft>
              <a:buClr>
                <a:srgbClr val="374151"/>
              </a:buClr>
              <a:buSzPts val="1700"/>
              <a:buFont typeface="Times New Roman"/>
              <a:buChar char="●"/>
            </a:pPr>
            <a:r>
              <a:rPr lang="en" sz="1700" b="1">
                <a:solidFill>
                  <a:srgbClr val="111827"/>
                </a:solidFill>
                <a:highlight>
                  <a:srgbClr val="FFFFFF"/>
                </a:highlight>
                <a:latin typeface="Times New Roman"/>
                <a:ea typeface="Times New Roman"/>
                <a:cs typeface="Times New Roman"/>
                <a:sym typeface="Times New Roman"/>
              </a:rPr>
              <a:t>Channel access:</a:t>
            </a:r>
            <a:r>
              <a:rPr lang="en" sz="1700">
                <a:solidFill>
                  <a:srgbClr val="374151"/>
                </a:solidFill>
                <a:highlight>
                  <a:srgbClr val="FFFFFF"/>
                </a:highlight>
                <a:latin typeface="Times New Roman"/>
                <a:ea typeface="Times New Roman"/>
                <a:cs typeface="Times New Roman"/>
                <a:sym typeface="Times New Roman"/>
              </a:rPr>
              <a:t> Controls how devices on the network gain access to the communication channel, especially in shared or wireless environments. </a:t>
            </a:r>
            <a:endParaRPr sz="1700">
              <a:solidFill>
                <a:srgbClr val="374151"/>
              </a:solidFill>
              <a:highlight>
                <a:srgbClr val="FFFFFF"/>
              </a:highlight>
              <a:latin typeface="Times New Roman"/>
              <a:ea typeface="Times New Roman"/>
              <a:cs typeface="Times New Roman"/>
              <a:sym typeface="Times New Roman"/>
            </a:endParaRPr>
          </a:p>
          <a:p>
            <a:pPr marL="457200" lvl="0" indent="-336550" algn="l" rtl="0">
              <a:lnSpc>
                <a:spcPct val="115000"/>
              </a:lnSpc>
              <a:spcBef>
                <a:spcPts val="0"/>
              </a:spcBef>
              <a:spcAft>
                <a:spcPts val="0"/>
              </a:spcAft>
              <a:buClr>
                <a:srgbClr val="374151"/>
              </a:buClr>
              <a:buSzPts val="1700"/>
              <a:buFont typeface="Times New Roman"/>
              <a:buChar char="●"/>
            </a:pPr>
            <a:r>
              <a:rPr lang="en" sz="1700" b="1">
                <a:solidFill>
                  <a:srgbClr val="111827"/>
                </a:solidFill>
                <a:highlight>
                  <a:srgbClr val="FFFFFF"/>
                </a:highlight>
                <a:latin typeface="Times New Roman"/>
                <a:ea typeface="Times New Roman"/>
                <a:cs typeface="Times New Roman"/>
                <a:sym typeface="Times New Roman"/>
              </a:rPr>
              <a:t>Frame formatting:</a:t>
            </a:r>
            <a:r>
              <a:rPr lang="en" sz="1700" b="1">
                <a:solidFill>
                  <a:srgbClr val="374151"/>
                </a:solidFill>
                <a:highlight>
                  <a:srgbClr val="FFFFFF"/>
                </a:highlight>
                <a:latin typeface="Times New Roman"/>
                <a:ea typeface="Times New Roman"/>
                <a:cs typeface="Times New Roman"/>
                <a:sym typeface="Times New Roman"/>
              </a:rPr>
              <a:t> </a:t>
            </a:r>
            <a:r>
              <a:rPr lang="en" sz="1700">
                <a:solidFill>
                  <a:srgbClr val="374151"/>
                </a:solidFill>
                <a:highlight>
                  <a:srgbClr val="FFFFFF"/>
                </a:highlight>
                <a:latin typeface="Times New Roman"/>
                <a:ea typeface="Times New Roman"/>
                <a:cs typeface="Times New Roman"/>
                <a:sym typeface="Times New Roman"/>
              </a:rPr>
              <a:t>Divides data into frames, adds addressing information, control bits, and error-checking, creating a structured format for transmission. CRC is added at the end of frame for error detection and retransmission.</a:t>
            </a:r>
            <a:endParaRPr sz="1700">
              <a:solidFill>
                <a:srgbClr val="374151"/>
              </a:solidFill>
              <a:highlight>
                <a:srgbClr val="FFFFFF"/>
              </a:highlight>
              <a:latin typeface="Times New Roman"/>
              <a:ea typeface="Times New Roman"/>
              <a:cs typeface="Times New Roman"/>
              <a:sym typeface="Times New Roman"/>
            </a:endParaRPr>
          </a:p>
          <a:p>
            <a:pPr marL="457200" lvl="0" indent="-336550" algn="l" rtl="0">
              <a:lnSpc>
                <a:spcPct val="115000"/>
              </a:lnSpc>
              <a:spcBef>
                <a:spcPts val="0"/>
              </a:spcBef>
              <a:spcAft>
                <a:spcPts val="0"/>
              </a:spcAft>
              <a:buClr>
                <a:srgbClr val="374151"/>
              </a:buClr>
              <a:buSzPts val="1700"/>
              <a:buFont typeface="Times New Roman"/>
              <a:buChar char="●"/>
            </a:pPr>
            <a:r>
              <a:rPr lang="en" sz="1700" b="1">
                <a:solidFill>
                  <a:srgbClr val="111827"/>
                </a:solidFill>
                <a:highlight>
                  <a:srgbClr val="FFFFFF"/>
                </a:highlight>
                <a:latin typeface="Times New Roman"/>
                <a:ea typeface="Times New Roman"/>
                <a:cs typeface="Times New Roman"/>
                <a:sym typeface="Times New Roman"/>
              </a:rPr>
              <a:t>Flow control:</a:t>
            </a:r>
            <a:r>
              <a:rPr lang="en" sz="1700">
                <a:solidFill>
                  <a:srgbClr val="374151"/>
                </a:solidFill>
                <a:highlight>
                  <a:srgbClr val="FFFFFF"/>
                </a:highlight>
                <a:latin typeface="Times New Roman"/>
                <a:ea typeface="Times New Roman"/>
                <a:cs typeface="Times New Roman"/>
                <a:sym typeface="Times New Roman"/>
              </a:rPr>
              <a:t> Manages the flow of data to ensure efficient communication between devices. This is achieved by segmentation (at transmit end) and re-assembly (at receive end).</a:t>
            </a:r>
            <a:endParaRPr sz="1700">
              <a:solidFill>
                <a:srgbClr val="374151"/>
              </a:solidFill>
              <a:highlight>
                <a:srgbClr val="FFFFFF"/>
              </a:highlight>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1303800" y="50850"/>
            <a:ext cx="7030500" cy="456900"/>
          </a:xfrm>
          <a:prstGeom prst="rect">
            <a:avLst/>
          </a:prstGeom>
        </p:spPr>
        <p:txBody>
          <a:bodyPr spcFirstLastPara="1" wrap="square" lIns="91425" tIns="91425" rIns="91425" bIns="91425" anchor="t" anchorCtr="0">
            <a:noAutofit/>
          </a:bodyPr>
          <a:lstStyle/>
          <a:p>
            <a:pPr marL="0" lvl="0" indent="0" algn="ctr" rtl="0">
              <a:lnSpc>
                <a:spcPct val="120000"/>
              </a:lnSpc>
              <a:spcBef>
                <a:spcPts val="0"/>
              </a:spcBef>
              <a:spcAft>
                <a:spcPts val="800"/>
              </a:spcAft>
              <a:buNone/>
            </a:pPr>
            <a:r>
              <a:rPr lang="en" sz="1600" b="1">
                <a:solidFill>
                  <a:srgbClr val="273239"/>
                </a:solidFill>
                <a:highlight>
                  <a:srgbClr val="FFFFFF"/>
                </a:highlight>
                <a:latin typeface="Times New Roman"/>
                <a:ea typeface="Times New Roman"/>
                <a:cs typeface="Times New Roman"/>
                <a:sym typeface="Times New Roman"/>
              </a:rPr>
              <a:t>1.Bluetooth </a:t>
            </a:r>
            <a:endParaRPr sz="1600" b="1">
              <a:latin typeface="Times New Roman"/>
              <a:ea typeface="Times New Roman"/>
              <a:cs typeface="Times New Roman"/>
              <a:sym typeface="Times New Roman"/>
            </a:endParaRPr>
          </a:p>
        </p:txBody>
      </p:sp>
      <p:sp>
        <p:nvSpPr>
          <p:cNvPr id="127" name="Google Shape;127;p25"/>
          <p:cNvSpPr txBox="1">
            <a:spLocks noGrp="1"/>
          </p:cNvSpPr>
          <p:nvPr>
            <p:ph type="body" idx="1"/>
          </p:nvPr>
        </p:nvSpPr>
        <p:spPr>
          <a:xfrm>
            <a:off x="1303800" y="473025"/>
            <a:ext cx="7569000" cy="4586700"/>
          </a:xfrm>
          <a:prstGeom prst="rect">
            <a:avLst/>
          </a:prstGeom>
        </p:spPr>
        <p:txBody>
          <a:bodyPr spcFirstLastPara="1" wrap="square" lIns="91425" tIns="91425" rIns="91425" bIns="91425" anchor="t" anchorCtr="0">
            <a:noAutofit/>
          </a:bodyPr>
          <a:lstStyle/>
          <a:p>
            <a:pPr marL="457200" lvl="0" indent="-333375" algn="just" rtl="0">
              <a:lnSpc>
                <a:spcPct val="100000"/>
              </a:lnSpc>
              <a:spcBef>
                <a:spcPts val="0"/>
              </a:spcBef>
              <a:spcAft>
                <a:spcPts val="0"/>
              </a:spcAft>
              <a:buClr>
                <a:srgbClr val="273239"/>
              </a:buClr>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Bluetooth is used for short-range wireless voice and data communication.</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Clr>
                <a:srgbClr val="273239"/>
              </a:buClr>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It is a Wireless Personal Area Network (WPAN) technology and is used for data communications over smaller distances. </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Clr>
                <a:srgbClr val="273239"/>
              </a:buClr>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This generation changed into being invented via Ericson in 1994. </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Clr>
                <a:srgbClr val="273239"/>
              </a:buClr>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It operates within the unlicensed, business, scientific, and clinical bands from 2.4 GHz to 2.485 GHz.</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Clr>
                <a:srgbClr val="273239"/>
              </a:buClr>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Bluetooth stages up to 10 meters. Depending upon the version, it presents information up to at least 1 Mbps or 3 Mbps. </a:t>
            </a:r>
            <a:endParaRPr sz="18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Clr>
                <a:srgbClr val="273239"/>
              </a:buClr>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A Bluetooth network is called a piconet and a group of interconnected piconets is called a scatter net.</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Bluetooth is a wireless technology that lets devices like phones, tablets, and headphones connect to each other and share information without needing cables.</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 Bluetooth simply follows the principle of transmitting and receiving data using </a:t>
            </a:r>
            <a:r>
              <a:rPr lang="en" sz="1650" u="sng">
                <a:solidFill>
                  <a:srgbClr val="357960"/>
                </a:solidFill>
                <a:highlight>
                  <a:srgbClr val="FFFFFF"/>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radio waves</a:t>
            </a:r>
            <a:r>
              <a:rPr lang="en" sz="1650">
                <a:solidFill>
                  <a:srgbClr val="273239"/>
                </a:solidFill>
                <a:highlight>
                  <a:srgbClr val="FFFFFF"/>
                </a:highlight>
                <a:latin typeface="Times New Roman"/>
                <a:ea typeface="Times New Roman"/>
                <a:cs typeface="Times New Roman"/>
                <a:sym typeface="Times New Roman"/>
              </a:rPr>
              <a:t>. It can be paired with the other device which has also Bluetooth but it should be within the estimated communication range to connect. </a:t>
            </a:r>
            <a:endParaRPr sz="1650">
              <a:solidFill>
                <a:srgbClr val="273239"/>
              </a:solidFill>
              <a:highlight>
                <a:srgbClr val="FFFFFF"/>
              </a:highlight>
              <a:latin typeface="Times New Roman"/>
              <a:ea typeface="Times New Roman"/>
              <a:cs typeface="Times New Roman"/>
              <a:sym typeface="Times New Roman"/>
            </a:endParaRPr>
          </a:p>
          <a:p>
            <a:pPr marL="457200" lvl="0" indent="-333375" algn="just" rtl="0">
              <a:lnSpc>
                <a:spcPct val="100000"/>
              </a:lnSpc>
              <a:spcBef>
                <a:spcPts val="0"/>
              </a:spcBef>
              <a:spcAft>
                <a:spcPts val="0"/>
              </a:spcAft>
              <a:buSzPts val="1650"/>
              <a:buFont typeface="Times New Roman"/>
              <a:buChar char="●"/>
            </a:pPr>
            <a:r>
              <a:rPr lang="en" sz="1650">
                <a:solidFill>
                  <a:srgbClr val="273239"/>
                </a:solidFill>
                <a:highlight>
                  <a:srgbClr val="FFFFFF"/>
                </a:highlight>
                <a:latin typeface="Times New Roman"/>
                <a:ea typeface="Times New Roman"/>
                <a:cs typeface="Times New Roman"/>
                <a:sym typeface="Times New Roman"/>
              </a:rPr>
              <a:t>When two devices start to share data, they form a network called piconet which can further accommodate more than five devices.</a:t>
            </a:r>
            <a:endParaRPr sz="1650">
              <a:solidFill>
                <a:srgbClr val="273239"/>
              </a:solidFill>
              <a:highlight>
                <a:srgbClr val="FFFFFF"/>
              </a:highlight>
              <a:latin typeface="Times New Roman"/>
              <a:ea typeface="Times New Roman"/>
              <a:cs typeface="Times New Roman"/>
              <a:sym typeface="Times New Roman"/>
            </a:endParaRPr>
          </a:p>
          <a:p>
            <a:pPr marL="0" lvl="0" indent="0" algn="l" rtl="0">
              <a:lnSpc>
                <a:spcPct val="95000"/>
              </a:lnSpc>
              <a:spcBef>
                <a:spcPts val="800"/>
              </a:spcBef>
              <a:spcAft>
                <a:spcPts val="1200"/>
              </a:spcAft>
              <a:buNone/>
            </a:pPr>
            <a:endParaRPr sz="1600">
              <a:latin typeface="Times New Roman"/>
              <a:ea typeface="Times New Roman"/>
              <a:cs typeface="Times New Roman"/>
              <a:sym typeface="Times New Roman"/>
            </a:endParaRPr>
          </a:p>
        </p:txBody>
      </p:sp>
      <p:pic>
        <p:nvPicPr>
          <p:cNvPr id="128" name="Google Shape;128;p25"/>
          <p:cNvPicPr preferRelativeResize="0"/>
          <p:nvPr/>
        </p:nvPicPr>
        <p:blipFill>
          <a:blip r:embed="rId4">
            <a:alphaModFix/>
          </a:blip>
          <a:stretch>
            <a:fillRect/>
          </a:stretch>
        </p:blipFill>
        <p:spPr>
          <a:xfrm>
            <a:off x="0" y="3688400"/>
            <a:ext cx="1462400" cy="1410998"/>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body" idx="1"/>
          </p:nvPr>
        </p:nvSpPr>
        <p:spPr>
          <a:xfrm>
            <a:off x="340450" y="287175"/>
            <a:ext cx="8723700" cy="2541600"/>
          </a:xfrm>
          <a:prstGeom prst="rect">
            <a:avLst/>
          </a:prstGeom>
        </p:spPr>
        <p:txBody>
          <a:bodyPr spcFirstLastPara="1" wrap="square" lIns="91425" tIns="91425" rIns="91425" bIns="91425" anchor="t" anchorCtr="0">
            <a:noAutofit/>
          </a:bodyPr>
          <a:lstStyle/>
          <a:p>
            <a:pPr marL="0" lvl="0" indent="0" algn="l" rtl="0">
              <a:lnSpc>
                <a:spcPct val="96666"/>
              </a:lnSpc>
              <a:spcBef>
                <a:spcPts val="0"/>
              </a:spcBef>
              <a:spcAft>
                <a:spcPts val="0"/>
              </a:spcAft>
              <a:buSzPts val="852"/>
              <a:buNone/>
            </a:pPr>
            <a:r>
              <a:rPr lang="en" sz="1595" b="1">
                <a:solidFill>
                  <a:srgbClr val="273239"/>
                </a:solidFill>
                <a:highlight>
                  <a:srgbClr val="FFFFFF"/>
                </a:highlight>
                <a:latin typeface="Times New Roman"/>
                <a:ea typeface="Times New Roman"/>
                <a:cs typeface="Times New Roman"/>
                <a:sym typeface="Times New Roman"/>
              </a:rPr>
              <a:t>Architecture of Bluetooth</a:t>
            </a:r>
            <a:endParaRPr sz="1595" b="1">
              <a:solidFill>
                <a:srgbClr val="273239"/>
              </a:solidFill>
              <a:highlight>
                <a:srgbClr val="FFFFFF"/>
              </a:highlight>
              <a:latin typeface="Times New Roman"/>
              <a:ea typeface="Times New Roman"/>
              <a:cs typeface="Times New Roman"/>
              <a:sym typeface="Times New Roman"/>
            </a:endParaRPr>
          </a:p>
          <a:p>
            <a:pPr marL="0" lvl="0" indent="0" algn="just" rtl="0">
              <a:lnSpc>
                <a:spcPct val="100000"/>
              </a:lnSpc>
              <a:spcBef>
                <a:spcPts val="0"/>
              </a:spcBef>
              <a:spcAft>
                <a:spcPts val="0"/>
              </a:spcAft>
              <a:buSzPts val="852"/>
              <a:buNone/>
            </a:pPr>
            <a:r>
              <a:rPr lang="en" sz="1246">
                <a:solidFill>
                  <a:srgbClr val="273239"/>
                </a:solidFill>
                <a:highlight>
                  <a:srgbClr val="FFFFFF"/>
                </a:highlight>
                <a:latin typeface="Times New Roman"/>
                <a:ea typeface="Times New Roman"/>
                <a:cs typeface="Times New Roman"/>
                <a:sym typeface="Times New Roman"/>
              </a:rPr>
              <a:t>The architecture of Bluetooth defines two types of networks:</a:t>
            </a:r>
            <a:endParaRPr sz="1246">
              <a:solidFill>
                <a:srgbClr val="273239"/>
              </a:solidFill>
              <a:highlight>
                <a:srgbClr val="FFFFFF"/>
              </a:highlight>
              <a:latin typeface="Times New Roman"/>
              <a:ea typeface="Times New Roman"/>
              <a:cs typeface="Times New Roman"/>
              <a:sym typeface="Times New Roman"/>
            </a:endParaRPr>
          </a:p>
          <a:p>
            <a:pPr marL="0" lvl="0" indent="0" algn="l" rtl="0">
              <a:lnSpc>
                <a:spcPct val="120000"/>
              </a:lnSpc>
              <a:spcBef>
                <a:spcPts val="800"/>
              </a:spcBef>
              <a:spcAft>
                <a:spcPts val="0"/>
              </a:spcAft>
              <a:buSzPts val="852"/>
              <a:buNone/>
            </a:pPr>
            <a:r>
              <a:rPr lang="en" sz="1362" b="1">
                <a:solidFill>
                  <a:srgbClr val="273239"/>
                </a:solidFill>
                <a:highlight>
                  <a:srgbClr val="FFFFFF"/>
                </a:highlight>
                <a:latin typeface="Times New Roman"/>
                <a:ea typeface="Times New Roman"/>
                <a:cs typeface="Times New Roman"/>
                <a:sym typeface="Times New Roman"/>
              </a:rPr>
              <a:t>Piconet</a:t>
            </a:r>
            <a:endParaRPr sz="1362" b="1">
              <a:solidFill>
                <a:srgbClr val="273239"/>
              </a:solidFill>
              <a:highlight>
                <a:srgbClr val="FFFFFF"/>
              </a:highlight>
              <a:latin typeface="Times New Roman"/>
              <a:ea typeface="Times New Roman"/>
              <a:cs typeface="Times New Roman"/>
              <a:sym typeface="Times New Roman"/>
            </a:endParaRPr>
          </a:p>
          <a:p>
            <a:pPr marL="457200" lvl="0" indent="-307736" algn="just" rtl="0">
              <a:lnSpc>
                <a:spcPct val="100000"/>
              </a:lnSpc>
              <a:spcBef>
                <a:spcPts val="0"/>
              </a:spcBef>
              <a:spcAft>
                <a:spcPts val="0"/>
              </a:spcAft>
              <a:buClr>
                <a:srgbClr val="273239"/>
              </a:buClr>
              <a:buSzPts val="1246"/>
              <a:buFont typeface="Times New Roman"/>
              <a:buChar char="●"/>
            </a:pPr>
            <a:r>
              <a:rPr lang="en" sz="1246">
                <a:solidFill>
                  <a:srgbClr val="273239"/>
                </a:solidFill>
                <a:highlight>
                  <a:srgbClr val="FFFFFF"/>
                </a:highlight>
                <a:latin typeface="Times New Roman"/>
                <a:ea typeface="Times New Roman"/>
                <a:cs typeface="Times New Roman"/>
                <a:sym typeface="Times New Roman"/>
              </a:rPr>
              <a:t>Piconet is a type of Bluetooth network that contains</a:t>
            </a:r>
            <a:r>
              <a:rPr lang="en" sz="1246" b="1">
                <a:solidFill>
                  <a:srgbClr val="273239"/>
                </a:solidFill>
                <a:highlight>
                  <a:srgbClr val="FFFFFF"/>
                </a:highlight>
                <a:latin typeface="Times New Roman"/>
                <a:ea typeface="Times New Roman"/>
                <a:cs typeface="Times New Roman"/>
                <a:sym typeface="Times New Roman"/>
              </a:rPr>
              <a:t> </a:t>
            </a:r>
            <a:r>
              <a:rPr lang="en" sz="1246">
                <a:solidFill>
                  <a:srgbClr val="273239"/>
                </a:solidFill>
                <a:highlight>
                  <a:srgbClr val="FFFFFF"/>
                </a:highlight>
                <a:latin typeface="Times New Roman"/>
                <a:ea typeface="Times New Roman"/>
                <a:cs typeface="Times New Roman"/>
                <a:sym typeface="Times New Roman"/>
              </a:rPr>
              <a:t>one primary node called the master node and seven active secondary nodes called slave nodes. Thus, we can say that there is a total of 8 active nodes which are present at a distance of 10 meters.</a:t>
            </a:r>
            <a:endParaRPr sz="1246">
              <a:solidFill>
                <a:srgbClr val="273239"/>
              </a:solidFill>
              <a:highlight>
                <a:srgbClr val="FFFFFF"/>
              </a:highlight>
              <a:latin typeface="Times New Roman"/>
              <a:ea typeface="Times New Roman"/>
              <a:cs typeface="Times New Roman"/>
              <a:sym typeface="Times New Roman"/>
            </a:endParaRPr>
          </a:p>
          <a:p>
            <a:pPr marL="457200" lvl="0" indent="-307736" algn="just" rtl="0">
              <a:lnSpc>
                <a:spcPct val="100000"/>
              </a:lnSpc>
              <a:spcBef>
                <a:spcPts val="0"/>
              </a:spcBef>
              <a:spcAft>
                <a:spcPts val="0"/>
              </a:spcAft>
              <a:buClr>
                <a:srgbClr val="273239"/>
              </a:buClr>
              <a:buSzPts val="1246"/>
              <a:buFont typeface="Times New Roman"/>
              <a:buChar char="●"/>
            </a:pPr>
            <a:r>
              <a:rPr lang="en" sz="1246">
                <a:solidFill>
                  <a:srgbClr val="273239"/>
                </a:solidFill>
                <a:highlight>
                  <a:srgbClr val="FFFFFF"/>
                </a:highlight>
                <a:latin typeface="Times New Roman"/>
                <a:ea typeface="Times New Roman"/>
                <a:cs typeface="Times New Roman"/>
                <a:sym typeface="Times New Roman"/>
              </a:rPr>
              <a:t> The communication between the primary and secondary nodes can be one-to-one or one-to-many. Possible communication is only between the master and slave; Slave-slave communication is not possible. It also has 255 parked nodes, these are secondary nodes and cannot take participation in communication unless it gets converted to the active state.</a:t>
            </a:r>
            <a:endParaRPr sz="1246">
              <a:solidFill>
                <a:srgbClr val="273239"/>
              </a:solidFill>
              <a:highlight>
                <a:srgbClr val="FFFFFF"/>
              </a:highlight>
              <a:latin typeface="Times New Roman"/>
              <a:ea typeface="Times New Roman"/>
              <a:cs typeface="Times New Roman"/>
              <a:sym typeface="Times New Roman"/>
            </a:endParaRPr>
          </a:p>
          <a:p>
            <a:pPr marL="0" lvl="0" indent="0" algn="l" rtl="0">
              <a:lnSpc>
                <a:spcPct val="140000"/>
              </a:lnSpc>
              <a:spcBef>
                <a:spcPts val="800"/>
              </a:spcBef>
              <a:spcAft>
                <a:spcPts val="0"/>
              </a:spcAft>
              <a:buSzPts val="852"/>
              <a:buNone/>
            </a:pPr>
            <a:endParaRPr sz="1052">
              <a:solidFill>
                <a:srgbClr val="000000"/>
              </a:solidFill>
              <a:latin typeface="Times New Roman"/>
              <a:ea typeface="Times New Roman"/>
              <a:cs typeface="Times New Roman"/>
              <a:sym typeface="Times New Roman"/>
            </a:endParaRPr>
          </a:p>
          <a:p>
            <a:pPr marL="0" lvl="0" indent="0" algn="l" rtl="0">
              <a:lnSpc>
                <a:spcPct val="95000"/>
              </a:lnSpc>
              <a:spcBef>
                <a:spcPts val="0"/>
              </a:spcBef>
              <a:spcAft>
                <a:spcPts val="1200"/>
              </a:spcAft>
              <a:buSzPts val="852"/>
              <a:buNone/>
            </a:pPr>
            <a:endParaRPr sz="1207">
              <a:latin typeface="Times New Roman"/>
              <a:ea typeface="Times New Roman"/>
              <a:cs typeface="Times New Roman"/>
              <a:sym typeface="Times New Roman"/>
            </a:endParaRPr>
          </a:p>
        </p:txBody>
      </p:sp>
      <p:pic>
        <p:nvPicPr>
          <p:cNvPr id="134" name="Google Shape;134;p26"/>
          <p:cNvPicPr preferRelativeResize="0"/>
          <p:nvPr/>
        </p:nvPicPr>
        <p:blipFill>
          <a:blip r:embed="rId3">
            <a:alphaModFix/>
          </a:blip>
          <a:stretch>
            <a:fillRect/>
          </a:stretch>
        </p:blipFill>
        <p:spPr>
          <a:xfrm>
            <a:off x="1828025" y="2406000"/>
            <a:ext cx="5093074" cy="27375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body" idx="1"/>
          </p:nvPr>
        </p:nvSpPr>
        <p:spPr>
          <a:xfrm>
            <a:off x="1348625" y="97975"/>
            <a:ext cx="7030500" cy="2541600"/>
          </a:xfrm>
          <a:prstGeom prst="rect">
            <a:avLst/>
          </a:prstGeom>
        </p:spPr>
        <p:txBody>
          <a:bodyPr spcFirstLastPara="1" wrap="square" lIns="91425" tIns="91425" rIns="91425" bIns="91425" anchor="t" anchorCtr="0">
            <a:normAutofit/>
          </a:bodyPr>
          <a:lstStyle/>
          <a:p>
            <a:pPr marL="0" lvl="0" indent="0" algn="l" rtl="0">
              <a:lnSpc>
                <a:spcPct val="140000"/>
              </a:lnSpc>
              <a:spcBef>
                <a:spcPts val="0"/>
              </a:spcBef>
              <a:spcAft>
                <a:spcPts val="0"/>
              </a:spcAft>
              <a:buNone/>
            </a:pPr>
            <a:r>
              <a:rPr lang="en" sz="1500" b="1">
                <a:solidFill>
                  <a:srgbClr val="273239"/>
                </a:solidFill>
                <a:highlight>
                  <a:srgbClr val="FFFFFF"/>
                </a:highlight>
              </a:rPr>
              <a:t>Scatternet</a:t>
            </a:r>
            <a:endParaRPr sz="1500" b="1">
              <a:solidFill>
                <a:srgbClr val="273239"/>
              </a:solidFill>
              <a:highlight>
                <a:srgbClr val="FFFFFF"/>
              </a:highlight>
            </a:endParaRPr>
          </a:p>
          <a:p>
            <a:pPr marL="0" lvl="0" indent="0" algn="just" rtl="0">
              <a:lnSpc>
                <a:spcPct val="120000"/>
              </a:lnSpc>
              <a:spcBef>
                <a:spcPts val="0"/>
              </a:spcBef>
              <a:spcAft>
                <a:spcPts val="0"/>
              </a:spcAft>
              <a:buNone/>
            </a:pPr>
            <a:r>
              <a:rPr lang="en" sz="1450">
                <a:solidFill>
                  <a:srgbClr val="273239"/>
                </a:solidFill>
                <a:highlight>
                  <a:srgbClr val="FFFFFF"/>
                </a:highlight>
                <a:latin typeface="Times New Roman"/>
                <a:ea typeface="Times New Roman"/>
                <a:cs typeface="Times New Roman"/>
                <a:sym typeface="Times New Roman"/>
              </a:rPr>
              <a:t>It is formed by using various piconets. A slave that is present in one piconet can act as master or we can say primary in another piconet. This kind of node can receive a message from a master in one piconet and deliver the message to its slave in the other piconet where it is acting as a master. This type of node is referred to as a bridge node. A station cannot be mastered in two piconets.</a:t>
            </a:r>
            <a:endParaRPr sz="1450">
              <a:solidFill>
                <a:srgbClr val="273239"/>
              </a:solidFill>
              <a:highlight>
                <a:srgbClr val="FFFFFF"/>
              </a:highlight>
              <a:latin typeface="Times New Roman"/>
              <a:ea typeface="Times New Roman"/>
              <a:cs typeface="Times New Roman"/>
              <a:sym typeface="Times New Roman"/>
            </a:endParaRPr>
          </a:p>
          <a:p>
            <a:pPr marL="0" lvl="0" indent="0" algn="l" rtl="0">
              <a:spcBef>
                <a:spcPts val="800"/>
              </a:spcBef>
              <a:spcAft>
                <a:spcPts val="1200"/>
              </a:spcAft>
              <a:buNone/>
            </a:pPr>
            <a:endParaRPr/>
          </a:p>
        </p:txBody>
      </p:sp>
      <p:pic>
        <p:nvPicPr>
          <p:cNvPr id="140" name="Google Shape;140;p27"/>
          <p:cNvPicPr preferRelativeResize="0"/>
          <p:nvPr/>
        </p:nvPicPr>
        <p:blipFill>
          <a:blip r:embed="rId3">
            <a:alphaModFix/>
          </a:blip>
          <a:stretch>
            <a:fillRect/>
          </a:stretch>
        </p:blipFill>
        <p:spPr>
          <a:xfrm>
            <a:off x="2004675" y="2687400"/>
            <a:ext cx="4778798" cy="21991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body" idx="1"/>
          </p:nvPr>
        </p:nvSpPr>
        <p:spPr>
          <a:xfrm>
            <a:off x="49050" y="97975"/>
            <a:ext cx="8430600" cy="4791600"/>
          </a:xfrm>
          <a:prstGeom prst="rect">
            <a:avLst/>
          </a:prstGeom>
        </p:spPr>
        <p:txBody>
          <a:bodyPr spcFirstLastPara="1" wrap="square" lIns="91425" tIns="91425" rIns="91425" bIns="91425" anchor="t" anchorCtr="0">
            <a:noAutofit/>
          </a:bodyPr>
          <a:lstStyle/>
          <a:p>
            <a:pPr marL="0" lvl="0" indent="0" algn="l" rtl="0">
              <a:lnSpc>
                <a:spcPct val="96666"/>
              </a:lnSpc>
              <a:spcBef>
                <a:spcPts val="0"/>
              </a:spcBef>
              <a:spcAft>
                <a:spcPts val="0"/>
              </a:spcAft>
              <a:buSzPts val="770"/>
              <a:buNone/>
            </a:pPr>
            <a:r>
              <a:rPr lang="en" sz="1260" b="1">
                <a:solidFill>
                  <a:srgbClr val="273239"/>
                </a:solidFill>
                <a:highlight>
                  <a:srgbClr val="FFFFFF"/>
                </a:highlight>
                <a:latin typeface="Times New Roman"/>
                <a:ea typeface="Times New Roman"/>
                <a:cs typeface="Times New Roman"/>
                <a:sym typeface="Times New Roman"/>
              </a:rPr>
              <a:t>            Bluetooth Protocol Stack</a:t>
            </a:r>
            <a:endParaRPr sz="1260" b="1">
              <a:solidFill>
                <a:srgbClr val="273239"/>
              </a:solidFill>
              <a:highlight>
                <a:srgbClr val="FFFFFF"/>
              </a:highlight>
              <a:latin typeface="Times New Roman"/>
              <a:ea typeface="Times New Roman"/>
              <a:cs typeface="Times New Roman"/>
              <a:sym typeface="Times New Roman"/>
            </a:endParaRPr>
          </a:p>
          <a:p>
            <a:pPr marL="0" lvl="0" indent="0" algn="l" rtl="0">
              <a:lnSpc>
                <a:spcPct val="96666"/>
              </a:lnSpc>
              <a:spcBef>
                <a:spcPts val="0"/>
              </a:spcBef>
              <a:spcAft>
                <a:spcPts val="0"/>
              </a:spcAft>
              <a:buSzPts val="770"/>
              <a:buNone/>
            </a:pPr>
            <a:endParaRPr sz="1260" b="1">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Radio (RF) Layer:</a:t>
            </a:r>
            <a:r>
              <a:rPr lang="en" sz="1145">
                <a:solidFill>
                  <a:srgbClr val="273239"/>
                </a:solidFill>
                <a:highlight>
                  <a:srgbClr val="FFFFFF"/>
                </a:highlight>
                <a:latin typeface="Times New Roman"/>
                <a:ea typeface="Times New Roman"/>
                <a:cs typeface="Times New Roman"/>
                <a:sym typeface="Times New Roman"/>
              </a:rPr>
              <a:t> It specifies the details of the air interface, including frequency, the use of frequency hopping and transmit power. It performs modulation/demodulation of the data into RF signals. It defines the physical characteristics of Bluetooth transceivers. It defines two types of physical links: connection-less and connection-oriented.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Baseband Link Layer:</a:t>
            </a:r>
            <a:r>
              <a:rPr lang="en" sz="1145">
                <a:solidFill>
                  <a:srgbClr val="273239"/>
                </a:solidFill>
                <a:highlight>
                  <a:srgbClr val="FFFFFF"/>
                </a:highlight>
                <a:latin typeface="Times New Roman"/>
                <a:ea typeface="Times New Roman"/>
                <a:cs typeface="Times New Roman"/>
                <a:sym typeface="Times New Roman"/>
              </a:rPr>
              <a:t> The baseband is the digital engine of a Bluetooth system and is equivalent to the MAC sublayer in LANs.  It performs the connection establishment within a piconet, addressing, packet format, timing and power control.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15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Link Manager Protocol Layer:</a:t>
            </a:r>
            <a:r>
              <a:rPr lang="en" sz="1145">
                <a:solidFill>
                  <a:srgbClr val="273239"/>
                </a:solidFill>
                <a:highlight>
                  <a:srgbClr val="FFFFFF"/>
                </a:highlight>
                <a:latin typeface="Times New Roman"/>
                <a:ea typeface="Times New Roman"/>
                <a:cs typeface="Times New Roman"/>
                <a:sym typeface="Times New Roman"/>
              </a:rPr>
              <a:t> It performs the management of the already established links which includes authentication and encryption processes. It is responsible for creating the links, monitoring their health, and terminating them gracefully upon command or failure.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Logical Link Control and Adaption (L2CAP) Protocol Layer:</a:t>
            </a:r>
            <a:r>
              <a:rPr lang="en" sz="1145">
                <a:solidFill>
                  <a:srgbClr val="273239"/>
                </a:solidFill>
                <a:highlight>
                  <a:srgbClr val="FFFFFF"/>
                </a:highlight>
                <a:latin typeface="Times New Roman"/>
                <a:ea typeface="Times New Roman"/>
                <a:cs typeface="Times New Roman"/>
                <a:sym typeface="Times New Roman"/>
              </a:rPr>
              <a:t> It is also known as the heart of the Bluetooth protocol stack. It allows the communication between upper and lower layers of the Bluetooth protocol stack. It packages the data packets received from upper layers into the form expected by lower layers. It also performs segmentation and </a:t>
            </a:r>
            <a:r>
              <a:rPr lang="en" sz="1145" u="sng">
                <a:solidFill>
                  <a:srgbClr val="357960"/>
                </a:solidFill>
                <a:highlight>
                  <a:srgbClr val="FFFFFF"/>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multiplexing</a:t>
            </a:r>
            <a:r>
              <a:rPr lang="en" sz="1145">
                <a:solidFill>
                  <a:srgbClr val="273239"/>
                </a:solidFill>
                <a:highlight>
                  <a:srgbClr val="FFFFFF"/>
                </a:highlight>
                <a:latin typeface="Times New Roman"/>
                <a:ea typeface="Times New Roman"/>
                <a:cs typeface="Times New Roman"/>
                <a:sym typeface="Times New Roman"/>
              </a:rPr>
              <a:t>.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just" rtl="0">
              <a:lnSpc>
                <a:spcPct val="138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Service Discovery Protocol (SDP) Layer:</a:t>
            </a:r>
            <a:r>
              <a:rPr lang="en" sz="1145">
                <a:solidFill>
                  <a:srgbClr val="273239"/>
                </a:solidFill>
                <a:highlight>
                  <a:srgbClr val="FFFFFF"/>
                </a:highlight>
                <a:latin typeface="Times New Roman"/>
                <a:ea typeface="Times New Roman"/>
                <a:cs typeface="Times New Roman"/>
                <a:sym typeface="Times New Roman"/>
              </a:rPr>
              <a:t> It is short for Service Discovery Protocol.It allows discovering the services available on another Bluetooth-enabled device.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RF Comm Layer:</a:t>
            </a:r>
            <a:r>
              <a:rPr lang="en" sz="1145">
                <a:solidFill>
                  <a:srgbClr val="273239"/>
                </a:solidFill>
                <a:highlight>
                  <a:srgbClr val="FFFFFF"/>
                </a:highlight>
                <a:latin typeface="Times New Roman"/>
                <a:ea typeface="Times New Roman"/>
                <a:cs typeface="Times New Roman"/>
                <a:sym typeface="Times New Roman"/>
              </a:rPr>
              <a:t> It is a cabal replacement protocol. It is short for Radio Frontend Component.It provides a serial interface with </a:t>
            </a:r>
            <a:r>
              <a:rPr lang="en" sz="1145" u="sng">
                <a:solidFill>
                  <a:srgbClr val="357960"/>
                </a:solidFill>
                <a:highlight>
                  <a:srgbClr val="FFFFFF"/>
                </a:highlight>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WAP </a:t>
            </a:r>
            <a:r>
              <a:rPr lang="en" sz="1145">
                <a:solidFill>
                  <a:srgbClr val="273239"/>
                </a:solidFill>
                <a:highlight>
                  <a:srgbClr val="FFFFFF"/>
                </a:highlight>
                <a:latin typeface="Times New Roman"/>
                <a:ea typeface="Times New Roman"/>
                <a:cs typeface="Times New Roman"/>
                <a:sym typeface="Times New Roman"/>
              </a:rPr>
              <a:t>and OBEX. It also provides emulation of serial ports over the logical link control and adaption protocol.</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OBEX:</a:t>
            </a:r>
            <a:r>
              <a:rPr lang="en" sz="1145">
                <a:solidFill>
                  <a:srgbClr val="273239"/>
                </a:solidFill>
                <a:highlight>
                  <a:srgbClr val="FFFFFF"/>
                </a:highlight>
                <a:latin typeface="Times New Roman"/>
                <a:ea typeface="Times New Roman"/>
                <a:cs typeface="Times New Roman"/>
                <a:sym typeface="Times New Roman"/>
              </a:rPr>
              <a:t> It is short for Object Exchange. It is a communication protocol to exchange objects between 2 devices.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38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WAP:</a:t>
            </a:r>
            <a:r>
              <a:rPr lang="en" sz="1145">
                <a:solidFill>
                  <a:srgbClr val="273239"/>
                </a:solidFill>
                <a:highlight>
                  <a:srgbClr val="FFFFFF"/>
                </a:highlight>
                <a:latin typeface="Times New Roman"/>
                <a:ea typeface="Times New Roman"/>
                <a:cs typeface="Times New Roman"/>
                <a:sym typeface="Times New Roman"/>
              </a:rPr>
              <a:t> It is short for Wireless Access Protocol. It is used for internet access.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TCS:</a:t>
            </a:r>
            <a:r>
              <a:rPr lang="en" sz="1145">
                <a:solidFill>
                  <a:srgbClr val="273239"/>
                </a:solidFill>
                <a:highlight>
                  <a:srgbClr val="FFFFFF"/>
                </a:highlight>
                <a:latin typeface="Times New Roman"/>
                <a:ea typeface="Times New Roman"/>
                <a:cs typeface="Times New Roman"/>
                <a:sym typeface="Times New Roman"/>
              </a:rPr>
              <a:t> It is short for Telephony Control Protocol. It provides telephony service. </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00000"/>
              </a:lnSpc>
              <a:spcBef>
                <a:spcPts val="0"/>
              </a:spcBef>
              <a:spcAft>
                <a:spcPts val="0"/>
              </a:spcAft>
              <a:buClr>
                <a:srgbClr val="273239"/>
              </a:buClr>
              <a:buSzPts val="1145"/>
              <a:buFont typeface="Times New Roman"/>
              <a:buChar char="●"/>
            </a:pPr>
            <a:r>
              <a:rPr lang="en" sz="1145">
                <a:solidFill>
                  <a:srgbClr val="273239"/>
                </a:solidFill>
                <a:highlight>
                  <a:srgbClr val="FFFFFF"/>
                </a:highlight>
                <a:latin typeface="Times New Roman"/>
                <a:ea typeface="Times New Roman"/>
                <a:cs typeface="Times New Roman"/>
                <a:sym typeface="Times New Roman"/>
              </a:rPr>
              <a:t>The basic function of this layer is call control (setup &amp; release) and group management for the gateway serving multiple devices.</a:t>
            </a:r>
            <a:endParaRPr sz="1145">
              <a:solidFill>
                <a:srgbClr val="273239"/>
              </a:solidFill>
              <a:highlight>
                <a:srgbClr val="FFFFFF"/>
              </a:highlight>
              <a:latin typeface="Times New Roman"/>
              <a:ea typeface="Times New Roman"/>
              <a:cs typeface="Times New Roman"/>
              <a:sym typeface="Times New Roman"/>
            </a:endParaRPr>
          </a:p>
          <a:p>
            <a:pPr marL="685800" lvl="0" indent="-301307" algn="l" rtl="0">
              <a:lnSpc>
                <a:spcPct val="138000"/>
              </a:lnSpc>
              <a:spcBef>
                <a:spcPts val="0"/>
              </a:spcBef>
              <a:spcAft>
                <a:spcPts val="0"/>
              </a:spcAft>
              <a:buClr>
                <a:srgbClr val="273239"/>
              </a:buClr>
              <a:buSzPts val="1145"/>
              <a:buChar char="●"/>
            </a:pPr>
            <a:r>
              <a:rPr lang="en" sz="1145" b="1">
                <a:solidFill>
                  <a:srgbClr val="273239"/>
                </a:solidFill>
                <a:highlight>
                  <a:srgbClr val="FFFFFF"/>
                </a:highlight>
                <a:latin typeface="Times New Roman"/>
                <a:ea typeface="Times New Roman"/>
                <a:cs typeface="Times New Roman"/>
                <a:sym typeface="Times New Roman"/>
              </a:rPr>
              <a:t>Application Layer:</a:t>
            </a:r>
            <a:r>
              <a:rPr lang="en" sz="1145">
                <a:solidFill>
                  <a:srgbClr val="273239"/>
                </a:solidFill>
                <a:highlight>
                  <a:srgbClr val="FFFFFF"/>
                </a:highlight>
                <a:latin typeface="Times New Roman"/>
                <a:ea typeface="Times New Roman"/>
                <a:cs typeface="Times New Roman"/>
                <a:sym typeface="Times New Roman"/>
              </a:rPr>
              <a:t> It enables the user to interact with the application.</a:t>
            </a:r>
            <a:endParaRPr sz="1110">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9"/>
          <p:cNvPicPr preferRelativeResize="0"/>
          <p:nvPr/>
        </p:nvPicPr>
        <p:blipFill>
          <a:blip r:embed="rId3">
            <a:alphaModFix/>
          </a:blip>
          <a:stretch>
            <a:fillRect/>
          </a:stretch>
        </p:blipFill>
        <p:spPr>
          <a:xfrm>
            <a:off x="1077575" y="283825"/>
            <a:ext cx="7414001" cy="4675025"/>
          </a:xfrm>
          <a:prstGeom prst="rect">
            <a:avLst/>
          </a:prstGeom>
          <a:noFill/>
          <a:ln>
            <a:noFill/>
          </a:ln>
        </p:spPr>
      </p:pic>
      <p:sp>
        <p:nvSpPr>
          <p:cNvPr id="151" name="Google Shape;151;p29"/>
          <p:cNvSpPr txBox="1"/>
          <p:nvPr/>
        </p:nvSpPr>
        <p:spPr>
          <a:xfrm>
            <a:off x="6739950" y="4539300"/>
            <a:ext cx="2290500" cy="47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n" sz="945" b="1">
                <a:solidFill>
                  <a:srgbClr val="273239"/>
                </a:solidFill>
                <a:highlight>
                  <a:schemeClr val="lt1"/>
                </a:highlight>
                <a:latin typeface="Times New Roman"/>
                <a:ea typeface="Times New Roman"/>
                <a:cs typeface="Times New Roman"/>
                <a:sym typeface="Times New Roman"/>
              </a:rPr>
              <a:t>modulation/demodulation	 connectionless and connection-oriented. </a:t>
            </a:r>
            <a:endParaRPr sz="945" b="1">
              <a:solidFill>
                <a:srgbClr val="273239"/>
              </a:solidFill>
              <a:highlight>
                <a:schemeClr val="lt1"/>
              </a:highlight>
              <a:latin typeface="Times New Roman"/>
              <a:ea typeface="Times New Roman"/>
              <a:cs typeface="Times New Roman"/>
              <a:sym typeface="Times New Roman"/>
            </a:endParaRPr>
          </a:p>
        </p:txBody>
      </p:sp>
      <p:sp>
        <p:nvSpPr>
          <p:cNvPr id="152" name="Google Shape;152;p29"/>
          <p:cNvSpPr txBox="1"/>
          <p:nvPr/>
        </p:nvSpPr>
        <p:spPr>
          <a:xfrm>
            <a:off x="-24875" y="3614875"/>
            <a:ext cx="2350200" cy="621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1800"/>
              </a:spcAft>
              <a:buNone/>
            </a:pPr>
            <a:r>
              <a:rPr lang="en" sz="945" b="1">
                <a:solidFill>
                  <a:srgbClr val="273239"/>
                </a:solidFill>
                <a:highlight>
                  <a:schemeClr val="lt1"/>
                </a:highlight>
                <a:latin typeface="Times New Roman"/>
                <a:ea typeface="Times New Roman"/>
                <a:cs typeface="Times New Roman"/>
                <a:sym typeface="Times New Roman"/>
              </a:rPr>
              <a:t>connection establishment within a piconet, addressing, packet format, timing and power control. </a:t>
            </a:r>
            <a:endParaRPr sz="1200" b="1"/>
          </a:p>
        </p:txBody>
      </p:sp>
      <p:sp>
        <p:nvSpPr>
          <p:cNvPr id="153" name="Google Shape;153;p29"/>
          <p:cNvSpPr txBox="1"/>
          <p:nvPr/>
        </p:nvSpPr>
        <p:spPr>
          <a:xfrm>
            <a:off x="7349200" y="3068425"/>
            <a:ext cx="1919100" cy="46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800"/>
              </a:spcAft>
              <a:buNone/>
            </a:pPr>
            <a:r>
              <a:rPr lang="en" sz="845" b="1">
                <a:solidFill>
                  <a:srgbClr val="273239"/>
                </a:solidFill>
                <a:highlight>
                  <a:schemeClr val="lt1"/>
                </a:highlight>
                <a:latin typeface="Times New Roman"/>
                <a:ea typeface="Times New Roman"/>
                <a:cs typeface="Times New Roman"/>
                <a:sym typeface="Times New Roman"/>
              </a:rPr>
              <a:t>authentication and encryption processes. </a:t>
            </a:r>
            <a:endParaRPr sz="1100" b="1"/>
          </a:p>
        </p:txBody>
      </p:sp>
      <p:sp>
        <p:nvSpPr>
          <p:cNvPr id="154" name="Google Shape;154;p29"/>
          <p:cNvSpPr txBox="1"/>
          <p:nvPr/>
        </p:nvSpPr>
        <p:spPr>
          <a:xfrm>
            <a:off x="64725" y="2472150"/>
            <a:ext cx="2106300" cy="47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n" sz="945" b="1">
                <a:solidFill>
                  <a:srgbClr val="273239"/>
                </a:solidFill>
                <a:highlight>
                  <a:schemeClr val="lt1"/>
                </a:highlight>
                <a:latin typeface="Times New Roman"/>
                <a:ea typeface="Times New Roman"/>
                <a:cs typeface="Times New Roman"/>
                <a:sym typeface="Times New Roman"/>
              </a:rPr>
              <a:t>heart of Stack			segmentation and multiplexing. </a:t>
            </a:r>
            <a:endParaRPr sz="1145">
              <a:solidFill>
                <a:srgbClr val="273239"/>
              </a:solidFill>
              <a:highlight>
                <a:schemeClr val="lt1"/>
              </a:highlight>
              <a:latin typeface="Times New Roman"/>
              <a:ea typeface="Times New Roman"/>
              <a:cs typeface="Times New Roman"/>
              <a:sym typeface="Times New Roman"/>
            </a:endParaRPr>
          </a:p>
        </p:txBody>
      </p:sp>
      <p:sp>
        <p:nvSpPr>
          <p:cNvPr id="155" name="Google Shape;155;p29"/>
          <p:cNvSpPr txBox="1"/>
          <p:nvPr/>
        </p:nvSpPr>
        <p:spPr>
          <a:xfrm>
            <a:off x="6482900" y="1259725"/>
            <a:ext cx="2661000" cy="506400"/>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0"/>
              </a:spcBef>
              <a:spcAft>
                <a:spcPts val="1800"/>
              </a:spcAft>
              <a:buNone/>
            </a:pPr>
            <a:r>
              <a:rPr lang="en" sz="945" b="1">
                <a:solidFill>
                  <a:srgbClr val="273239"/>
                </a:solidFill>
                <a:highlight>
                  <a:schemeClr val="lt1"/>
                </a:highlight>
                <a:latin typeface="Times New Roman"/>
                <a:ea typeface="Times New Roman"/>
                <a:cs typeface="Times New Roman"/>
                <a:sym typeface="Times New Roman"/>
              </a:rPr>
              <a:t>allows discovering the services available on another Bluetooth-enabled device.</a:t>
            </a:r>
            <a:r>
              <a:rPr lang="en" sz="1145">
                <a:solidFill>
                  <a:srgbClr val="273239"/>
                </a:solidFill>
                <a:highlight>
                  <a:schemeClr val="lt1"/>
                </a:highlight>
                <a:latin typeface="Times New Roman"/>
                <a:ea typeface="Times New Roman"/>
                <a:cs typeface="Times New Roman"/>
                <a:sym typeface="Times New Roman"/>
              </a:rPr>
              <a:t> </a:t>
            </a:r>
            <a:endParaRPr/>
          </a:p>
        </p:txBody>
      </p:sp>
      <p:sp>
        <p:nvSpPr>
          <p:cNvPr id="156" name="Google Shape;156;p29"/>
          <p:cNvSpPr txBox="1"/>
          <p:nvPr/>
        </p:nvSpPr>
        <p:spPr>
          <a:xfrm>
            <a:off x="1966050" y="1779175"/>
            <a:ext cx="1503600" cy="314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1800"/>
              </a:spcAft>
              <a:buNone/>
            </a:pPr>
            <a:r>
              <a:rPr lang="en" sz="845" b="1">
                <a:solidFill>
                  <a:srgbClr val="273239"/>
                </a:solidFill>
                <a:highlight>
                  <a:schemeClr val="lt1"/>
                </a:highlight>
                <a:latin typeface="Times New Roman"/>
                <a:ea typeface="Times New Roman"/>
                <a:cs typeface="Times New Roman"/>
                <a:sym typeface="Times New Roman"/>
              </a:rPr>
              <a:t>provides a serial interface</a:t>
            </a:r>
            <a:endParaRPr sz="1100" b="1"/>
          </a:p>
        </p:txBody>
      </p:sp>
      <p:sp>
        <p:nvSpPr>
          <p:cNvPr id="157" name="Google Shape;157;p29"/>
          <p:cNvSpPr txBox="1"/>
          <p:nvPr/>
        </p:nvSpPr>
        <p:spPr>
          <a:xfrm>
            <a:off x="2554325" y="956000"/>
            <a:ext cx="1085400" cy="44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n" sz="845" b="1">
                <a:solidFill>
                  <a:srgbClr val="273239"/>
                </a:solidFill>
                <a:highlight>
                  <a:schemeClr val="lt1"/>
                </a:highlight>
                <a:latin typeface="Times New Roman"/>
                <a:ea typeface="Times New Roman"/>
                <a:cs typeface="Times New Roman"/>
                <a:sym typeface="Times New Roman"/>
              </a:rPr>
              <a:t>exchange objects between 2 devices. </a:t>
            </a:r>
            <a:endParaRPr sz="1100" b="1"/>
          </a:p>
        </p:txBody>
      </p:sp>
      <p:sp>
        <p:nvSpPr>
          <p:cNvPr id="158" name="Google Shape;158;p29"/>
          <p:cNvSpPr txBox="1"/>
          <p:nvPr/>
        </p:nvSpPr>
        <p:spPr>
          <a:xfrm>
            <a:off x="5671300" y="985875"/>
            <a:ext cx="1677900" cy="330000"/>
          </a:xfrm>
          <a:prstGeom prst="rect">
            <a:avLst/>
          </a:prstGeom>
          <a:noFill/>
          <a:ln>
            <a:noFill/>
          </a:ln>
        </p:spPr>
        <p:txBody>
          <a:bodyPr spcFirstLastPara="1" wrap="square" lIns="91425" tIns="91425" rIns="91425" bIns="91425" anchor="t" anchorCtr="0">
            <a:spAutoFit/>
          </a:bodyPr>
          <a:lstStyle/>
          <a:p>
            <a:pPr marL="0" lvl="0" indent="0" algn="l" rtl="0">
              <a:lnSpc>
                <a:spcPct val="138000"/>
              </a:lnSpc>
              <a:spcBef>
                <a:spcPts val="0"/>
              </a:spcBef>
              <a:spcAft>
                <a:spcPts val="1800"/>
              </a:spcAft>
              <a:buNone/>
            </a:pPr>
            <a:r>
              <a:rPr lang="en" sz="945" b="1">
                <a:solidFill>
                  <a:srgbClr val="273239"/>
                </a:solidFill>
                <a:highlight>
                  <a:schemeClr val="lt1"/>
                </a:highlight>
                <a:latin typeface="Times New Roman"/>
                <a:ea typeface="Times New Roman"/>
                <a:cs typeface="Times New Roman"/>
                <a:sym typeface="Times New Roman"/>
              </a:rPr>
              <a:t>used for internet access. </a:t>
            </a:r>
            <a:endParaRPr sz="1200" b="1"/>
          </a:p>
        </p:txBody>
      </p:sp>
      <p:sp>
        <p:nvSpPr>
          <p:cNvPr id="159" name="Google Shape;159;p29"/>
          <p:cNvSpPr txBox="1"/>
          <p:nvPr/>
        </p:nvSpPr>
        <p:spPr>
          <a:xfrm>
            <a:off x="7294500" y="689700"/>
            <a:ext cx="1887000" cy="345600"/>
          </a:xfrm>
          <a:prstGeom prst="rect">
            <a:avLst/>
          </a:prstGeom>
          <a:noFill/>
          <a:ln>
            <a:noFill/>
          </a:ln>
        </p:spPr>
        <p:txBody>
          <a:bodyPr spcFirstLastPara="1" wrap="square" lIns="91425" tIns="91425" rIns="91425" bIns="91425" anchor="t" anchorCtr="0">
            <a:spAutoFit/>
          </a:bodyPr>
          <a:lstStyle/>
          <a:p>
            <a:pPr marL="0" lvl="0" indent="0" algn="l" rtl="0">
              <a:lnSpc>
                <a:spcPct val="138000"/>
              </a:lnSpc>
              <a:spcBef>
                <a:spcPts val="0"/>
              </a:spcBef>
              <a:spcAft>
                <a:spcPts val="1800"/>
              </a:spcAft>
              <a:buNone/>
            </a:pPr>
            <a:r>
              <a:rPr lang="en" sz="1045" b="1">
                <a:solidFill>
                  <a:srgbClr val="273239"/>
                </a:solidFill>
                <a:highlight>
                  <a:schemeClr val="lt1"/>
                </a:highlight>
                <a:latin typeface="Times New Roman"/>
                <a:ea typeface="Times New Roman"/>
                <a:cs typeface="Times New Roman"/>
                <a:sym typeface="Times New Roman"/>
              </a:rPr>
              <a:t>Service Discovery Protocol </a:t>
            </a:r>
            <a:endParaRPr sz="1300"/>
          </a:p>
        </p:txBody>
      </p:sp>
      <p:sp>
        <p:nvSpPr>
          <p:cNvPr id="160" name="Google Shape;160;p29"/>
          <p:cNvSpPr txBox="1"/>
          <p:nvPr/>
        </p:nvSpPr>
        <p:spPr>
          <a:xfrm>
            <a:off x="4687850" y="689700"/>
            <a:ext cx="1859700" cy="345600"/>
          </a:xfrm>
          <a:prstGeom prst="rect">
            <a:avLst/>
          </a:prstGeom>
          <a:noFill/>
          <a:ln>
            <a:noFill/>
          </a:ln>
        </p:spPr>
        <p:txBody>
          <a:bodyPr spcFirstLastPara="1" wrap="square" lIns="91425" tIns="91425" rIns="91425" bIns="91425" anchor="t" anchorCtr="0">
            <a:spAutoFit/>
          </a:bodyPr>
          <a:lstStyle/>
          <a:p>
            <a:pPr marL="0" lvl="0" indent="0" algn="l" rtl="0">
              <a:lnSpc>
                <a:spcPct val="138000"/>
              </a:lnSpc>
              <a:spcBef>
                <a:spcPts val="0"/>
              </a:spcBef>
              <a:spcAft>
                <a:spcPts val="1800"/>
              </a:spcAft>
              <a:buNone/>
            </a:pPr>
            <a:r>
              <a:rPr lang="en" sz="1045" b="1">
                <a:solidFill>
                  <a:srgbClr val="273239"/>
                </a:solidFill>
                <a:highlight>
                  <a:schemeClr val="lt1"/>
                </a:highlight>
                <a:latin typeface="Times New Roman"/>
                <a:ea typeface="Times New Roman"/>
                <a:cs typeface="Times New Roman"/>
                <a:sym typeface="Times New Roman"/>
              </a:rPr>
              <a:t>Wireless Access Protocol.</a:t>
            </a:r>
            <a:endParaRPr sz="1300" b="1"/>
          </a:p>
        </p:txBody>
      </p:sp>
      <p:sp>
        <p:nvSpPr>
          <p:cNvPr id="161" name="Google Shape;161;p29"/>
          <p:cNvSpPr txBox="1"/>
          <p:nvPr/>
        </p:nvSpPr>
        <p:spPr>
          <a:xfrm>
            <a:off x="3400800" y="689700"/>
            <a:ext cx="1359300" cy="34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n" sz="1045" b="1">
                <a:solidFill>
                  <a:srgbClr val="273239"/>
                </a:solidFill>
                <a:highlight>
                  <a:schemeClr val="lt1"/>
                </a:highlight>
                <a:latin typeface="Times New Roman"/>
                <a:ea typeface="Times New Roman"/>
                <a:cs typeface="Times New Roman"/>
                <a:sym typeface="Times New Roman"/>
              </a:rPr>
              <a:t>Object Exchange. </a:t>
            </a:r>
            <a:endParaRPr sz="1300" b="1"/>
          </a:p>
        </p:txBody>
      </p:sp>
      <p:sp>
        <p:nvSpPr>
          <p:cNvPr id="162" name="Google Shape;162;p29"/>
          <p:cNvSpPr txBox="1"/>
          <p:nvPr/>
        </p:nvSpPr>
        <p:spPr>
          <a:xfrm>
            <a:off x="253925" y="668575"/>
            <a:ext cx="1859700" cy="34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n" sz="1045" b="1">
                <a:solidFill>
                  <a:srgbClr val="273239"/>
                </a:solidFill>
                <a:highlight>
                  <a:schemeClr val="lt1"/>
                </a:highlight>
                <a:latin typeface="Times New Roman"/>
                <a:ea typeface="Times New Roman"/>
                <a:cs typeface="Times New Roman"/>
                <a:sym typeface="Times New Roman"/>
              </a:rPr>
              <a:t>Telephony Control Protocol. </a:t>
            </a:r>
            <a:endParaRPr sz="1045" b="1">
              <a:solidFill>
                <a:srgbClr val="273239"/>
              </a:solidFill>
              <a:highlight>
                <a:schemeClr val="lt1"/>
              </a:highlight>
              <a:latin typeface="Times New Roman"/>
              <a:ea typeface="Times New Roman"/>
              <a:cs typeface="Times New Roman"/>
              <a:sym typeface="Times New Roman"/>
            </a:endParaRPr>
          </a:p>
        </p:txBody>
      </p:sp>
      <p:sp>
        <p:nvSpPr>
          <p:cNvPr id="163" name="Google Shape;163;p29"/>
          <p:cNvSpPr txBox="1"/>
          <p:nvPr/>
        </p:nvSpPr>
        <p:spPr>
          <a:xfrm>
            <a:off x="-81075" y="1315875"/>
            <a:ext cx="2290500" cy="31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n" sz="845" b="1">
                <a:solidFill>
                  <a:srgbClr val="273239"/>
                </a:solidFill>
                <a:highlight>
                  <a:schemeClr val="lt1"/>
                </a:highlight>
                <a:latin typeface="Times New Roman"/>
                <a:ea typeface="Times New Roman"/>
                <a:cs typeface="Times New Roman"/>
                <a:sym typeface="Times New Roman"/>
              </a:rPr>
              <a:t>provides telephony service. </a:t>
            </a:r>
            <a:endParaRPr sz="1100" b="1"/>
          </a:p>
        </p:txBody>
      </p:sp>
      <p:sp>
        <p:nvSpPr>
          <p:cNvPr id="164" name="Google Shape;164;p29"/>
          <p:cNvSpPr txBox="1"/>
          <p:nvPr/>
        </p:nvSpPr>
        <p:spPr>
          <a:xfrm>
            <a:off x="5138550" y="283825"/>
            <a:ext cx="3485400" cy="345600"/>
          </a:xfrm>
          <a:prstGeom prst="rect">
            <a:avLst/>
          </a:prstGeom>
          <a:noFill/>
          <a:ln>
            <a:noFill/>
          </a:ln>
        </p:spPr>
        <p:txBody>
          <a:bodyPr spcFirstLastPara="1" wrap="square" lIns="91425" tIns="91425" rIns="91425" bIns="91425" anchor="t" anchorCtr="0">
            <a:spAutoFit/>
          </a:bodyPr>
          <a:lstStyle/>
          <a:p>
            <a:pPr marL="0" lvl="0" indent="0" algn="l" rtl="0">
              <a:lnSpc>
                <a:spcPct val="138000"/>
              </a:lnSpc>
              <a:spcBef>
                <a:spcPts val="0"/>
              </a:spcBef>
              <a:spcAft>
                <a:spcPts val="1800"/>
              </a:spcAft>
              <a:buNone/>
            </a:pPr>
            <a:r>
              <a:rPr lang="en" sz="1045" b="1">
                <a:solidFill>
                  <a:srgbClr val="273239"/>
                </a:solidFill>
                <a:highlight>
                  <a:schemeClr val="lt1"/>
                </a:highlight>
                <a:latin typeface="Times New Roman"/>
                <a:ea typeface="Times New Roman"/>
                <a:cs typeface="Times New Roman"/>
                <a:sym typeface="Times New Roman"/>
              </a:rPr>
              <a:t>It enables the user to interact with the application.</a:t>
            </a:r>
            <a:endParaRPr sz="1300" b="1"/>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0"/>
          <p:cNvSpPr txBox="1">
            <a:spLocks noGrp="1"/>
          </p:cNvSpPr>
          <p:nvPr>
            <p:ph type="body" idx="1"/>
          </p:nvPr>
        </p:nvSpPr>
        <p:spPr>
          <a:xfrm>
            <a:off x="199175" y="74425"/>
            <a:ext cx="8944800" cy="5039400"/>
          </a:xfrm>
          <a:prstGeom prst="rect">
            <a:avLst/>
          </a:prstGeom>
        </p:spPr>
        <p:txBody>
          <a:bodyPr spcFirstLastPara="1" wrap="square" lIns="91425" tIns="91425" rIns="91425" bIns="91425" anchor="t" anchorCtr="0">
            <a:noAutofit/>
          </a:bodyPr>
          <a:lstStyle/>
          <a:p>
            <a:pPr marL="0" lvl="0" indent="0" algn="l" rtl="0">
              <a:lnSpc>
                <a:spcPct val="106666"/>
              </a:lnSpc>
              <a:spcBef>
                <a:spcPts val="0"/>
              </a:spcBef>
              <a:spcAft>
                <a:spcPts val="0"/>
              </a:spcAft>
              <a:buSzPts val="523"/>
              <a:buNone/>
            </a:pPr>
            <a:r>
              <a:rPr lang="en" sz="1100" b="1">
                <a:solidFill>
                  <a:srgbClr val="273239"/>
                </a:solidFill>
                <a:highlight>
                  <a:srgbClr val="FFFFFF"/>
                </a:highlight>
                <a:latin typeface="Times New Roman"/>
                <a:ea typeface="Times New Roman"/>
                <a:cs typeface="Times New Roman"/>
                <a:sym typeface="Times New Roman"/>
              </a:rPr>
              <a:t>Types of Bluetooth</a:t>
            </a:r>
            <a:endParaRPr sz="1100" b="1">
              <a:solidFill>
                <a:srgbClr val="273239"/>
              </a:solidFill>
              <a:highlight>
                <a:srgbClr val="FFFFFF"/>
              </a:highlight>
              <a:latin typeface="Times New Roman"/>
              <a:ea typeface="Times New Roman"/>
              <a:cs typeface="Times New Roman"/>
              <a:sym typeface="Times New Roman"/>
            </a:endParaRPr>
          </a:p>
          <a:p>
            <a:pPr marL="0" lvl="0" indent="0" algn="just" rtl="0">
              <a:lnSpc>
                <a:spcPct val="110000"/>
              </a:lnSpc>
              <a:spcBef>
                <a:spcPts val="0"/>
              </a:spcBef>
              <a:spcAft>
                <a:spcPts val="0"/>
              </a:spcAft>
              <a:buSzPts val="523"/>
              <a:buNone/>
            </a:pPr>
            <a:r>
              <a:rPr lang="en" sz="1100">
                <a:solidFill>
                  <a:srgbClr val="273239"/>
                </a:solidFill>
                <a:highlight>
                  <a:srgbClr val="FFFFFF"/>
                </a:highlight>
                <a:latin typeface="Times New Roman"/>
                <a:ea typeface="Times New Roman"/>
                <a:cs typeface="Times New Roman"/>
                <a:sym typeface="Times New Roman"/>
              </a:rPr>
              <a:t>Various types of Bluetooth are available in the market nowadays. Let us look at them.</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800"/>
              </a:spcBef>
              <a:spcAft>
                <a:spcPts val="0"/>
              </a:spcAft>
              <a:buClr>
                <a:srgbClr val="273239"/>
              </a:buClr>
              <a:buSzPts val="1100"/>
              <a:buChar char="●"/>
            </a:pPr>
            <a:r>
              <a:rPr lang="en" sz="1100" b="1">
                <a:solidFill>
                  <a:srgbClr val="273239"/>
                </a:solidFill>
                <a:highlight>
                  <a:srgbClr val="FFFFFF"/>
                </a:highlight>
                <a:latin typeface="Times New Roman"/>
                <a:ea typeface="Times New Roman"/>
                <a:cs typeface="Times New Roman"/>
                <a:sym typeface="Times New Roman"/>
              </a:rPr>
              <a:t>In-Car Headset: </a:t>
            </a:r>
            <a:r>
              <a:rPr lang="en" sz="1100">
                <a:solidFill>
                  <a:srgbClr val="273239"/>
                </a:solidFill>
                <a:highlight>
                  <a:srgbClr val="FFFFFF"/>
                </a:highlight>
                <a:latin typeface="Times New Roman"/>
                <a:ea typeface="Times New Roman"/>
                <a:cs typeface="Times New Roman"/>
                <a:sym typeface="Times New Roman"/>
              </a:rPr>
              <a:t>One can make calls from the car speaker system without the use of mobile phones.</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Char char="●"/>
            </a:pPr>
            <a:r>
              <a:rPr lang="en" sz="1100" b="1">
                <a:solidFill>
                  <a:srgbClr val="273239"/>
                </a:solidFill>
                <a:highlight>
                  <a:srgbClr val="FFFFFF"/>
                </a:highlight>
                <a:latin typeface="Times New Roman"/>
                <a:ea typeface="Times New Roman"/>
                <a:cs typeface="Times New Roman"/>
                <a:sym typeface="Times New Roman"/>
              </a:rPr>
              <a:t>Stereo Headset:</a:t>
            </a:r>
            <a:r>
              <a:rPr lang="en" sz="1100">
                <a:solidFill>
                  <a:srgbClr val="273239"/>
                </a:solidFill>
                <a:highlight>
                  <a:srgbClr val="FFFFFF"/>
                </a:highlight>
                <a:latin typeface="Times New Roman"/>
                <a:ea typeface="Times New Roman"/>
                <a:cs typeface="Times New Roman"/>
                <a:sym typeface="Times New Roman"/>
              </a:rPr>
              <a:t> To listen to music in car or in music players at home.</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Char char="●"/>
            </a:pPr>
            <a:r>
              <a:rPr lang="en" sz="1100" b="1">
                <a:solidFill>
                  <a:srgbClr val="273239"/>
                </a:solidFill>
                <a:highlight>
                  <a:srgbClr val="FFFFFF"/>
                </a:highlight>
                <a:latin typeface="Times New Roman"/>
                <a:ea typeface="Times New Roman"/>
                <a:cs typeface="Times New Roman"/>
                <a:sym typeface="Times New Roman"/>
              </a:rPr>
              <a:t>Webcam:</a:t>
            </a:r>
            <a:r>
              <a:rPr lang="en" sz="1100">
                <a:solidFill>
                  <a:srgbClr val="273239"/>
                </a:solidFill>
                <a:highlight>
                  <a:srgbClr val="FFFFFF"/>
                </a:highlight>
                <a:latin typeface="Times New Roman"/>
                <a:ea typeface="Times New Roman"/>
                <a:cs typeface="Times New Roman"/>
                <a:sym typeface="Times New Roman"/>
              </a:rPr>
              <a:t> One can link the camera with the help of Bluetooth with their laptop or phone.</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Char char="●"/>
            </a:pPr>
            <a:r>
              <a:rPr lang="en" sz="1100" b="1">
                <a:solidFill>
                  <a:srgbClr val="273239"/>
                </a:solidFill>
                <a:highlight>
                  <a:srgbClr val="FFFFFF"/>
                </a:highlight>
                <a:latin typeface="Times New Roman"/>
                <a:ea typeface="Times New Roman"/>
                <a:cs typeface="Times New Roman"/>
                <a:sym typeface="Times New Roman"/>
              </a:rPr>
              <a:t>Bluetooth-Equipped Printer:</a:t>
            </a:r>
            <a:r>
              <a:rPr lang="en" sz="1100">
                <a:solidFill>
                  <a:srgbClr val="273239"/>
                </a:solidFill>
                <a:highlight>
                  <a:srgbClr val="FFFFFF"/>
                </a:highlight>
                <a:latin typeface="Times New Roman"/>
                <a:ea typeface="Times New Roman"/>
                <a:cs typeface="Times New Roman"/>
                <a:sym typeface="Times New Roman"/>
              </a:rPr>
              <a:t> The printer can be used when connected via Bluetooth with mobile phone or laptop.</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10000"/>
              </a:lnSpc>
              <a:spcBef>
                <a:spcPts val="0"/>
              </a:spcBef>
              <a:spcAft>
                <a:spcPts val="0"/>
              </a:spcAft>
              <a:buClr>
                <a:srgbClr val="273239"/>
              </a:buClr>
              <a:buSzPts val="1100"/>
              <a:buChar char="●"/>
            </a:pPr>
            <a:r>
              <a:rPr lang="en" sz="1100" b="1">
                <a:solidFill>
                  <a:srgbClr val="273239"/>
                </a:solidFill>
                <a:highlight>
                  <a:srgbClr val="FFFFFF"/>
                </a:highlight>
                <a:latin typeface="Times New Roman"/>
                <a:ea typeface="Times New Roman"/>
                <a:cs typeface="Times New Roman"/>
                <a:sym typeface="Times New Roman"/>
              </a:rPr>
              <a:t>Bluetooth Global Positioning System (GPS):</a:t>
            </a:r>
            <a:r>
              <a:rPr lang="en" sz="1100">
                <a:solidFill>
                  <a:srgbClr val="273239"/>
                </a:solidFill>
                <a:highlight>
                  <a:srgbClr val="FFFFFF"/>
                </a:highlight>
                <a:latin typeface="Times New Roman"/>
                <a:ea typeface="Times New Roman"/>
                <a:cs typeface="Times New Roman"/>
                <a:sym typeface="Times New Roman"/>
              </a:rPr>
              <a:t> To use Global Positioning System (GPS) in cars, one can connect their phone with car system via Bluetooth to fetch the directions of the address.</a:t>
            </a:r>
            <a:endParaRPr sz="1100">
              <a:solidFill>
                <a:srgbClr val="273239"/>
              </a:solidFill>
              <a:highlight>
                <a:srgbClr val="FFFFFF"/>
              </a:highlight>
              <a:latin typeface="Times New Roman"/>
              <a:ea typeface="Times New Roman"/>
              <a:cs typeface="Times New Roman"/>
              <a:sym typeface="Times New Roman"/>
            </a:endParaRPr>
          </a:p>
          <a:p>
            <a:pPr marL="0" lvl="0" indent="0" algn="l" rtl="0">
              <a:lnSpc>
                <a:spcPct val="106666"/>
              </a:lnSpc>
              <a:spcBef>
                <a:spcPts val="0"/>
              </a:spcBef>
              <a:spcAft>
                <a:spcPts val="0"/>
              </a:spcAft>
              <a:buSzPts val="523"/>
              <a:buNone/>
            </a:pPr>
            <a:r>
              <a:rPr lang="en" sz="1100" b="1">
                <a:solidFill>
                  <a:srgbClr val="273239"/>
                </a:solidFill>
                <a:highlight>
                  <a:srgbClr val="FFFFFF"/>
                </a:highlight>
                <a:latin typeface="Times New Roman"/>
                <a:ea typeface="Times New Roman"/>
                <a:cs typeface="Times New Roman"/>
                <a:sym typeface="Times New Roman"/>
              </a:rPr>
              <a:t>Applications of Bluetooth</a:t>
            </a:r>
            <a:endParaRPr sz="1100" b="1">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10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can be used in wireless headsets, wireless PANs, and LANs.</a:t>
            </a:r>
            <a:endParaRPr sz="1100" u="sng">
              <a:solidFill>
                <a:srgbClr val="357960"/>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can connect a digital camera wireless to a mobile phone.</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can transfer data in terms of videos, songs, photographs, or files from one cell phone to another cell phone or computer.</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is used in the sectors of Medical healthcare, sports and fitness, Military.</a:t>
            </a:r>
            <a:endParaRPr sz="1100">
              <a:solidFill>
                <a:srgbClr val="273239"/>
              </a:solidFill>
              <a:highlight>
                <a:srgbClr val="FFFFFF"/>
              </a:highlight>
              <a:latin typeface="Times New Roman"/>
              <a:ea typeface="Times New Roman"/>
              <a:cs typeface="Times New Roman"/>
              <a:sym typeface="Times New Roman"/>
            </a:endParaRPr>
          </a:p>
          <a:p>
            <a:pPr marL="0" lvl="0" indent="0" algn="l" rtl="0">
              <a:lnSpc>
                <a:spcPct val="106666"/>
              </a:lnSpc>
              <a:spcBef>
                <a:spcPts val="0"/>
              </a:spcBef>
              <a:spcAft>
                <a:spcPts val="0"/>
              </a:spcAft>
              <a:buSzPts val="523"/>
              <a:buNone/>
            </a:pPr>
            <a:r>
              <a:rPr lang="en" sz="1100" b="1">
                <a:solidFill>
                  <a:srgbClr val="273239"/>
                </a:solidFill>
                <a:highlight>
                  <a:srgbClr val="FFFFFF"/>
                </a:highlight>
                <a:latin typeface="Times New Roman"/>
                <a:ea typeface="Times New Roman"/>
                <a:cs typeface="Times New Roman"/>
                <a:sym typeface="Times New Roman"/>
              </a:rPr>
              <a:t>Advantages</a:t>
            </a:r>
            <a:endParaRPr sz="1100" b="1">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is a low-cost and easy-to-use device.</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can also penetrate through walls.</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10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creates an Ad-hoc connection immediately without any wires.</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is used for voice and data transfer.</a:t>
            </a:r>
            <a:endParaRPr sz="1100">
              <a:solidFill>
                <a:srgbClr val="273239"/>
              </a:solidFill>
              <a:highlight>
                <a:srgbClr val="FFFFFF"/>
              </a:highlight>
              <a:latin typeface="Times New Roman"/>
              <a:ea typeface="Times New Roman"/>
              <a:cs typeface="Times New Roman"/>
              <a:sym typeface="Times New Roman"/>
            </a:endParaRPr>
          </a:p>
          <a:p>
            <a:pPr marL="0" lvl="0" indent="0" algn="l" rtl="0">
              <a:lnSpc>
                <a:spcPct val="106666"/>
              </a:lnSpc>
              <a:spcBef>
                <a:spcPts val="0"/>
              </a:spcBef>
              <a:spcAft>
                <a:spcPts val="0"/>
              </a:spcAft>
              <a:buSzPts val="523"/>
              <a:buNone/>
            </a:pPr>
            <a:r>
              <a:rPr lang="en" sz="1100" b="1">
                <a:solidFill>
                  <a:srgbClr val="273239"/>
                </a:solidFill>
                <a:highlight>
                  <a:srgbClr val="FFFFFF"/>
                </a:highlight>
                <a:latin typeface="Times New Roman"/>
                <a:ea typeface="Times New Roman"/>
                <a:cs typeface="Times New Roman"/>
                <a:sym typeface="Times New Roman"/>
              </a:rPr>
              <a:t>Disadvantages</a:t>
            </a:r>
            <a:endParaRPr sz="1100" b="1">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can be hacked and hence, less secure.</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48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It has a slow data transfer rate of 3 Mbps.</a:t>
            </a:r>
            <a:endParaRPr sz="1100">
              <a:solidFill>
                <a:srgbClr val="273239"/>
              </a:solidFill>
              <a:highlight>
                <a:srgbClr val="FFFFFF"/>
              </a:highlight>
              <a:latin typeface="Times New Roman"/>
              <a:ea typeface="Times New Roman"/>
              <a:cs typeface="Times New Roman"/>
              <a:sym typeface="Times New Roman"/>
            </a:endParaRPr>
          </a:p>
          <a:p>
            <a:pPr marL="685800" lvl="0" indent="-298450" algn="l" rtl="0">
              <a:lnSpc>
                <a:spcPct val="110000"/>
              </a:lnSpc>
              <a:spcBef>
                <a:spcPts val="0"/>
              </a:spcBef>
              <a:spcAft>
                <a:spcPts val="0"/>
              </a:spcAft>
              <a:buClr>
                <a:srgbClr val="273239"/>
              </a:buClr>
              <a:buSzPts val="1100"/>
              <a:buFont typeface="Times New Roman"/>
              <a:buChar char="●"/>
            </a:pPr>
            <a:r>
              <a:rPr lang="en" sz="1100">
                <a:solidFill>
                  <a:srgbClr val="273239"/>
                </a:solidFill>
                <a:highlight>
                  <a:srgbClr val="FFFFFF"/>
                </a:highlight>
                <a:latin typeface="Times New Roman"/>
                <a:ea typeface="Times New Roman"/>
                <a:cs typeface="Times New Roman"/>
                <a:sym typeface="Times New Roman"/>
              </a:rPr>
              <a:t>Bluetooth communication does not support routing.</a:t>
            </a:r>
            <a:endParaRPr sz="1100">
              <a:solidFill>
                <a:srgbClr val="273239"/>
              </a:solidFill>
              <a:highlight>
                <a:srgbClr val="FFFFFF"/>
              </a:highlight>
              <a:latin typeface="Times New Roman"/>
              <a:ea typeface="Times New Roman"/>
              <a:cs typeface="Times New Roman"/>
              <a:sym typeface="Times New Roman"/>
            </a:endParaRPr>
          </a:p>
          <a:p>
            <a:pPr marL="0" lvl="0" indent="0" algn="l" rtl="0">
              <a:lnSpc>
                <a:spcPct val="105000"/>
              </a:lnSpc>
              <a:spcBef>
                <a:spcPts val="1800"/>
              </a:spcBef>
              <a:spcAft>
                <a:spcPts val="1200"/>
              </a:spcAft>
              <a:buSzPts val="523"/>
              <a:buNone/>
            </a:pPr>
            <a:endParaRPr sz="617">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5" name="Google Shape;175;p31"/>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ZIGBEE</a:t>
            </a:r>
            <a:endParaRPr/>
          </a:p>
        </p:txBody>
      </p:sp>
      <p:pic>
        <p:nvPicPr>
          <p:cNvPr id="176" name="Google Shape;176;p31"/>
          <p:cNvPicPr preferRelativeResize="0"/>
          <p:nvPr/>
        </p:nvPicPr>
        <p:blipFill>
          <a:blip r:embed="rId3">
            <a:alphaModFix/>
          </a:blip>
          <a:stretch>
            <a:fillRect/>
          </a:stretch>
        </p:blipFill>
        <p:spPr>
          <a:xfrm>
            <a:off x="88300" y="316125"/>
            <a:ext cx="8266199" cy="44510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body" idx="1"/>
          </p:nvPr>
        </p:nvSpPr>
        <p:spPr>
          <a:xfrm>
            <a:off x="327525" y="276000"/>
            <a:ext cx="8522700" cy="4651800"/>
          </a:xfrm>
          <a:prstGeom prst="rect">
            <a:avLst/>
          </a:prstGeom>
        </p:spPr>
        <p:txBody>
          <a:bodyPr spcFirstLastPara="1" wrap="square" lIns="91425" tIns="91425" rIns="91425" bIns="91425" anchor="t" anchorCtr="0">
            <a:normAutofit fontScale="92500" lnSpcReduction="10000"/>
          </a:bodyPr>
          <a:lstStyle/>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ZigBee is a </a:t>
            </a:r>
            <a:r>
              <a:rPr lang="en" sz="1758">
                <a:solidFill>
                  <a:srgbClr val="273239"/>
                </a:solidFill>
                <a:highlight>
                  <a:srgbClr val="FFFF00"/>
                </a:highlight>
                <a:latin typeface="Times New Roman"/>
                <a:ea typeface="Times New Roman"/>
                <a:cs typeface="Times New Roman"/>
                <a:sym typeface="Times New Roman"/>
              </a:rPr>
              <a:t>Personal Area Network </a:t>
            </a:r>
            <a:r>
              <a:rPr lang="en" sz="1758">
                <a:solidFill>
                  <a:srgbClr val="273239"/>
                </a:solidFill>
                <a:highlight>
                  <a:srgbClr val="FFFFFF"/>
                </a:highlight>
                <a:latin typeface="Times New Roman"/>
                <a:ea typeface="Times New Roman"/>
                <a:cs typeface="Times New Roman"/>
                <a:sym typeface="Times New Roman"/>
              </a:rPr>
              <a:t>task group with low rate.</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 It is a technology of home networking. </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ZigBee is a technological standard created for </a:t>
            </a:r>
            <a:r>
              <a:rPr lang="en" sz="1758">
                <a:solidFill>
                  <a:srgbClr val="273239"/>
                </a:solidFill>
                <a:highlight>
                  <a:srgbClr val="FFFF00"/>
                </a:highlight>
                <a:latin typeface="Times New Roman"/>
                <a:ea typeface="Times New Roman"/>
                <a:cs typeface="Times New Roman"/>
                <a:sym typeface="Times New Roman"/>
              </a:rPr>
              <a:t>controlling and sensing the network.</a:t>
            </a:r>
            <a:endParaRPr sz="1758">
              <a:solidFill>
                <a:srgbClr val="273239"/>
              </a:solidFill>
              <a:highlight>
                <a:srgbClr val="FFFF00"/>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As we know that ZigBee is the Personal Area Network so it is based on IEEE 802.15.4 and is created by Zigbee Alliance.</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ZigBee is an open, global, packet-based protocol designed to provide an easy-to-use architecture for secure, reliable, low power wireless networks. </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Flow or process control equipment can be placed anywhere and still communicate with the rest of the system. It can also be moved, since the network doesn't care about the physical location of a sensor, pump or valve.</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ZigBee is a standard that addresses the need for very low-cost implementation of Low power devices with Low data rates for short-range wireless communications.</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IEEE 802.15.4 supports s</a:t>
            </a:r>
            <a:r>
              <a:rPr lang="en" sz="1758">
                <a:solidFill>
                  <a:srgbClr val="273239"/>
                </a:solidFill>
                <a:highlight>
                  <a:srgbClr val="FFFF00"/>
                </a:highlight>
                <a:latin typeface="Times New Roman"/>
                <a:ea typeface="Times New Roman"/>
                <a:cs typeface="Times New Roman"/>
                <a:sym typeface="Times New Roman"/>
              </a:rPr>
              <a:t>tar and peer-to-peer topologies</a:t>
            </a:r>
            <a:r>
              <a:rPr lang="en" sz="1758">
                <a:solidFill>
                  <a:srgbClr val="273239"/>
                </a:solidFill>
                <a:highlight>
                  <a:srgbClr val="FFFFFF"/>
                </a:highlight>
                <a:latin typeface="Times New Roman"/>
                <a:ea typeface="Times New Roman"/>
                <a:cs typeface="Times New Roman"/>
                <a:sym typeface="Times New Roman"/>
              </a:rPr>
              <a:t>. </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The ZigBee specification supports star and two kinds of peer-to-peer topologies, mesh and cluster tree.</a:t>
            </a:r>
            <a:endParaRPr sz="1758">
              <a:solidFill>
                <a:srgbClr val="273239"/>
              </a:solidFill>
              <a:highlight>
                <a:srgbClr val="FFFFFF"/>
              </a:highlight>
              <a:latin typeface="Times New Roman"/>
              <a:ea typeface="Times New Roman"/>
              <a:cs typeface="Times New Roman"/>
              <a:sym typeface="Times New Roman"/>
            </a:endParaRPr>
          </a:p>
          <a:p>
            <a:pPr marL="457200" lvl="0" indent="-331867" algn="just" rtl="0">
              <a:lnSpc>
                <a:spcPct val="115000"/>
              </a:lnSpc>
              <a:spcBef>
                <a:spcPts val="0"/>
              </a:spcBef>
              <a:spcAft>
                <a:spcPts val="0"/>
              </a:spcAft>
              <a:buClr>
                <a:srgbClr val="273239"/>
              </a:buClr>
              <a:buSzPct val="100000"/>
              <a:buFont typeface="Times New Roman"/>
              <a:buChar char="●"/>
            </a:pPr>
            <a:r>
              <a:rPr lang="en" sz="1758">
                <a:solidFill>
                  <a:srgbClr val="273239"/>
                </a:solidFill>
                <a:highlight>
                  <a:srgbClr val="FFFFFF"/>
                </a:highlight>
                <a:latin typeface="Times New Roman"/>
                <a:ea typeface="Times New Roman"/>
                <a:cs typeface="Times New Roman"/>
                <a:sym typeface="Times New Roman"/>
              </a:rPr>
              <a:t>ZigBee-compliant devices are sometimes specified as supporting point-to-point and point-to-multipoint topologies.</a:t>
            </a:r>
            <a:endParaRPr sz="1758">
              <a:solidFill>
                <a:srgbClr val="273239"/>
              </a:solidFill>
              <a:highlight>
                <a:srgbClr val="FFFFFF"/>
              </a:highlight>
              <a:latin typeface="Times New Roman"/>
              <a:ea typeface="Times New Roman"/>
              <a:cs typeface="Times New Roman"/>
              <a:sym typeface="Times New Roman"/>
            </a:endParaRPr>
          </a:p>
          <a:p>
            <a:pPr marL="0" lvl="0" indent="0" algn="l" rtl="0">
              <a:spcBef>
                <a:spcPts val="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50">
                <a:solidFill>
                  <a:srgbClr val="273239"/>
                </a:solidFill>
                <a:highlight>
                  <a:srgbClr val="FFFFFF"/>
                </a:highlight>
                <a:latin typeface="Nunito"/>
                <a:ea typeface="Nunito"/>
                <a:cs typeface="Nunito"/>
                <a:sym typeface="Nunito"/>
              </a:rPr>
              <a:t>Why another short-range communication standard</a:t>
            </a:r>
            <a:endParaRPr/>
          </a:p>
        </p:txBody>
      </p:sp>
      <p:pic>
        <p:nvPicPr>
          <p:cNvPr id="187" name="Google Shape;187;p33"/>
          <p:cNvPicPr preferRelativeResize="0"/>
          <p:nvPr/>
        </p:nvPicPr>
        <p:blipFill>
          <a:blip r:embed="rId3">
            <a:alphaModFix/>
          </a:blip>
          <a:stretch>
            <a:fillRect/>
          </a:stretch>
        </p:blipFill>
        <p:spPr>
          <a:xfrm>
            <a:off x="1177850" y="1314025"/>
            <a:ext cx="6286500" cy="26860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a:spLocks noGrp="1"/>
          </p:cNvSpPr>
          <p:nvPr>
            <p:ph type="body" idx="1"/>
          </p:nvPr>
        </p:nvSpPr>
        <p:spPr>
          <a:xfrm>
            <a:off x="312625" y="162275"/>
            <a:ext cx="7856700" cy="4961100"/>
          </a:xfrm>
          <a:prstGeom prst="rect">
            <a:avLst/>
          </a:prstGeom>
        </p:spPr>
        <p:txBody>
          <a:bodyPr spcFirstLastPara="1" wrap="square" lIns="91425" tIns="91425" rIns="91425" bIns="91425" anchor="t" anchorCtr="0">
            <a:normAutofit fontScale="92500"/>
          </a:bodyPr>
          <a:lstStyle/>
          <a:p>
            <a:pPr marL="0" lvl="0" indent="0" algn="l" rtl="0">
              <a:lnSpc>
                <a:spcPct val="140000"/>
              </a:lnSpc>
              <a:spcBef>
                <a:spcPts val="1800"/>
              </a:spcBef>
              <a:spcAft>
                <a:spcPts val="0"/>
              </a:spcAft>
              <a:buNone/>
            </a:pPr>
            <a:r>
              <a:rPr lang="en" sz="1500" b="1">
                <a:solidFill>
                  <a:srgbClr val="273239"/>
                </a:solidFill>
                <a:highlight>
                  <a:srgbClr val="FFFFFF"/>
                </a:highlight>
              </a:rPr>
              <a:t>Types of ZigBee Devices:  </a:t>
            </a:r>
            <a:endParaRPr sz="1500" b="1">
              <a:solidFill>
                <a:srgbClr val="273239"/>
              </a:solidFill>
              <a:highlight>
                <a:srgbClr val="FFFFFF"/>
              </a:highlight>
            </a:endParaRPr>
          </a:p>
          <a:p>
            <a:pPr marL="685800" lvl="0" indent="-307895" algn="l" rtl="0">
              <a:lnSpc>
                <a:spcPct val="158000"/>
              </a:lnSpc>
              <a:spcBef>
                <a:spcPts val="1800"/>
              </a:spcBef>
              <a:spcAft>
                <a:spcPts val="0"/>
              </a:spcAft>
              <a:buClr>
                <a:srgbClr val="273239"/>
              </a:buClr>
              <a:buSzPct val="100000"/>
              <a:buChar char="●"/>
            </a:pPr>
            <a:r>
              <a:rPr lang="en" sz="1350" b="1">
                <a:solidFill>
                  <a:srgbClr val="273239"/>
                </a:solidFill>
                <a:highlight>
                  <a:srgbClr val="FFFFFF"/>
                </a:highlight>
              </a:rPr>
              <a:t>Zigbee Coordinator Device:</a:t>
            </a:r>
            <a:r>
              <a:rPr lang="en" sz="1350">
                <a:solidFill>
                  <a:srgbClr val="273239"/>
                </a:solidFill>
                <a:highlight>
                  <a:srgbClr val="FFFFFF"/>
                </a:highlight>
              </a:rPr>
              <a:t> It communicates with routers. </a:t>
            </a:r>
            <a:endParaRPr sz="1350">
              <a:solidFill>
                <a:srgbClr val="273239"/>
              </a:solidFill>
              <a:highlight>
                <a:srgbClr val="FFFFFF"/>
              </a:highlight>
            </a:endParaRPr>
          </a:p>
          <a:p>
            <a:pPr marL="685800" lvl="0" indent="-307895" algn="l" rtl="0">
              <a:lnSpc>
                <a:spcPct val="158000"/>
              </a:lnSpc>
              <a:spcBef>
                <a:spcPts val="0"/>
              </a:spcBef>
              <a:spcAft>
                <a:spcPts val="0"/>
              </a:spcAft>
              <a:buClr>
                <a:srgbClr val="273239"/>
              </a:buClr>
              <a:buSzPct val="100000"/>
              <a:buChar char="●"/>
            </a:pPr>
            <a:r>
              <a:rPr lang="en" sz="1350">
                <a:solidFill>
                  <a:srgbClr val="273239"/>
                </a:solidFill>
                <a:highlight>
                  <a:srgbClr val="FFFFFF"/>
                </a:highlight>
              </a:rPr>
              <a:t>This device is used for connecting the devices.</a:t>
            </a:r>
            <a:endParaRPr sz="1350">
              <a:solidFill>
                <a:srgbClr val="273239"/>
              </a:solidFill>
              <a:highlight>
                <a:srgbClr val="FFFFFF"/>
              </a:highlight>
            </a:endParaRPr>
          </a:p>
          <a:p>
            <a:pPr marL="685800" lvl="0" indent="-307895" algn="l" rtl="0">
              <a:lnSpc>
                <a:spcPct val="158000"/>
              </a:lnSpc>
              <a:spcBef>
                <a:spcPts val="0"/>
              </a:spcBef>
              <a:spcAft>
                <a:spcPts val="0"/>
              </a:spcAft>
              <a:buClr>
                <a:srgbClr val="273239"/>
              </a:buClr>
              <a:buSzPct val="100000"/>
              <a:buChar char="●"/>
            </a:pPr>
            <a:r>
              <a:rPr lang="en" sz="1350" b="1">
                <a:solidFill>
                  <a:srgbClr val="273239"/>
                </a:solidFill>
                <a:highlight>
                  <a:srgbClr val="FFFFFF"/>
                </a:highlight>
              </a:rPr>
              <a:t>Zigbee Router:</a:t>
            </a:r>
            <a:r>
              <a:rPr lang="en" sz="1350">
                <a:solidFill>
                  <a:srgbClr val="273239"/>
                </a:solidFill>
                <a:highlight>
                  <a:srgbClr val="FFFFFF"/>
                </a:highlight>
              </a:rPr>
              <a:t> It is used for passing the data between devices.</a:t>
            </a:r>
            <a:endParaRPr sz="1350">
              <a:solidFill>
                <a:srgbClr val="273239"/>
              </a:solidFill>
              <a:highlight>
                <a:srgbClr val="FFFFFF"/>
              </a:highlight>
            </a:endParaRPr>
          </a:p>
          <a:p>
            <a:pPr marL="685800" lvl="0" indent="-307895" algn="l" rtl="0">
              <a:lnSpc>
                <a:spcPct val="158000"/>
              </a:lnSpc>
              <a:spcBef>
                <a:spcPts val="0"/>
              </a:spcBef>
              <a:spcAft>
                <a:spcPts val="0"/>
              </a:spcAft>
              <a:buClr>
                <a:srgbClr val="273239"/>
              </a:buClr>
              <a:buSzPct val="100000"/>
              <a:buChar char="●"/>
            </a:pPr>
            <a:r>
              <a:rPr lang="en" sz="1350" b="1">
                <a:solidFill>
                  <a:srgbClr val="273239"/>
                </a:solidFill>
                <a:highlight>
                  <a:srgbClr val="FFFFFF"/>
                </a:highlight>
              </a:rPr>
              <a:t>Zigbee End Device:</a:t>
            </a:r>
            <a:r>
              <a:rPr lang="en" sz="1350">
                <a:solidFill>
                  <a:srgbClr val="273239"/>
                </a:solidFill>
                <a:highlight>
                  <a:srgbClr val="FFFFFF"/>
                </a:highlight>
              </a:rPr>
              <a:t> It is the device that is going to be controlled.</a:t>
            </a:r>
            <a:endParaRPr sz="1350">
              <a:solidFill>
                <a:srgbClr val="273239"/>
              </a:solidFill>
              <a:highlight>
                <a:srgbClr val="FFFFFF"/>
              </a:highlight>
            </a:endParaRPr>
          </a:p>
          <a:p>
            <a:pPr marL="0" lvl="0" indent="0" algn="l" rtl="0">
              <a:lnSpc>
                <a:spcPct val="158000"/>
              </a:lnSpc>
              <a:spcBef>
                <a:spcPts val="1800"/>
              </a:spcBef>
              <a:spcAft>
                <a:spcPts val="0"/>
              </a:spcAft>
              <a:buNone/>
            </a:pPr>
            <a:endParaRPr sz="1350">
              <a:solidFill>
                <a:srgbClr val="273239"/>
              </a:solidFill>
              <a:highlight>
                <a:srgbClr val="FFFFFF"/>
              </a:highlight>
            </a:endParaRPr>
          </a:p>
          <a:p>
            <a:pPr marL="0" lvl="0" indent="0" algn="l" rtl="0">
              <a:lnSpc>
                <a:spcPct val="116666"/>
              </a:lnSpc>
              <a:spcBef>
                <a:spcPts val="1800"/>
              </a:spcBef>
              <a:spcAft>
                <a:spcPts val="0"/>
              </a:spcAft>
              <a:buNone/>
            </a:pPr>
            <a:r>
              <a:rPr lang="en" sz="1800" b="1">
                <a:solidFill>
                  <a:srgbClr val="273239"/>
                </a:solidFill>
                <a:highlight>
                  <a:srgbClr val="FFFFFF"/>
                </a:highlight>
              </a:rPr>
              <a:t>Zigbee Network Topologies</a:t>
            </a:r>
            <a:endParaRPr sz="1800" b="1">
              <a:solidFill>
                <a:srgbClr val="273239"/>
              </a:solidFill>
              <a:highlight>
                <a:srgbClr val="FFFFFF"/>
              </a:highlight>
            </a:endParaRPr>
          </a:p>
          <a:p>
            <a:pPr marL="685800" lvl="0" indent="-307895" algn="l" rtl="0">
              <a:lnSpc>
                <a:spcPct val="158000"/>
              </a:lnSpc>
              <a:spcBef>
                <a:spcPts val="0"/>
              </a:spcBef>
              <a:spcAft>
                <a:spcPts val="0"/>
              </a:spcAft>
              <a:buClr>
                <a:srgbClr val="273239"/>
              </a:buClr>
              <a:buSzPct val="100000"/>
              <a:buChar char="●"/>
            </a:pPr>
            <a:r>
              <a:rPr lang="en" sz="1350" b="1">
                <a:solidFill>
                  <a:srgbClr val="273239"/>
                </a:solidFill>
                <a:highlight>
                  <a:srgbClr val="FFFFFF"/>
                </a:highlight>
              </a:rPr>
              <a:t>Star Topology</a:t>
            </a:r>
            <a:r>
              <a:rPr lang="en" sz="1350">
                <a:solidFill>
                  <a:srgbClr val="273239"/>
                </a:solidFill>
                <a:highlight>
                  <a:srgbClr val="FFFFFF"/>
                </a:highlight>
              </a:rPr>
              <a:t> (ZigBee Smart Energy): Consists of a coordinator and several end devices, end devices communicate only with the coordinator.</a:t>
            </a:r>
            <a:endParaRPr sz="1350">
              <a:solidFill>
                <a:srgbClr val="273239"/>
              </a:solidFill>
              <a:highlight>
                <a:srgbClr val="FFFFFF"/>
              </a:highlight>
            </a:endParaRPr>
          </a:p>
          <a:p>
            <a:pPr marL="685800" lvl="0" indent="-307895" algn="l" rtl="0">
              <a:lnSpc>
                <a:spcPct val="158000"/>
              </a:lnSpc>
              <a:spcBef>
                <a:spcPts val="0"/>
              </a:spcBef>
              <a:spcAft>
                <a:spcPts val="0"/>
              </a:spcAft>
              <a:buClr>
                <a:srgbClr val="273239"/>
              </a:buClr>
              <a:buSzPct val="100000"/>
              <a:buChar char="●"/>
            </a:pPr>
            <a:r>
              <a:rPr lang="en" sz="1350" b="1">
                <a:solidFill>
                  <a:srgbClr val="273239"/>
                </a:solidFill>
                <a:highlight>
                  <a:srgbClr val="FFFFFF"/>
                </a:highlight>
              </a:rPr>
              <a:t>Mesh Topology</a:t>
            </a:r>
            <a:r>
              <a:rPr lang="en" sz="1350">
                <a:solidFill>
                  <a:srgbClr val="273239"/>
                </a:solidFill>
                <a:highlight>
                  <a:srgbClr val="FFFFFF"/>
                </a:highlight>
              </a:rPr>
              <a:t> (Self Healing Process): Mesh topology consists of one coordinator, several routers, and end devices.</a:t>
            </a:r>
            <a:endParaRPr sz="1350">
              <a:solidFill>
                <a:srgbClr val="273239"/>
              </a:solidFill>
              <a:highlight>
                <a:srgbClr val="FFFFFF"/>
              </a:highlight>
            </a:endParaRPr>
          </a:p>
          <a:p>
            <a:pPr marL="685800" lvl="0" indent="-307895" algn="l" rtl="0">
              <a:lnSpc>
                <a:spcPct val="158000"/>
              </a:lnSpc>
              <a:spcBef>
                <a:spcPts val="0"/>
              </a:spcBef>
              <a:spcAft>
                <a:spcPts val="0"/>
              </a:spcAft>
              <a:buClr>
                <a:srgbClr val="273239"/>
              </a:buClr>
              <a:buSzPct val="100000"/>
              <a:buChar char="●"/>
            </a:pPr>
            <a:r>
              <a:rPr lang="en" sz="1350" b="1">
                <a:solidFill>
                  <a:srgbClr val="273239"/>
                </a:solidFill>
                <a:highlight>
                  <a:srgbClr val="FFFFFF"/>
                </a:highlight>
              </a:rPr>
              <a:t>Tree Topology</a:t>
            </a:r>
            <a:r>
              <a:rPr lang="en" sz="1350">
                <a:solidFill>
                  <a:srgbClr val="273239"/>
                </a:solidFill>
                <a:highlight>
                  <a:srgbClr val="FFFFFF"/>
                </a:highlight>
              </a:rPr>
              <a:t>: In this topology, the network consists of a central node which is a coordinator, several routers, and end devices. the function of the router is to extend the network coverage. </a:t>
            </a:r>
            <a:endParaRPr sz="1350">
              <a:solidFill>
                <a:srgbClr val="273239"/>
              </a:solidFill>
              <a:highlight>
                <a:srgbClr val="FFFFFF"/>
              </a:highlight>
            </a:endParaRPr>
          </a:p>
          <a:p>
            <a:pPr marL="0" lvl="0" indent="0" algn="l" rtl="0">
              <a:spcBef>
                <a:spcPts val="1800"/>
              </a:spcBef>
              <a:spcAft>
                <a:spcPts val="1200"/>
              </a:spcAft>
              <a:buNone/>
            </a:pPr>
            <a:endParaRPr/>
          </a:p>
        </p:txBody>
      </p:sp>
      <p:pic>
        <p:nvPicPr>
          <p:cNvPr id="193" name="Google Shape;193;p34"/>
          <p:cNvPicPr preferRelativeResize="0"/>
          <p:nvPr/>
        </p:nvPicPr>
        <p:blipFill>
          <a:blip r:embed="rId3">
            <a:alphaModFix/>
          </a:blip>
          <a:stretch>
            <a:fillRect/>
          </a:stretch>
        </p:blipFill>
        <p:spPr>
          <a:xfrm>
            <a:off x="5434575" y="80275"/>
            <a:ext cx="3709425" cy="23376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5"/>
          <p:cNvSpPr txBox="1">
            <a:spLocks noGrp="1"/>
          </p:cNvSpPr>
          <p:nvPr>
            <p:ph type="body" idx="1"/>
          </p:nvPr>
        </p:nvSpPr>
        <p:spPr>
          <a:xfrm>
            <a:off x="617225" y="105375"/>
            <a:ext cx="7717200" cy="4822500"/>
          </a:xfrm>
          <a:prstGeom prst="rect">
            <a:avLst/>
          </a:prstGeom>
        </p:spPr>
        <p:txBody>
          <a:bodyPr spcFirstLastPara="1" wrap="square" lIns="91425" tIns="91425" rIns="91425" bIns="91425" anchor="t" anchorCtr="0">
            <a:noAutofit/>
          </a:bodyPr>
          <a:lstStyle/>
          <a:p>
            <a:pPr marL="0" lvl="0" indent="0" algn="l" rtl="0">
              <a:lnSpc>
                <a:spcPct val="106666"/>
              </a:lnSpc>
              <a:spcBef>
                <a:spcPts val="0"/>
              </a:spcBef>
              <a:spcAft>
                <a:spcPts val="0"/>
              </a:spcAft>
              <a:buSzPts val="770"/>
              <a:buNone/>
            </a:pPr>
            <a:r>
              <a:rPr lang="en" sz="1860" b="1">
                <a:solidFill>
                  <a:srgbClr val="273239"/>
                </a:solidFill>
                <a:highlight>
                  <a:srgbClr val="FFFFFF"/>
                </a:highlight>
                <a:latin typeface="Times New Roman"/>
                <a:ea typeface="Times New Roman"/>
                <a:cs typeface="Times New Roman"/>
                <a:sym typeface="Times New Roman"/>
              </a:rPr>
              <a:t>General Characteristics of Zigbee Standard</a:t>
            </a:r>
            <a:endParaRPr sz="1860" b="1">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Low Power Consumption</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Low Data Rate (20- 250 kbps)</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Short-Range (75-100 meters)</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Network Join Time (~ 30 msec)</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Support Small and Large Networks (up to 65000 devices (Theory); 240 devices (Practically))</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Low Cost of Products and Cheap Implementation (Open Source Protocol)</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Extremely low-duty cycle.</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Font typeface="Times New Roman"/>
              <a:buChar char="●"/>
            </a:pPr>
            <a:r>
              <a:rPr lang="en" sz="1545">
                <a:solidFill>
                  <a:srgbClr val="273239"/>
                </a:solidFill>
                <a:highlight>
                  <a:srgbClr val="FFFFFF"/>
                </a:highlight>
                <a:latin typeface="Times New Roman"/>
                <a:ea typeface="Times New Roman"/>
                <a:cs typeface="Times New Roman"/>
                <a:sym typeface="Times New Roman"/>
              </a:rPr>
              <a:t>3 frequency bands with 27 channels.</a:t>
            </a:r>
            <a:endParaRPr sz="1545">
              <a:solidFill>
                <a:srgbClr val="273239"/>
              </a:solidFill>
              <a:highlight>
                <a:srgbClr val="FFFFFF"/>
              </a:highlight>
              <a:latin typeface="Times New Roman"/>
              <a:ea typeface="Times New Roman"/>
              <a:cs typeface="Times New Roman"/>
              <a:sym typeface="Times New Roman"/>
            </a:endParaRPr>
          </a:p>
          <a:p>
            <a:pPr marL="0" lvl="0" indent="0" algn="l" rtl="0">
              <a:lnSpc>
                <a:spcPct val="110000"/>
              </a:lnSpc>
              <a:spcBef>
                <a:spcPts val="0"/>
              </a:spcBef>
              <a:spcAft>
                <a:spcPts val="0"/>
              </a:spcAft>
              <a:buSzPts val="770"/>
              <a:buNone/>
            </a:pPr>
            <a:r>
              <a:rPr lang="en" sz="1545" b="1">
                <a:solidFill>
                  <a:srgbClr val="273239"/>
                </a:solidFill>
                <a:highlight>
                  <a:srgbClr val="FFFFFF"/>
                </a:highlight>
                <a:latin typeface="Times New Roman"/>
                <a:ea typeface="Times New Roman"/>
                <a:cs typeface="Times New Roman"/>
                <a:sym typeface="Times New Roman"/>
              </a:rPr>
              <a:t>Operating Frequency Bands</a:t>
            </a:r>
            <a:r>
              <a:rPr lang="en" sz="1545">
                <a:solidFill>
                  <a:srgbClr val="273239"/>
                </a:solidFill>
                <a:highlight>
                  <a:srgbClr val="FFFFFF"/>
                </a:highlight>
                <a:latin typeface="Times New Roman"/>
                <a:ea typeface="Times New Roman"/>
                <a:cs typeface="Times New Roman"/>
                <a:sym typeface="Times New Roman"/>
              </a:rPr>
              <a:t> (Only one channel will be selected for use in a network):</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800"/>
              </a:spcBef>
              <a:spcAft>
                <a:spcPts val="0"/>
              </a:spcAft>
              <a:buClr>
                <a:srgbClr val="273239"/>
              </a:buClr>
              <a:buSzPts val="1545"/>
              <a:buAutoNum type="arabicPeriod"/>
            </a:pPr>
            <a:r>
              <a:rPr lang="en" sz="1545" b="1">
                <a:solidFill>
                  <a:srgbClr val="273239"/>
                </a:solidFill>
                <a:highlight>
                  <a:srgbClr val="FFFFFF"/>
                </a:highlight>
                <a:latin typeface="Times New Roman"/>
                <a:ea typeface="Times New Roman"/>
                <a:cs typeface="Times New Roman"/>
                <a:sym typeface="Times New Roman"/>
              </a:rPr>
              <a:t>Channel 0</a:t>
            </a:r>
            <a:r>
              <a:rPr lang="en" sz="1545">
                <a:solidFill>
                  <a:srgbClr val="273239"/>
                </a:solidFill>
                <a:highlight>
                  <a:srgbClr val="FFFFFF"/>
                </a:highlight>
                <a:latin typeface="Times New Roman"/>
                <a:ea typeface="Times New Roman"/>
                <a:cs typeface="Times New Roman"/>
                <a:sym typeface="Times New Roman"/>
              </a:rPr>
              <a:t>: 868 MHz (Europe)</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AutoNum type="arabicPeriod"/>
            </a:pPr>
            <a:r>
              <a:rPr lang="en" sz="1545" b="1">
                <a:solidFill>
                  <a:srgbClr val="273239"/>
                </a:solidFill>
                <a:highlight>
                  <a:srgbClr val="FFFFFF"/>
                </a:highlight>
                <a:latin typeface="Times New Roman"/>
                <a:ea typeface="Times New Roman"/>
                <a:cs typeface="Times New Roman"/>
                <a:sym typeface="Times New Roman"/>
              </a:rPr>
              <a:t>Channel 1-10</a:t>
            </a:r>
            <a:r>
              <a:rPr lang="en" sz="1545">
                <a:solidFill>
                  <a:srgbClr val="273239"/>
                </a:solidFill>
                <a:highlight>
                  <a:srgbClr val="FFFFFF"/>
                </a:highlight>
                <a:latin typeface="Times New Roman"/>
                <a:ea typeface="Times New Roman"/>
                <a:cs typeface="Times New Roman"/>
                <a:sym typeface="Times New Roman"/>
              </a:rPr>
              <a:t>: 915 MHz (the US and Australia)</a:t>
            </a:r>
            <a:endParaRPr sz="1545">
              <a:solidFill>
                <a:srgbClr val="273239"/>
              </a:solidFill>
              <a:highlight>
                <a:srgbClr val="FFFFFF"/>
              </a:highlight>
              <a:latin typeface="Times New Roman"/>
              <a:ea typeface="Times New Roman"/>
              <a:cs typeface="Times New Roman"/>
              <a:sym typeface="Times New Roman"/>
            </a:endParaRPr>
          </a:p>
          <a:p>
            <a:pPr marL="685800" lvl="0" indent="-326707" algn="l" rtl="0">
              <a:lnSpc>
                <a:spcPct val="148000"/>
              </a:lnSpc>
              <a:spcBef>
                <a:spcPts val="0"/>
              </a:spcBef>
              <a:spcAft>
                <a:spcPts val="0"/>
              </a:spcAft>
              <a:buClr>
                <a:srgbClr val="273239"/>
              </a:buClr>
              <a:buSzPts val="1545"/>
              <a:buAutoNum type="arabicPeriod"/>
            </a:pPr>
            <a:r>
              <a:rPr lang="en" sz="1545" b="1">
                <a:solidFill>
                  <a:srgbClr val="273239"/>
                </a:solidFill>
                <a:highlight>
                  <a:srgbClr val="FFFFFF"/>
                </a:highlight>
                <a:latin typeface="Times New Roman"/>
                <a:ea typeface="Times New Roman"/>
                <a:cs typeface="Times New Roman"/>
                <a:sym typeface="Times New Roman"/>
              </a:rPr>
              <a:t>Channel 11-26</a:t>
            </a:r>
            <a:r>
              <a:rPr lang="en" sz="1545">
                <a:solidFill>
                  <a:srgbClr val="273239"/>
                </a:solidFill>
                <a:highlight>
                  <a:srgbClr val="FFFFFF"/>
                </a:highlight>
                <a:latin typeface="Times New Roman"/>
                <a:ea typeface="Times New Roman"/>
                <a:cs typeface="Times New Roman"/>
                <a:sym typeface="Times New Roman"/>
              </a:rPr>
              <a:t>: 2.4 GHz (Across the World)</a:t>
            </a:r>
            <a:endParaRPr sz="1545">
              <a:solidFill>
                <a:srgbClr val="273239"/>
              </a:solidFill>
              <a:highlight>
                <a:srgbClr val="FFFFFF"/>
              </a:highlight>
              <a:latin typeface="Times New Roman"/>
              <a:ea typeface="Times New Roman"/>
              <a:cs typeface="Times New Roman"/>
              <a:sym typeface="Times New Roman"/>
            </a:endParaRPr>
          </a:p>
          <a:p>
            <a:pPr marL="0" lvl="0" indent="0" algn="l" rtl="0">
              <a:lnSpc>
                <a:spcPct val="110000"/>
              </a:lnSpc>
              <a:spcBef>
                <a:spcPts val="0"/>
              </a:spcBef>
              <a:spcAft>
                <a:spcPts val="800"/>
              </a:spcAft>
              <a:buSzPts val="770"/>
              <a:buNone/>
            </a:pPr>
            <a:endParaRPr sz="1010">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6"/>
          <p:cNvSpPr txBox="1">
            <a:spLocks noGrp="1"/>
          </p:cNvSpPr>
          <p:nvPr>
            <p:ph type="body" idx="1"/>
          </p:nvPr>
        </p:nvSpPr>
        <p:spPr>
          <a:xfrm>
            <a:off x="1303800" y="145525"/>
            <a:ext cx="7030500" cy="5046600"/>
          </a:xfrm>
          <a:prstGeom prst="rect">
            <a:avLst/>
          </a:prstGeom>
        </p:spPr>
        <p:txBody>
          <a:bodyPr spcFirstLastPara="1" wrap="square" lIns="91425" tIns="91425" rIns="91425" bIns="91425" anchor="t" anchorCtr="0">
            <a:noAutofit/>
          </a:bodyPr>
          <a:lstStyle/>
          <a:p>
            <a:pPr marL="0" lvl="0" indent="0" algn="l" rtl="0">
              <a:lnSpc>
                <a:spcPct val="96666"/>
              </a:lnSpc>
              <a:spcBef>
                <a:spcPts val="0"/>
              </a:spcBef>
              <a:spcAft>
                <a:spcPts val="0"/>
              </a:spcAft>
              <a:buSzPts val="440"/>
              <a:buNone/>
            </a:pPr>
            <a:r>
              <a:rPr lang="en" sz="1044" b="1" dirty="0">
                <a:solidFill>
                  <a:srgbClr val="273239"/>
                </a:solidFill>
                <a:highlight>
                  <a:srgbClr val="FFFFFF"/>
                </a:highlight>
                <a:latin typeface="Times New Roman"/>
                <a:ea typeface="Times New Roman"/>
                <a:cs typeface="Times New Roman"/>
                <a:sym typeface="Times New Roman"/>
              </a:rPr>
              <a:t>Advantages of Zigbee</a:t>
            </a:r>
            <a:endParaRPr sz="1044" b="1"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Font typeface="Times New Roman"/>
              <a:buAutoNum type="arabicPeriod"/>
            </a:pPr>
            <a:r>
              <a:rPr lang="en" sz="1044" dirty="0">
                <a:solidFill>
                  <a:srgbClr val="273239"/>
                </a:solidFill>
                <a:highlight>
                  <a:srgbClr val="FFFFFF"/>
                </a:highlight>
                <a:latin typeface="Times New Roman"/>
                <a:ea typeface="Times New Roman"/>
                <a:cs typeface="Times New Roman"/>
                <a:sym typeface="Times New Roman"/>
              </a:rPr>
              <a:t>Designed for low power consumption.</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Font typeface="Times New Roman"/>
              <a:buAutoNum type="arabicPeriod"/>
            </a:pPr>
            <a:r>
              <a:rPr lang="en" sz="1044" dirty="0">
                <a:solidFill>
                  <a:srgbClr val="273239"/>
                </a:solidFill>
                <a:highlight>
                  <a:srgbClr val="FFFFFF"/>
                </a:highlight>
                <a:latin typeface="Times New Roman"/>
                <a:ea typeface="Times New Roman"/>
                <a:cs typeface="Times New Roman"/>
                <a:sym typeface="Times New Roman"/>
              </a:rPr>
              <a:t>Provides network security and application support services operating on the top of IEEE.</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Font typeface="Times New Roman"/>
              <a:buAutoNum type="arabicPeriod"/>
            </a:pPr>
            <a:r>
              <a:rPr lang="en" sz="1044" dirty="0">
                <a:solidFill>
                  <a:srgbClr val="273239"/>
                </a:solidFill>
                <a:highlight>
                  <a:srgbClr val="FFFFFF"/>
                </a:highlight>
                <a:latin typeface="Times New Roman"/>
                <a:ea typeface="Times New Roman"/>
                <a:cs typeface="Times New Roman"/>
                <a:sym typeface="Times New Roman"/>
              </a:rPr>
              <a:t>Zigbee makes possible completely networks homes where all devices are able to communicate and be </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Font typeface="Times New Roman"/>
              <a:buAutoNum type="arabicPeriod"/>
            </a:pPr>
            <a:r>
              <a:rPr lang="en" sz="1044" dirty="0">
                <a:solidFill>
                  <a:srgbClr val="273239"/>
                </a:solidFill>
                <a:highlight>
                  <a:srgbClr val="FFFFFF"/>
                </a:highlight>
                <a:latin typeface="Times New Roman"/>
                <a:ea typeface="Times New Roman"/>
                <a:cs typeface="Times New Roman"/>
                <a:sym typeface="Times New Roman"/>
              </a:rPr>
              <a:t>Use in smart home </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Font typeface="Times New Roman"/>
              <a:buAutoNum type="arabicPeriod"/>
            </a:pPr>
            <a:r>
              <a:rPr lang="en" sz="1044" dirty="0">
                <a:solidFill>
                  <a:srgbClr val="273239"/>
                </a:solidFill>
                <a:highlight>
                  <a:srgbClr val="FFFFFF"/>
                </a:highlight>
                <a:latin typeface="Times New Roman"/>
                <a:ea typeface="Times New Roman"/>
                <a:cs typeface="Times New Roman"/>
                <a:sym typeface="Times New Roman"/>
              </a:rPr>
              <a:t>Easy implementation</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Font typeface="Times New Roman"/>
              <a:buAutoNum type="arabicPeriod"/>
            </a:pPr>
            <a:r>
              <a:rPr lang="en" sz="1044" dirty="0">
                <a:solidFill>
                  <a:srgbClr val="273239"/>
                </a:solidFill>
                <a:highlight>
                  <a:srgbClr val="FFFFFF"/>
                </a:highlight>
                <a:latin typeface="Times New Roman"/>
                <a:ea typeface="Times New Roman"/>
                <a:cs typeface="Times New Roman"/>
                <a:sym typeface="Times New Roman"/>
              </a:rPr>
              <a:t>Adequate security features.</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00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Low cost</a:t>
            </a:r>
            <a:r>
              <a:rPr lang="en" sz="1044" dirty="0">
                <a:solidFill>
                  <a:srgbClr val="273239"/>
                </a:solidFill>
                <a:highlight>
                  <a:srgbClr val="FFFFFF"/>
                </a:highlight>
                <a:latin typeface="Times New Roman"/>
                <a:ea typeface="Times New Roman"/>
                <a:cs typeface="Times New Roman"/>
                <a:sym typeface="Times New Roman"/>
              </a:rPr>
              <a:t>: Zigbee chips and modules are relatively inexpensive, which makes it a cost-effective solution for </a:t>
            </a:r>
            <a:r>
              <a:rPr lang="en" sz="1044" u="sng" dirty="0">
                <a:solidFill>
                  <a:srgbClr val="357960"/>
                </a:solidFill>
                <a:highlight>
                  <a:srgbClr val="FFFFFF"/>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IoT</a:t>
            </a:r>
            <a:r>
              <a:rPr lang="en" sz="1044" dirty="0">
                <a:solidFill>
                  <a:srgbClr val="273239"/>
                </a:solidFill>
                <a:highlight>
                  <a:srgbClr val="FFFFFF"/>
                </a:highlight>
                <a:latin typeface="Times New Roman"/>
                <a:ea typeface="Times New Roman"/>
                <a:cs typeface="Times New Roman"/>
                <a:sym typeface="Times New Roman"/>
              </a:rPr>
              <a:t> applications.</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00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Mesh networking:</a:t>
            </a:r>
            <a:r>
              <a:rPr lang="en" sz="1044" dirty="0">
                <a:solidFill>
                  <a:srgbClr val="273239"/>
                </a:solidFill>
                <a:highlight>
                  <a:srgbClr val="FFFFFF"/>
                </a:highlight>
                <a:latin typeface="Times New Roman"/>
                <a:ea typeface="Times New Roman"/>
                <a:cs typeface="Times New Roman"/>
                <a:sym typeface="Times New Roman"/>
              </a:rPr>
              <a:t> Zigbee uses a mesh network topology, which allows for devices to communicate with each other without the need for a central hub or </a:t>
            </a:r>
            <a:r>
              <a:rPr lang="en" sz="1044" u="sng" dirty="0">
                <a:solidFill>
                  <a:srgbClr val="357960"/>
                </a:solidFill>
                <a:highlight>
                  <a:srgbClr val="FFFFFF"/>
                </a:highlight>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router</a:t>
            </a:r>
            <a:r>
              <a:rPr lang="en" sz="1044" dirty="0">
                <a:solidFill>
                  <a:srgbClr val="273239"/>
                </a:solidFill>
                <a:highlight>
                  <a:srgbClr val="FFFFFF"/>
                </a:highlight>
                <a:latin typeface="Times New Roman"/>
                <a:ea typeface="Times New Roman"/>
                <a:cs typeface="Times New Roman"/>
                <a:sym typeface="Times New Roman"/>
              </a:rPr>
              <a:t>. This makes it ideal for use in smart home applications where devices need to communicate with each other and with a central control hub.</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Reliability:</a:t>
            </a:r>
            <a:r>
              <a:rPr lang="en" sz="1044" dirty="0">
                <a:solidFill>
                  <a:srgbClr val="273239"/>
                </a:solidFill>
                <a:highlight>
                  <a:srgbClr val="FFFFFF"/>
                </a:highlight>
                <a:latin typeface="Times New Roman"/>
                <a:ea typeface="Times New Roman"/>
                <a:cs typeface="Times New Roman"/>
                <a:sym typeface="Times New Roman"/>
              </a:rPr>
              <a:t> Zigbee protocol is designed to be highly reliable, with robust mechanisms in place to ensure that data is delivered reliably even in adverse conditions.</a:t>
            </a:r>
            <a:endParaRPr sz="1044" dirty="0">
              <a:solidFill>
                <a:srgbClr val="273239"/>
              </a:solidFill>
              <a:highlight>
                <a:srgbClr val="FFFFFF"/>
              </a:highlight>
              <a:latin typeface="Times New Roman"/>
              <a:ea typeface="Times New Roman"/>
              <a:cs typeface="Times New Roman"/>
              <a:sym typeface="Times New Roman"/>
            </a:endParaRPr>
          </a:p>
          <a:p>
            <a:pPr marL="0" lvl="0" indent="0" algn="l" rtl="0">
              <a:lnSpc>
                <a:spcPct val="96666"/>
              </a:lnSpc>
              <a:spcBef>
                <a:spcPts val="1800"/>
              </a:spcBef>
              <a:spcAft>
                <a:spcPts val="0"/>
              </a:spcAft>
              <a:buSzPts val="440"/>
              <a:buNone/>
            </a:pPr>
            <a:r>
              <a:rPr lang="en" sz="1044" b="1" dirty="0">
                <a:solidFill>
                  <a:srgbClr val="273239"/>
                </a:solidFill>
                <a:highlight>
                  <a:srgbClr val="FFFFFF"/>
                </a:highlight>
                <a:latin typeface="Times New Roman"/>
                <a:ea typeface="Times New Roman"/>
                <a:cs typeface="Times New Roman"/>
                <a:sym typeface="Times New Roman"/>
              </a:rPr>
              <a:t>Disadvantages of Zigbee</a:t>
            </a:r>
            <a:endParaRPr sz="1044" b="1"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Limited range:</a:t>
            </a:r>
            <a:r>
              <a:rPr lang="en" sz="1044" dirty="0">
                <a:solidFill>
                  <a:srgbClr val="273239"/>
                </a:solidFill>
                <a:highlight>
                  <a:srgbClr val="FFFFFF"/>
                </a:highlight>
                <a:latin typeface="Times New Roman"/>
                <a:ea typeface="Times New Roman"/>
                <a:cs typeface="Times New Roman"/>
                <a:sym typeface="Times New Roman"/>
              </a:rPr>
              <a:t> Zigbee has a relatively short range compared to other wireless communications protocols, which can make it less suitable for certain types of applications or for use in large buildings.</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Limited data rate:</a:t>
            </a:r>
            <a:r>
              <a:rPr lang="en" sz="1044" dirty="0">
                <a:solidFill>
                  <a:srgbClr val="273239"/>
                </a:solidFill>
                <a:highlight>
                  <a:srgbClr val="FFFFFF"/>
                </a:highlight>
                <a:latin typeface="Times New Roman"/>
                <a:ea typeface="Times New Roman"/>
                <a:cs typeface="Times New Roman"/>
                <a:sym typeface="Times New Roman"/>
              </a:rPr>
              <a:t> Zigbee is designed for low-data-rate applications, which can make it less suitable for applications that require high-speed data transfer.</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Interoperability:</a:t>
            </a:r>
            <a:r>
              <a:rPr lang="en" sz="1044" dirty="0">
                <a:solidFill>
                  <a:srgbClr val="273239"/>
                </a:solidFill>
                <a:highlight>
                  <a:srgbClr val="FFFFFF"/>
                </a:highlight>
                <a:latin typeface="Times New Roman"/>
                <a:ea typeface="Times New Roman"/>
                <a:cs typeface="Times New Roman"/>
                <a:sym typeface="Times New Roman"/>
              </a:rPr>
              <a:t> Zigbee is not as widely adopted as other IoT protocols, which can make it difficult to find devices that are compatible with each other.</a:t>
            </a:r>
            <a:endParaRPr sz="1044" dirty="0">
              <a:solidFill>
                <a:srgbClr val="273239"/>
              </a:solidFill>
              <a:highlight>
                <a:srgbClr val="FFFFFF"/>
              </a:highlight>
              <a:latin typeface="Times New Roman"/>
              <a:ea typeface="Times New Roman"/>
              <a:cs typeface="Times New Roman"/>
              <a:sym typeface="Times New Roman"/>
            </a:endParaRPr>
          </a:p>
          <a:p>
            <a:pPr marL="685800" lvl="0" indent="-294907" algn="l" rtl="0">
              <a:lnSpc>
                <a:spcPct val="138000"/>
              </a:lnSpc>
              <a:spcBef>
                <a:spcPts val="0"/>
              </a:spcBef>
              <a:spcAft>
                <a:spcPts val="0"/>
              </a:spcAft>
              <a:buClr>
                <a:srgbClr val="273239"/>
              </a:buClr>
              <a:buSzPts val="1044"/>
              <a:buAutoNum type="arabicPeriod"/>
            </a:pPr>
            <a:r>
              <a:rPr lang="en" sz="1044" b="1" dirty="0">
                <a:solidFill>
                  <a:srgbClr val="273239"/>
                </a:solidFill>
                <a:highlight>
                  <a:srgbClr val="FFFFFF"/>
                </a:highlight>
                <a:latin typeface="Times New Roman"/>
                <a:ea typeface="Times New Roman"/>
                <a:cs typeface="Times New Roman"/>
                <a:sym typeface="Times New Roman"/>
              </a:rPr>
              <a:t>Security:</a:t>
            </a:r>
            <a:r>
              <a:rPr lang="en" sz="1044" dirty="0">
                <a:solidFill>
                  <a:srgbClr val="273239"/>
                </a:solidFill>
                <a:highlight>
                  <a:srgbClr val="FFFFFF"/>
                </a:highlight>
                <a:latin typeface="Times New Roman"/>
                <a:ea typeface="Times New Roman"/>
                <a:cs typeface="Times New Roman"/>
                <a:sym typeface="Times New Roman"/>
              </a:rPr>
              <a:t> Zigbee's security features are not as robust as other IoT protocols, making it more vulnerable to hacking and other security threats.</a:t>
            </a:r>
            <a:endParaRPr sz="1044" dirty="0">
              <a:solidFill>
                <a:srgbClr val="273239"/>
              </a:solidFill>
              <a:highlight>
                <a:srgbClr val="FFFFFF"/>
              </a:highlight>
              <a:latin typeface="Times New Roman"/>
              <a:ea typeface="Times New Roman"/>
              <a:cs typeface="Times New Roman"/>
              <a:sym typeface="Times New Roman"/>
            </a:endParaRPr>
          </a:p>
          <a:p>
            <a:pPr marL="0" lvl="0" indent="0" algn="l" rtl="0">
              <a:lnSpc>
                <a:spcPct val="95000"/>
              </a:lnSpc>
              <a:spcBef>
                <a:spcPts val="1800"/>
              </a:spcBef>
              <a:spcAft>
                <a:spcPts val="1200"/>
              </a:spcAft>
              <a:buSzPts val="440"/>
              <a:buNone/>
            </a:pPr>
            <a:endParaRPr sz="82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7"/>
          <p:cNvSpPr txBox="1">
            <a:spLocks noGrp="1"/>
          </p:cNvSpPr>
          <p:nvPr>
            <p:ph type="body" idx="1"/>
          </p:nvPr>
        </p:nvSpPr>
        <p:spPr>
          <a:xfrm>
            <a:off x="1303800" y="506400"/>
            <a:ext cx="7030500" cy="4025400"/>
          </a:xfrm>
          <a:prstGeom prst="rect">
            <a:avLst/>
          </a:prstGeom>
        </p:spPr>
        <p:txBody>
          <a:bodyPr spcFirstLastPara="1" wrap="square" lIns="91425" tIns="91425" rIns="91425" bIns="91425" anchor="t" anchorCtr="0">
            <a:normAutofit/>
          </a:bodyPr>
          <a:lstStyle/>
          <a:p>
            <a:pPr marL="0" lvl="0" indent="0" algn="l" rtl="0">
              <a:lnSpc>
                <a:spcPct val="116666"/>
              </a:lnSpc>
              <a:spcBef>
                <a:spcPts val="0"/>
              </a:spcBef>
              <a:spcAft>
                <a:spcPts val="0"/>
              </a:spcAft>
              <a:buNone/>
            </a:pPr>
            <a:r>
              <a:rPr lang="en" sz="1800" b="1" dirty="0">
                <a:solidFill>
                  <a:srgbClr val="273239"/>
                </a:solidFill>
                <a:highlight>
                  <a:srgbClr val="FFFFFF"/>
                </a:highlight>
                <a:latin typeface="Times New Roman"/>
                <a:ea typeface="Times New Roman"/>
                <a:cs typeface="Times New Roman"/>
                <a:sym typeface="Times New Roman"/>
              </a:rPr>
              <a:t>Zigbee Applications</a:t>
            </a:r>
            <a:endParaRPr sz="1800" b="1"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Home Automation</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Medical Data Collection</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Industrial Control Systems</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meter reading system </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light control system</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Commercial</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Government Markets Worldwide</a:t>
            </a:r>
            <a:endParaRPr sz="1350" dirty="0">
              <a:solidFill>
                <a:srgbClr val="273239"/>
              </a:solidFill>
              <a:highlight>
                <a:srgbClr val="FFFFFF"/>
              </a:highlight>
              <a:latin typeface="Times New Roman"/>
              <a:ea typeface="Times New Roman"/>
              <a:cs typeface="Times New Roman"/>
              <a:sym typeface="Times New Roman"/>
            </a:endParaRPr>
          </a:p>
          <a:p>
            <a:pPr marL="685800" lvl="0" indent="-314325" algn="l" rtl="0">
              <a:lnSpc>
                <a:spcPct val="158000"/>
              </a:lnSpc>
              <a:spcBef>
                <a:spcPts val="0"/>
              </a:spcBef>
              <a:spcAft>
                <a:spcPts val="0"/>
              </a:spcAft>
              <a:buClr>
                <a:srgbClr val="273239"/>
              </a:buClr>
              <a:buSzPts val="1350"/>
              <a:buFont typeface="Times New Roman"/>
              <a:buAutoNum type="arabicPeriod"/>
            </a:pPr>
            <a:r>
              <a:rPr lang="en" sz="1350" dirty="0">
                <a:solidFill>
                  <a:srgbClr val="273239"/>
                </a:solidFill>
                <a:highlight>
                  <a:srgbClr val="FFFFFF"/>
                </a:highlight>
                <a:latin typeface="Times New Roman"/>
                <a:ea typeface="Times New Roman"/>
                <a:cs typeface="Times New Roman"/>
                <a:sym typeface="Times New Roman"/>
              </a:rPr>
              <a:t>Home Networking</a:t>
            </a:r>
            <a:endParaRPr sz="1350" dirty="0">
              <a:solidFill>
                <a:srgbClr val="273239"/>
              </a:solidFill>
              <a:highlight>
                <a:srgbClr val="FFFFFF"/>
              </a:highlight>
              <a:latin typeface="Times New Roman"/>
              <a:ea typeface="Times New Roman"/>
              <a:cs typeface="Times New Roman"/>
              <a:sym typeface="Times New Roman"/>
            </a:endParaRPr>
          </a:p>
          <a:p>
            <a:pPr marL="0" lvl="0" indent="0" algn="l" rtl="0">
              <a:spcBef>
                <a:spcPts val="1800"/>
              </a:spcBef>
              <a:spcAft>
                <a:spcPts val="1200"/>
              </a:spcAft>
              <a:buNone/>
            </a:pPr>
            <a:endParaRPr dirty="0">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8"/>
          <p:cNvSpPr txBox="1">
            <a:spLocks noGrp="1"/>
          </p:cNvSpPr>
          <p:nvPr>
            <p:ph type="title"/>
          </p:nvPr>
        </p:nvSpPr>
        <p:spPr>
          <a:xfrm>
            <a:off x="565700" y="70475"/>
            <a:ext cx="8329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00"/>
              <a:t>Wireless HART -Highway Addressable Remote Transducer </a:t>
            </a:r>
            <a:endParaRPr sz="2400"/>
          </a:p>
        </p:txBody>
      </p:sp>
      <p:sp>
        <p:nvSpPr>
          <p:cNvPr id="214" name="Google Shape;214;p38"/>
          <p:cNvSpPr txBox="1">
            <a:spLocks noGrp="1"/>
          </p:cNvSpPr>
          <p:nvPr>
            <p:ph type="body" idx="1"/>
          </p:nvPr>
        </p:nvSpPr>
        <p:spPr>
          <a:xfrm>
            <a:off x="476400" y="595475"/>
            <a:ext cx="8140200" cy="4228800"/>
          </a:xfrm>
          <a:prstGeom prst="rect">
            <a:avLst/>
          </a:prstGeom>
        </p:spPr>
        <p:txBody>
          <a:bodyPr spcFirstLastPara="1" wrap="square" lIns="91425" tIns="91425" rIns="91425" bIns="91425" anchor="t" anchorCtr="0">
            <a:noAutofit/>
          </a:bodyPr>
          <a:lstStyle/>
          <a:p>
            <a:pPr marL="685800" indent="-294907">
              <a:lnSpc>
                <a:spcPct val="138000"/>
              </a:lnSpc>
              <a:buClr>
                <a:srgbClr val="273239"/>
              </a:buClr>
              <a:buSzPts val="1044"/>
              <a:buFont typeface="Times New Roman"/>
              <a:buAutoNum type="arabicPeriod"/>
            </a:pPr>
            <a:r>
              <a:rPr lang="en" sz="1400" dirty="0">
                <a:solidFill>
                  <a:srgbClr val="273239"/>
                </a:solidFill>
                <a:highlight>
                  <a:srgbClr val="FFFFFF"/>
                </a:highlight>
                <a:latin typeface="Times New Roman"/>
                <a:ea typeface="Times New Roman"/>
                <a:cs typeface="Times New Roman"/>
                <a:sym typeface="Times New Roman"/>
              </a:rPr>
              <a:t>As the need for additional process measurements increases, users seek a simple, reliable, secure and cost-effective method to deliver new measurement values to control systems without the need to run more wires. With process improvements, plant expansions, regulatory requirements and safety levels demands for additional measurements, users are looking to wireless technology for that solution.</a:t>
            </a:r>
            <a:endParaRPr sz="1400" dirty="0">
              <a:solidFill>
                <a:srgbClr val="273239"/>
              </a:solidFill>
              <a:highlight>
                <a:srgbClr val="FFFFFF"/>
              </a:highlight>
              <a:latin typeface="Times New Roman"/>
              <a:ea typeface="Times New Roman"/>
              <a:cs typeface="Times New Roman"/>
              <a:sym typeface="Times New Roman"/>
            </a:endParaRPr>
          </a:p>
          <a:p>
            <a:pPr marL="685800" indent="-294907">
              <a:lnSpc>
                <a:spcPct val="138000"/>
              </a:lnSpc>
              <a:buClr>
                <a:srgbClr val="273239"/>
              </a:buClr>
              <a:buSzPts val="1044"/>
              <a:buFont typeface="Times New Roman"/>
              <a:buAutoNum type="arabicPeriod"/>
            </a:pPr>
            <a:r>
              <a:rPr lang="en" sz="1400" dirty="0">
                <a:solidFill>
                  <a:srgbClr val="273239"/>
                </a:solidFill>
                <a:highlight>
                  <a:srgbClr val="FFFFFF"/>
                </a:highlight>
                <a:latin typeface="Times New Roman"/>
                <a:ea typeface="Times New Roman"/>
                <a:cs typeface="Times New Roman"/>
                <a:sym typeface="Times New Roman"/>
              </a:rPr>
              <a:t>With approximately 30 million HART </a:t>
            </a:r>
            <a:r>
              <a:rPr lang="en" sz="1400" dirty="0">
                <a:solidFill>
                  <a:srgbClr val="273239"/>
                </a:solidFill>
                <a:highlight>
                  <a:srgbClr val="FFFFFF"/>
                </a:highlight>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devices</a:t>
            </a:r>
            <a:r>
              <a:rPr lang="en" sz="1400" dirty="0">
                <a:solidFill>
                  <a:srgbClr val="273239"/>
                </a:solidFill>
                <a:highlight>
                  <a:srgbClr val="FFFFFF"/>
                </a:highlight>
                <a:latin typeface="Times New Roman"/>
                <a:ea typeface="Times New Roman"/>
                <a:cs typeface="Times New Roman"/>
                <a:sym typeface="Times New Roman"/>
              </a:rPr>
              <a:t> installed and in service worldwide, HART technology is the most widely used field communication protocol for intelligent process instrumentation. With the additional capability of wireless communication, the legacy of benefits this powerful technology provides continues to deliver the operational insight users need to remain competitive.</a:t>
            </a:r>
            <a:endParaRPr sz="1400" dirty="0">
              <a:solidFill>
                <a:srgbClr val="273239"/>
              </a:solidFill>
              <a:highlight>
                <a:srgbClr val="FFFFFF"/>
              </a:highlight>
              <a:latin typeface="Times New Roman"/>
              <a:ea typeface="Times New Roman"/>
              <a:cs typeface="Times New Roman"/>
              <a:sym typeface="Times New Roman"/>
            </a:endParaRPr>
          </a:p>
          <a:p>
            <a:pPr marL="685800" indent="-294907">
              <a:lnSpc>
                <a:spcPct val="138000"/>
              </a:lnSpc>
              <a:buClr>
                <a:srgbClr val="273239"/>
              </a:buClr>
              <a:buSzPts val="1044"/>
              <a:buFont typeface="Times New Roman"/>
              <a:buAutoNum type="arabicPeriod"/>
            </a:pPr>
            <a:r>
              <a:rPr lang="en" sz="1400" dirty="0">
                <a:solidFill>
                  <a:srgbClr val="273239"/>
                </a:solidFill>
                <a:highlight>
                  <a:srgbClr val="FFFFFF"/>
                </a:highlight>
                <a:latin typeface="Times New Roman"/>
                <a:ea typeface="Times New Roman"/>
                <a:cs typeface="Times New Roman"/>
                <a:sym typeface="Times New Roman"/>
              </a:rPr>
              <a:t>HART is a communication protocol used in industrial instrumentation that allows digital communication over the same wires used for analog (4–20 mA) signals.</a:t>
            </a:r>
            <a:endParaRPr sz="1400" dirty="0">
              <a:solidFill>
                <a:srgbClr val="273239"/>
              </a:solidFill>
              <a:highlight>
                <a:srgbClr val="FFFFFF"/>
              </a:highlight>
              <a:latin typeface="Times New Roman"/>
              <a:ea typeface="Times New Roman"/>
              <a:cs typeface="Times New Roman"/>
              <a:sym typeface="Times New Roman"/>
            </a:endParaRPr>
          </a:p>
          <a:p>
            <a:pPr marL="685800" indent="-294907">
              <a:lnSpc>
                <a:spcPct val="138000"/>
              </a:lnSpc>
              <a:buClr>
                <a:srgbClr val="273239"/>
              </a:buClr>
              <a:buSzPts val="1044"/>
              <a:buFont typeface="Times New Roman"/>
              <a:buAutoNum type="arabicPeriod"/>
            </a:pPr>
            <a:r>
              <a:rPr lang="en" sz="1400" dirty="0">
                <a:solidFill>
                  <a:srgbClr val="273239"/>
                </a:solidFill>
                <a:highlight>
                  <a:srgbClr val="FFFFFF"/>
                </a:highlight>
                <a:latin typeface="Times New Roman"/>
                <a:ea typeface="Times New Roman"/>
                <a:cs typeface="Times New Roman"/>
                <a:sym typeface="Times New Roman"/>
              </a:rPr>
              <a:t>Traditional systems send only analog signals (4–20 mA)</a:t>
            </a:r>
            <a:endParaRPr sz="1400" dirty="0">
              <a:solidFill>
                <a:srgbClr val="273239"/>
              </a:solidFill>
              <a:highlight>
                <a:srgbClr val="FFFFFF"/>
              </a:highlight>
              <a:latin typeface="Times New Roman"/>
              <a:ea typeface="Times New Roman"/>
              <a:cs typeface="Times New Roman"/>
              <a:sym typeface="Times New Roman"/>
            </a:endParaRPr>
          </a:p>
          <a:p>
            <a:pPr marL="685800" indent="-294907">
              <a:lnSpc>
                <a:spcPct val="138000"/>
              </a:lnSpc>
              <a:buClr>
                <a:srgbClr val="273239"/>
              </a:buClr>
              <a:buSzPts val="1044"/>
              <a:buFont typeface="Times New Roman"/>
              <a:buAutoNum type="arabicPeriod"/>
            </a:pPr>
            <a:r>
              <a:rPr lang="en" sz="1400" dirty="0">
                <a:solidFill>
                  <a:srgbClr val="273239"/>
                </a:solidFill>
                <a:highlight>
                  <a:srgbClr val="FFFFFF"/>
                </a:highlight>
                <a:latin typeface="Times New Roman"/>
                <a:ea typeface="Times New Roman"/>
                <a:cs typeface="Times New Roman"/>
                <a:sym typeface="Times New Roman"/>
              </a:rPr>
              <a:t>HART adds digital data on top of analog signal</a:t>
            </a:r>
            <a:endParaRPr sz="1400" dirty="0">
              <a:solidFill>
                <a:srgbClr val="273239"/>
              </a:solidFill>
              <a:highlight>
                <a:srgbClr val="FFFFFF"/>
              </a:highlight>
              <a:latin typeface="Times New Roman"/>
              <a:ea typeface="Times New Roman"/>
              <a:cs typeface="Times New Roman"/>
              <a:sym typeface="Times New Roman"/>
            </a:endParaRPr>
          </a:p>
          <a:p>
            <a:pPr marL="685800" indent="-294907">
              <a:lnSpc>
                <a:spcPct val="138000"/>
              </a:lnSpc>
              <a:buClr>
                <a:srgbClr val="273239"/>
              </a:buClr>
              <a:buSzPts val="1044"/>
              <a:buFont typeface="Times New Roman"/>
              <a:buAutoNum type="arabicPeriod"/>
            </a:pPr>
            <a:r>
              <a:rPr lang="en" sz="1400" dirty="0">
                <a:solidFill>
                  <a:srgbClr val="273239"/>
                </a:solidFill>
                <a:highlight>
                  <a:srgbClr val="FFFFFF"/>
                </a:highlight>
                <a:latin typeface="Times New Roman"/>
                <a:ea typeface="Times New Roman"/>
                <a:cs typeface="Times New Roman"/>
                <a:sym typeface="Times New Roman"/>
              </a:rPr>
              <a:t>Both travel on the same two wires</a:t>
            </a:r>
            <a:endParaRPr sz="1400" dirty="0">
              <a:solidFill>
                <a:srgbClr val="273239"/>
              </a:solidFill>
              <a:highlight>
                <a:srgbClr val="FFFFFF"/>
              </a:highlight>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9"/>
          <p:cNvSpPr txBox="1"/>
          <p:nvPr/>
        </p:nvSpPr>
        <p:spPr>
          <a:xfrm>
            <a:off x="1018675" y="150550"/>
            <a:ext cx="6493200" cy="4792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dirty="0"/>
              <a:t>2️⃣ Why WirelessHART was developed</a:t>
            </a:r>
            <a:endParaRPr sz="1700" b="1" dirty="0"/>
          </a:p>
          <a:p>
            <a:pPr marL="0" lvl="0" indent="0" algn="l" rtl="0">
              <a:lnSpc>
                <a:spcPct val="115000"/>
              </a:lnSpc>
              <a:spcBef>
                <a:spcPts val="400"/>
              </a:spcBef>
              <a:spcAft>
                <a:spcPts val="0"/>
              </a:spcAft>
              <a:buNone/>
            </a:pPr>
            <a:r>
              <a:rPr lang="en" sz="1500" dirty="0">
                <a:latin typeface="Times New Roman"/>
                <a:ea typeface="Times New Roman"/>
                <a:cs typeface="Times New Roman"/>
                <a:sym typeface="Times New Roman"/>
              </a:rPr>
              <a:t>Traditional HART:</a:t>
            </a:r>
            <a:endParaRPr sz="1500" dirty="0">
              <a:latin typeface="Times New Roman"/>
              <a:ea typeface="Times New Roman"/>
              <a:cs typeface="Times New Roman"/>
              <a:sym typeface="Times New Roman"/>
            </a:endParaRPr>
          </a:p>
          <a:p>
            <a:pPr marL="457200" lvl="0" indent="-323850" algn="l" rtl="0">
              <a:lnSpc>
                <a:spcPct val="115000"/>
              </a:lnSpc>
              <a:spcBef>
                <a:spcPts val="0"/>
              </a:spcBef>
              <a:spcAft>
                <a:spcPts val="0"/>
              </a:spcAft>
              <a:buSzPts val="1500"/>
              <a:buFont typeface="Times New Roman"/>
              <a:buChar char="●"/>
            </a:pPr>
            <a:r>
              <a:rPr lang="en" sz="1500" dirty="0">
                <a:latin typeface="Times New Roman"/>
                <a:ea typeface="Times New Roman"/>
                <a:cs typeface="Times New Roman"/>
                <a:sym typeface="Times New Roman"/>
              </a:rPr>
              <a:t>Needs wiring</a:t>
            </a:r>
            <a:br>
              <a:rPr lang="en" sz="1500" dirty="0">
                <a:latin typeface="Times New Roman"/>
                <a:ea typeface="Times New Roman"/>
                <a:cs typeface="Times New Roman"/>
                <a:sym typeface="Times New Roman"/>
              </a:rPr>
            </a:br>
            <a:r>
              <a:rPr lang="en" sz="1500" dirty="0">
                <a:latin typeface="Times New Roman"/>
                <a:ea typeface="Times New Roman"/>
                <a:cs typeface="Times New Roman"/>
                <a:sym typeface="Times New Roman"/>
              </a:rPr>
              <a:t>Expensive to install in large plants</a:t>
            </a:r>
            <a:endParaRPr sz="1500" dirty="0">
              <a:latin typeface="Times New Roman"/>
              <a:ea typeface="Times New Roman"/>
              <a:cs typeface="Times New Roman"/>
              <a:sym typeface="Times New Roman"/>
            </a:endParaRPr>
          </a:p>
          <a:p>
            <a:pPr marL="457200" lvl="0" indent="-323850" algn="l" rtl="0">
              <a:lnSpc>
                <a:spcPct val="115000"/>
              </a:lnSpc>
              <a:spcBef>
                <a:spcPts val="0"/>
              </a:spcBef>
              <a:spcAft>
                <a:spcPts val="0"/>
              </a:spcAft>
              <a:buSzPts val="1500"/>
              <a:buFont typeface="Times New Roman"/>
              <a:buChar char="●"/>
            </a:pPr>
            <a:r>
              <a:rPr lang="en" sz="1500" dirty="0">
                <a:latin typeface="Times New Roman"/>
                <a:ea typeface="Times New Roman"/>
                <a:cs typeface="Times New Roman"/>
                <a:sym typeface="Times New Roman"/>
              </a:rPr>
              <a:t>Hard to add new instruments</a:t>
            </a:r>
            <a:br>
              <a:rPr lang="en" sz="1500" dirty="0">
                <a:latin typeface="Times New Roman"/>
                <a:ea typeface="Times New Roman"/>
                <a:cs typeface="Times New Roman"/>
                <a:sym typeface="Times New Roman"/>
              </a:rPr>
            </a:br>
            <a:r>
              <a:rPr lang="en" sz="1500" dirty="0">
                <a:latin typeface="Times New Roman"/>
                <a:ea typeface="Times New Roman"/>
                <a:cs typeface="Times New Roman"/>
                <a:sym typeface="Times New Roman"/>
              </a:rPr>
              <a:t>WirelessHART solves this by:</a:t>
            </a:r>
            <a:br>
              <a:rPr lang="en" sz="1500" dirty="0">
                <a:latin typeface="Times New Roman"/>
                <a:ea typeface="Times New Roman"/>
                <a:cs typeface="Times New Roman"/>
                <a:sym typeface="Times New Roman"/>
              </a:rPr>
            </a:br>
            <a:r>
              <a:rPr lang="en" sz="1500" dirty="0">
                <a:latin typeface="Times New Roman"/>
                <a:ea typeface="Times New Roman"/>
                <a:cs typeface="Times New Roman"/>
                <a:sym typeface="Times New Roman"/>
              </a:rPr>
              <a:t> ✅ Eliminating cables</a:t>
            </a:r>
            <a:br>
              <a:rPr lang="en" sz="1500" dirty="0">
                <a:latin typeface="Times New Roman"/>
                <a:ea typeface="Times New Roman"/>
                <a:cs typeface="Times New Roman"/>
                <a:sym typeface="Times New Roman"/>
              </a:rPr>
            </a:br>
            <a:r>
              <a:rPr lang="en" sz="1500" dirty="0">
                <a:latin typeface="Times New Roman"/>
                <a:ea typeface="Times New Roman"/>
                <a:cs typeface="Times New Roman"/>
                <a:sym typeface="Times New Roman"/>
              </a:rPr>
              <a:t> ✅ Reducing installation cost</a:t>
            </a:r>
            <a:br>
              <a:rPr lang="en" sz="1500" dirty="0">
                <a:latin typeface="Times New Roman"/>
                <a:ea typeface="Times New Roman"/>
                <a:cs typeface="Times New Roman"/>
                <a:sym typeface="Times New Roman"/>
              </a:rPr>
            </a:br>
            <a:r>
              <a:rPr lang="en" sz="1500" dirty="0">
                <a:latin typeface="Times New Roman"/>
                <a:ea typeface="Times New Roman"/>
                <a:cs typeface="Times New Roman"/>
                <a:sym typeface="Times New Roman"/>
              </a:rPr>
              <a:t> ✅ Allowing easy expansion</a:t>
            </a:r>
            <a:endParaRPr sz="1500" dirty="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500" dirty="0">
                <a:latin typeface="Times New Roman"/>
                <a:ea typeface="Times New Roman"/>
                <a:cs typeface="Times New Roman"/>
                <a:sym typeface="Times New Roman"/>
              </a:rPr>
              <a:t>Think of it like this 🎵:</a:t>
            </a:r>
            <a:endParaRPr sz="1500" dirty="0">
              <a:latin typeface="Times New Roman"/>
              <a:ea typeface="Times New Roman"/>
              <a:cs typeface="Times New Roman"/>
              <a:sym typeface="Times New Roman"/>
            </a:endParaRPr>
          </a:p>
          <a:p>
            <a:pPr marL="457200" lvl="0" indent="-323850" algn="l" rtl="0">
              <a:lnSpc>
                <a:spcPct val="115000"/>
              </a:lnSpc>
              <a:spcBef>
                <a:spcPts val="1200"/>
              </a:spcBef>
              <a:spcAft>
                <a:spcPts val="0"/>
              </a:spcAft>
              <a:buSzPts val="1500"/>
              <a:buChar char="●"/>
            </a:pPr>
            <a:r>
              <a:rPr lang="en" sz="1500" dirty="0">
                <a:latin typeface="Times New Roman"/>
                <a:ea typeface="Times New Roman"/>
                <a:cs typeface="Times New Roman"/>
                <a:sym typeface="Times New Roman"/>
              </a:rPr>
              <a:t>Analog signal = </a:t>
            </a:r>
            <a:r>
              <a:rPr lang="en" sz="1500" b="1" dirty="0">
                <a:latin typeface="Times New Roman"/>
                <a:ea typeface="Times New Roman"/>
                <a:cs typeface="Times New Roman"/>
                <a:sym typeface="Times New Roman"/>
              </a:rPr>
              <a:t>road</a:t>
            </a:r>
            <a:endParaRPr sz="1500" b="1" dirty="0">
              <a:latin typeface="Times New Roman"/>
              <a:ea typeface="Times New Roman"/>
              <a:cs typeface="Times New Roman"/>
              <a:sym typeface="Times New Roman"/>
            </a:endParaRPr>
          </a:p>
          <a:p>
            <a:pPr marL="457200" lvl="0" indent="-323850" algn="l" rtl="0">
              <a:lnSpc>
                <a:spcPct val="115000"/>
              </a:lnSpc>
              <a:spcBef>
                <a:spcPts val="0"/>
              </a:spcBef>
              <a:spcAft>
                <a:spcPts val="0"/>
              </a:spcAft>
              <a:buSzPts val="1500"/>
              <a:buChar char="●"/>
            </a:pPr>
            <a:r>
              <a:rPr lang="en" sz="1500" dirty="0">
                <a:latin typeface="Times New Roman"/>
                <a:ea typeface="Times New Roman"/>
                <a:cs typeface="Times New Roman"/>
                <a:sym typeface="Times New Roman"/>
              </a:rPr>
              <a:t>Digital signal = </a:t>
            </a:r>
            <a:r>
              <a:rPr lang="en" sz="1500" b="1" dirty="0">
                <a:latin typeface="Times New Roman"/>
                <a:ea typeface="Times New Roman"/>
                <a:cs typeface="Times New Roman"/>
                <a:sym typeface="Times New Roman"/>
              </a:rPr>
              <a:t>small vibration on the road</a:t>
            </a:r>
            <a:br>
              <a:rPr lang="en" sz="1500" b="1" dirty="0">
                <a:latin typeface="Times New Roman"/>
                <a:ea typeface="Times New Roman"/>
                <a:cs typeface="Times New Roman"/>
                <a:sym typeface="Times New Roman"/>
              </a:rPr>
            </a:br>
            <a:r>
              <a:rPr lang="en" sz="1500" dirty="0">
                <a:latin typeface="Times New Roman"/>
                <a:ea typeface="Times New Roman"/>
                <a:cs typeface="Times New Roman"/>
                <a:sym typeface="Times New Roman"/>
              </a:rPr>
              <a:t>Vehicles (analog value) move normally</a:t>
            </a:r>
            <a:endParaRPr sz="1500" dirty="0">
              <a:latin typeface="Times New Roman"/>
              <a:ea typeface="Times New Roman"/>
              <a:cs typeface="Times New Roman"/>
              <a:sym typeface="Times New Roman"/>
            </a:endParaRPr>
          </a:p>
          <a:p>
            <a:pPr marL="457200" lvl="0" indent="-323850" algn="l" rtl="0">
              <a:lnSpc>
                <a:spcPct val="115000"/>
              </a:lnSpc>
              <a:spcBef>
                <a:spcPts val="0"/>
              </a:spcBef>
              <a:spcAft>
                <a:spcPts val="0"/>
              </a:spcAft>
              <a:buSzPts val="1500"/>
              <a:buFont typeface="Times New Roman"/>
              <a:buChar char="●"/>
            </a:pPr>
            <a:r>
              <a:rPr lang="en" sz="1500" dirty="0">
                <a:latin typeface="Times New Roman"/>
                <a:ea typeface="Times New Roman"/>
                <a:cs typeface="Times New Roman"/>
                <a:sym typeface="Times New Roman"/>
              </a:rPr>
              <a:t>Vibrations (digital data) carry extra information</a:t>
            </a:r>
            <a:endParaRPr sz="1500" dirty="0">
              <a:latin typeface="Times New Roman"/>
              <a:ea typeface="Times New Roman"/>
              <a:cs typeface="Times New Roman"/>
              <a:sym typeface="Times New Roman"/>
            </a:endParaRPr>
          </a:p>
          <a:p>
            <a:pPr marL="457200" lvl="0" indent="-323850" algn="l" rtl="0">
              <a:lnSpc>
                <a:spcPct val="115000"/>
              </a:lnSpc>
              <a:spcBef>
                <a:spcPts val="0"/>
              </a:spcBef>
              <a:spcAft>
                <a:spcPts val="0"/>
              </a:spcAft>
              <a:buSzPts val="1500"/>
              <a:buChar char="●"/>
            </a:pPr>
            <a:r>
              <a:rPr lang="en" sz="1500" dirty="0">
                <a:latin typeface="Times New Roman"/>
                <a:ea typeface="Times New Roman"/>
                <a:cs typeface="Times New Roman"/>
                <a:sym typeface="Times New Roman"/>
              </a:rPr>
              <a:t>Control system sees </a:t>
            </a:r>
            <a:r>
              <a:rPr lang="en" sz="1500" b="1" dirty="0">
                <a:latin typeface="Times New Roman"/>
                <a:ea typeface="Times New Roman"/>
                <a:cs typeface="Times New Roman"/>
                <a:sym typeface="Times New Roman"/>
              </a:rPr>
              <a:t>correct 4–20 mA</a:t>
            </a:r>
            <a:endParaRPr sz="1500" b="1" dirty="0">
              <a:latin typeface="Times New Roman"/>
              <a:ea typeface="Times New Roman"/>
              <a:cs typeface="Times New Roman"/>
              <a:sym typeface="Times New Roman"/>
            </a:endParaRPr>
          </a:p>
          <a:p>
            <a:pPr marL="457200" lvl="0" indent="-323850" algn="l" rtl="0">
              <a:lnSpc>
                <a:spcPct val="115000"/>
              </a:lnSpc>
              <a:spcBef>
                <a:spcPts val="0"/>
              </a:spcBef>
              <a:spcAft>
                <a:spcPts val="0"/>
              </a:spcAft>
              <a:buSzPts val="1500"/>
              <a:buChar char="●"/>
            </a:pPr>
            <a:r>
              <a:rPr lang="en" sz="1500" dirty="0">
                <a:latin typeface="Times New Roman"/>
                <a:ea typeface="Times New Roman"/>
                <a:cs typeface="Times New Roman"/>
                <a:sym typeface="Times New Roman"/>
              </a:rPr>
              <a:t>HART system reads </a:t>
            </a:r>
            <a:r>
              <a:rPr lang="en" sz="1500" b="1" dirty="0">
                <a:latin typeface="Times New Roman"/>
                <a:ea typeface="Times New Roman"/>
                <a:cs typeface="Times New Roman"/>
                <a:sym typeface="Times New Roman"/>
              </a:rPr>
              <a:t>digital information</a:t>
            </a:r>
            <a:endParaRPr sz="1500" dirty="0">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0"/>
          <p:cNvSpPr txBox="1">
            <a:spLocks noGrp="1"/>
          </p:cNvSpPr>
          <p:nvPr>
            <p:ph type="body" idx="1"/>
          </p:nvPr>
        </p:nvSpPr>
        <p:spPr>
          <a:xfrm>
            <a:off x="1303800" y="158900"/>
            <a:ext cx="7030500" cy="4774800"/>
          </a:xfrm>
          <a:prstGeom prst="rect">
            <a:avLst/>
          </a:prstGeom>
        </p:spPr>
        <p:txBody>
          <a:bodyPr spcFirstLastPara="1" wrap="square" lIns="91425" tIns="91425" rIns="91425" bIns="91425" anchor="t" anchorCtr="0">
            <a:noAutofit/>
          </a:bodyPr>
          <a:lstStyle/>
          <a:p>
            <a:pPr marL="0" lvl="0" indent="0" algn="l" rtl="0">
              <a:lnSpc>
                <a:spcPct val="80000"/>
              </a:lnSpc>
              <a:spcBef>
                <a:spcPts val="1800"/>
              </a:spcBef>
              <a:spcAft>
                <a:spcPts val="0"/>
              </a:spcAft>
              <a:buSzPts val="358"/>
              <a:buNone/>
            </a:pPr>
            <a:r>
              <a:rPr lang="en" sz="1252" b="1">
                <a:solidFill>
                  <a:srgbClr val="000000"/>
                </a:solidFill>
                <a:latin typeface="Times New Roman"/>
                <a:ea typeface="Times New Roman"/>
                <a:cs typeface="Times New Roman"/>
                <a:sym typeface="Times New Roman"/>
              </a:rPr>
              <a:t>WirelessHART Architecture (Easy Explanation)</a:t>
            </a:r>
            <a:endParaRPr sz="1122" b="1">
              <a:solidFill>
                <a:srgbClr val="000000"/>
              </a:solidFill>
              <a:latin typeface="Times New Roman"/>
              <a:ea typeface="Times New Roman"/>
              <a:cs typeface="Times New Roman"/>
              <a:sym typeface="Times New Roman"/>
            </a:endParaRPr>
          </a:p>
          <a:p>
            <a:pPr marL="0" lvl="0" indent="0" algn="l" rtl="0">
              <a:lnSpc>
                <a:spcPct val="95000"/>
              </a:lnSpc>
              <a:spcBef>
                <a:spcPts val="0"/>
              </a:spcBef>
              <a:spcAft>
                <a:spcPts val="0"/>
              </a:spcAft>
              <a:buSzPts val="358"/>
              <a:buNone/>
            </a:pPr>
            <a:r>
              <a:rPr lang="en" sz="1122" b="1">
                <a:solidFill>
                  <a:srgbClr val="000000"/>
                </a:solidFill>
                <a:latin typeface="Times New Roman"/>
                <a:ea typeface="Times New Roman"/>
                <a:cs typeface="Times New Roman"/>
                <a:sym typeface="Times New Roman"/>
              </a:rPr>
              <a:t>1. Wireless Field Devices</a:t>
            </a:r>
            <a:endParaRPr sz="1122" b="1">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Sensors: pressure, temperature, flow, level</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Battery powered</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Measure process variables</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Arial"/>
              <a:buChar char="●"/>
            </a:pPr>
            <a:r>
              <a:rPr lang="en" sz="1057">
                <a:solidFill>
                  <a:srgbClr val="000000"/>
                </a:solidFill>
                <a:latin typeface="Times New Roman"/>
                <a:ea typeface="Times New Roman"/>
                <a:cs typeface="Times New Roman"/>
                <a:sym typeface="Times New Roman"/>
              </a:rPr>
              <a:t>Also act as </a:t>
            </a:r>
            <a:r>
              <a:rPr lang="en" sz="1057" b="1">
                <a:solidFill>
                  <a:srgbClr val="000000"/>
                </a:solidFill>
                <a:latin typeface="Times New Roman"/>
                <a:ea typeface="Times New Roman"/>
                <a:cs typeface="Times New Roman"/>
                <a:sym typeface="Times New Roman"/>
              </a:rPr>
              <a:t>routers</a:t>
            </a:r>
            <a:r>
              <a:rPr lang="en" sz="1057">
                <a:solidFill>
                  <a:srgbClr val="000000"/>
                </a:solidFill>
                <a:latin typeface="Times New Roman"/>
                <a:ea typeface="Times New Roman"/>
                <a:cs typeface="Times New Roman"/>
                <a:sym typeface="Times New Roman"/>
              </a:rPr>
              <a:t> in the network</a:t>
            </a:r>
            <a:endParaRPr sz="1057">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358"/>
              <a:buNone/>
            </a:pPr>
            <a:r>
              <a:rPr lang="en" sz="1122" b="1">
                <a:solidFill>
                  <a:srgbClr val="000000"/>
                </a:solidFill>
                <a:latin typeface="Times New Roman"/>
                <a:ea typeface="Times New Roman"/>
                <a:cs typeface="Times New Roman"/>
                <a:sym typeface="Times New Roman"/>
              </a:rPr>
              <a:t>2. Wireless Mesh Network</a:t>
            </a:r>
            <a:endParaRPr sz="1122" b="1">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Devices communicate with each other</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Data hops device → device → gateway</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Arial"/>
              <a:buChar char="●"/>
            </a:pPr>
            <a:r>
              <a:rPr lang="en" sz="1057">
                <a:solidFill>
                  <a:srgbClr val="000000"/>
                </a:solidFill>
                <a:latin typeface="Times New Roman"/>
                <a:ea typeface="Times New Roman"/>
                <a:cs typeface="Times New Roman"/>
                <a:sym typeface="Times New Roman"/>
              </a:rPr>
              <a:t>If one path fails, another path is used</a:t>
            </a:r>
            <a:endParaRPr sz="1057">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None/>
            </a:pPr>
            <a:r>
              <a:rPr lang="en" sz="1122" b="1">
                <a:solidFill>
                  <a:srgbClr val="000000"/>
                </a:solidFill>
                <a:latin typeface="Times New Roman"/>
                <a:ea typeface="Times New Roman"/>
                <a:cs typeface="Times New Roman"/>
                <a:sym typeface="Times New Roman"/>
              </a:rPr>
              <a:t>3. WirelessHART Gateway</a:t>
            </a:r>
            <a:endParaRPr sz="1122" b="1">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Central communication point</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Collects data from all field devices</a:t>
            </a:r>
            <a:endParaRPr sz="1057">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358"/>
              <a:buNone/>
            </a:pPr>
            <a:r>
              <a:rPr lang="en" sz="1122" b="1">
                <a:solidFill>
                  <a:srgbClr val="000000"/>
                </a:solidFill>
                <a:latin typeface="Times New Roman"/>
                <a:ea typeface="Times New Roman"/>
                <a:cs typeface="Times New Roman"/>
                <a:sym typeface="Times New Roman"/>
              </a:rPr>
              <a:t>4. Network Manager</a:t>
            </a:r>
            <a:endParaRPr sz="1122" b="1">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Usually inside the gateway</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Assigns:</a:t>
            </a:r>
            <a:endParaRPr sz="1057">
              <a:solidFill>
                <a:srgbClr val="000000"/>
              </a:solidFill>
              <a:latin typeface="Times New Roman"/>
              <a:ea typeface="Times New Roman"/>
              <a:cs typeface="Times New Roman"/>
              <a:sym typeface="Times New Roman"/>
            </a:endParaRPr>
          </a:p>
          <a:p>
            <a:pPr marL="914400" lvl="1"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Communication paths,Time slots,Security keys</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Optimizes network performance</a:t>
            </a:r>
            <a:endParaRPr sz="1057">
              <a:solidFill>
                <a:srgbClr val="000000"/>
              </a:solidFill>
              <a:latin typeface="Times New Roman"/>
              <a:ea typeface="Times New Roman"/>
              <a:cs typeface="Times New Roman"/>
              <a:sym typeface="Times New Roman"/>
            </a:endParaRPr>
          </a:p>
          <a:p>
            <a:pPr marL="0" lvl="0" indent="0" algn="l" rtl="0">
              <a:lnSpc>
                <a:spcPct val="95000"/>
              </a:lnSpc>
              <a:spcBef>
                <a:spcPts val="0"/>
              </a:spcBef>
              <a:spcAft>
                <a:spcPts val="0"/>
              </a:spcAft>
              <a:buSzPts val="358"/>
              <a:buNone/>
            </a:pPr>
            <a:r>
              <a:rPr lang="en" sz="1122" b="1">
                <a:solidFill>
                  <a:srgbClr val="000000"/>
                </a:solidFill>
                <a:latin typeface="Times New Roman"/>
                <a:ea typeface="Times New Roman"/>
                <a:cs typeface="Times New Roman"/>
                <a:sym typeface="Times New Roman"/>
              </a:rPr>
              <a:t>5. Host / Control System</a:t>
            </a:r>
            <a:endParaRPr sz="1122" b="1">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Displays measurements</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Performs monitoring and diagnostics</a:t>
            </a:r>
            <a:endParaRPr sz="1057">
              <a:solidFill>
                <a:srgbClr val="000000"/>
              </a:solidFill>
              <a:latin typeface="Times New Roman"/>
              <a:ea typeface="Times New Roman"/>
              <a:cs typeface="Times New Roman"/>
              <a:sym typeface="Times New Roman"/>
            </a:endParaRPr>
          </a:p>
          <a:p>
            <a:pPr marL="457200" lvl="0" indent="-295751" algn="l" rtl="0">
              <a:lnSpc>
                <a:spcPct val="95000"/>
              </a:lnSpc>
              <a:spcBef>
                <a:spcPts val="0"/>
              </a:spcBef>
              <a:spcAft>
                <a:spcPts val="0"/>
              </a:spcAft>
              <a:buClr>
                <a:srgbClr val="000000"/>
              </a:buClr>
              <a:buSzPts val="1058"/>
              <a:buFont typeface="Times New Roman"/>
              <a:buChar char="●"/>
            </a:pPr>
            <a:r>
              <a:rPr lang="en" sz="1057">
                <a:solidFill>
                  <a:srgbClr val="000000"/>
                </a:solidFill>
                <a:latin typeface="Times New Roman"/>
                <a:ea typeface="Times New Roman"/>
                <a:cs typeface="Times New Roman"/>
                <a:sym typeface="Times New Roman"/>
              </a:rPr>
              <a:t>Limited control (not fast control loops)</a:t>
            </a:r>
            <a:endParaRPr sz="1057">
              <a:solidFill>
                <a:srgbClr val="000000"/>
              </a:solidFill>
              <a:latin typeface="Times New Roman"/>
              <a:ea typeface="Times New Roman"/>
              <a:cs typeface="Times New Roman"/>
              <a:sym typeface="Times New Roman"/>
            </a:endParaRPr>
          </a:p>
          <a:p>
            <a:pPr marL="0" lvl="0" indent="0" algn="l" rtl="0">
              <a:lnSpc>
                <a:spcPct val="95000"/>
              </a:lnSpc>
              <a:spcBef>
                <a:spcPts val="1400"/>
              </a:spcBef>
              <a:spcAft>
                <a:spcPts val="0"/>
              </a:spcAft>
              <a:buSzPts val="358"/>
              <a:buNone/>
            </a:pPr>
            <a:r>
              <a:rPr lang="en" sz="1122" b="1">
                <a:solidFill>
                  <a:srgbClr val="000000"/>
                </a:solidFill>
                <a:latin typeface="Times New Roman"/>
                <a:ea typeface="Times New Roman"/>
                <a:cs typeface="Times New Roman"/>
                <a:sym typeface="Times New Roman"/>
              </a:rPr>
              <a:t>🔁 Data Flow (one line)</a:t>
            </a:r>
            <a:endParaRPr sz="1122" b="1">
              <a:solidFill>
                <a:srgbClr val="000000"/>
              </a:solidFill>
              <a:latin typeface="Times New Roman"/>
              <a:ea typeface="Times New Roman"/>
              <a:cs typeface="Times New Roman"/>
              <a:sym typeface="Times New Roman"/>
            </a:endParaRPr>
          </a:p>
          <a:p>
            <a:pPr marL="0" lvl="0" indent="0" algn="l" rtl="0">
              <a:lnSpc>
                <a:spcPct val="95000"/>
              </a:lnSpc>
              <a:spcBef>
                <a:spcPts val="400"/>
              </a:spcBef>
              <a:spcAft>
                <a:spcPts val="0"/>
              </a:spcAft>
              <a:buSzPts val="358"/>
              <a:buNone/>
            </a:pPr>
            <a:r>
              <a:rPr lang="en" sz="1057" b="1">
                <a:solidFill>
                  <a:srgbClr val="000000"/>
                </a:solidFill>
                <a:latin typeface="Times New Roman"/>
                <a:ea typeface="Times New Roman"/>
                <a:cs typeface="Times New Roman"/>
                <a:sym typeface="Times New Roman"/>
              </a:rPr>
              <a:t>Field Device → Mesh Network → Gateway → Control System</a:t>
            </a:r>
            <a:endParaRPr sz="1057"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1200"/>
              </a:spcAft>
              <a:buSzPts val="358"/>
              <a:buNone/>
            </a:pPr>
            <a:endParaRPr sz="1122">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30" name="Google Shape;230;p41"/>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1" name="Google Shape;231;p41"/>
          <p:cNvPicPr preferRelativeResize="0"/>
          <p:nvPr/>
        </p:nvPicPr>
        <p:blipFill rotWithShape="1">
          <a:blip r:embed="rId3">
            <a:alphaModFix/>
          </a:blip>
          <a:srcRect l="12893" t="9722" r="14872"/>
          <a:stretch/>
        </p:blipFill>
        <p:spPr>
          <a:xfrm>
            <a:off x="376350" y="254150"/>
            <a:ext cx="8149325" cy="4673576"/>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2"/>
          <p:cNvPicPr preferRelativeResize="0"/>
          <p:nvPr/>
        </p:nvPicPr>
        <p:blipFill rotWithShape="1">
          <a:blip r:embed="rId3">
            <a:alphaModFix/>
          </a:blip>
          <a:srcRect r="7484" b="1322"/>
          <a:stretch/>
        </p:blipFill>
        <p:spPr>
          <a:xfrm>
            <a:off x="1215350" y="665050"/>
            <a:ext cx="6199676" cy="4066125"/>
          </a:xfrm>
          <a:prstGeom prst="rect">
            <a:avLst/>
          </a:prstGeom>
          <a:noFill/>
          <a:ln>
            <a:noFill/>
          </a:ln>
        </p:spPr>
      </p:pic>
      <p:sp>
        <p:nvSpPr>
          <p:cNvPr id="237" name="Google Shape;237;p42"/>
          <p:cNvSpPr/>
          <p:nvPr/>
        </p:nvSpPr>
        <p:spPr>
          <a:xfrm>
            <a:off x="824700" y="4514150"/>
            <a:ext cx="3429000" cy="318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38" name="Google Shape;238;p42"/>
          <p:cNvSpPr txBox="1"/>
          <p:nvPr/>
        </p:nvSpPr>
        <p:spPr>
          <a:xfrm>
            <a:off x="-97325" y="180650"/>
            <a:ext cx="2799600" cy="87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 1. Host Application</a:t>
            </a:r>
            <a:endParaRPr sz="800" b="1" i="1"/>
          </a:p>
          <a:p>
            <a:pPr marL="457200" lvl="0" indent="-279400" algn="l" rtl="0">
              <a:lnSpc>
                <a:spcPct val="115000"/>
              </a:lnSpc>
              <a:spcBef>
                <a:spcPts val="0"/>
              </a:spcBef>
              <a:spcAft>
                <a:spcPts val="0"/>
              </a:spcAft>
              <a:buSzPts val="800"/>
              <a:buChar char="●"/>
            </a:pPr>
            <a:r>
              <a:rPr lang="en" sz="800" b="1"/>
              <a:t>Runs on a computer</a:t>
            </a:r>
            <a:endParaRPr sz="800" b="1"/>
          </a:p>
          <a:p>
            <a:pPr marL="457200" lvl="0" indent="-279400" algn="l" rtl="0">
              <a:lnSpc>
                <a:spcPct val="115000"/>
              </a:lnSpc>
              <a:spcBef>
                <a:spcPts val="0"/>
              </a:spcBef>
              <a:spcAft>
                <a:spcPts val="0"/>
              </a:spcAft>
              <a:buSzPts val="800"/>
              <a:buChar char="●"/>
            </a:pPr>
            <a:r>
              <a:rPr lang="en" sz="800" b="1"/>
              <a:t>Displays:</a:t>
            </a:r>
            <a:endParaRPr sz="800" b="1"/>
          </a:p>
          <a:p>
            <a:pPr marL="457200" lvl="0" indent="-279400" algn="l" rtl="0">
              <a:lnSpc>
                <a:spcPct val="115000"/>
              </a:lnSpc>
              <a:spcBef>
                <a:spcPts val="0"/>
              </a:spcBef>
              <a:spcAft>
                <a:spcPts val="0"/>
              </a:spcAft>
              <a:buSzPts val="800"/>
              <a:buChar char="●"/>
            </a:pPr>
            <a:r>
              <a:rPr lang="en" sz="800" b="1"/>
              <a:t>Used by operators &amp; maintenance engineers</a:t>
            </a:r>
            <a:endParaRPr sz="800" b="1"/>
          </a:p>
          <a:p>
            <a:pPr marL="0" lvl="0" indent="0" algn="l" rtl="0">
              <a:lnSpc>
                <a:spcPct val="115000"/>
              </a:lnSpc>
              <a:spcBef>
                <a:spcPts val="0"/>
              </a:spcBef>
              <a:spcAft>
                <a:spcPts val="0"/>
              </a:spcAft>
              <a:buNone/>
            </a:pPr>
            <a:r>
              <a:rPr lang="en" sz="800" b="1"/>
              <a:t>📌 Example: AMS, SCADA, DCS softwar</a:t>
            </a:r>
            <a:r>
              <a:rPr lang="en" sz="800"/>
              <a:t>e</a:t>
            </a:r>
            <a:endParaRPr sz="800"/>
          </a:p>
        </p:txBody>
      </p:sp>
      <p:sp>
        <p:nvSpPr>
          <p:cNvPr id="239" name="Google Shape;239;p42"/>
          <p:cNvSpPr txBox="1"/>
          <p:nvPr/>
        </p:nvSpPr>
        <p:spPr>
          <a:xfrm>
            <a:off x="0" y="3935525"/>
            <a:ext cx="2416200" cy="101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2. Process Automation Controller</a:t>
            </a:r>
            <a:endParaRPr sz="800" b="1" i="1"/>
          </a:p>
          <a:p>
            <a:pPr marL="457200" lvl="0" indent="-279400" algn="l" rtl="0">
              <a:lnSpc>
                <a:spcPct val="115000"/>
              </a:lnSpc>
              <a:spcBef>
                <a:spcPts val="0"/>
              </a:spcBef>
              <a:spcAft>
                <a:spcPts val="0"/>
              </a:spcAft>
              <a:buSzPts val="800"/>
              <a:buChar char="●"/>
            </a:pPr>
            <a:r>
              <a:rPr lang="en" sz="800" b="1"/>
              <a:t>Performs control logic</a:t>
            </a:r>
            <a:endParaRPr sz="800" b="1"/>
          </a:p>
          <a:p>
            <a:pPr marL="457200" lvl="0" indent="-279400" algn="l" rtl="0">
              <a:lnSpc>
                <a:spcPct val="115000"/>
              </a:lnSpc>
              <a:spcBef>
                <a:spcPts val="0"/>
              </a:spcBef>
              <a:spcAft>
                <a:spcPts val="0"/>
              </a:spcAft>
              <a:buSzPts val="800"/>
              <a:buChar char="●"/>
            </a:pPr>
            <a:r>
              <a:rPr lang="en" sz="800" b="1"/>
              <a:t>Receives data from WirelessHART gateway</a:t>
            </a:r>
            <a:br>
              <a:rPr lang="en" sz="800" b="1"/>
            </a:br>
            <a:r>
              <a:rPr lang="en" sz="800" b="1"/>
              <a:t>Mainly for monitoring, not fast control</a:t>
            </a:r>
            <a:endParaRPr sz="800" b="1"/>
          </a:p>
        </p:txBody>
      </p:sp>
      <p:sp>
        <p:nvSpPr>
          <p:cNvPr id="240" name="Google Shape;240;p42"/>
          <p:cNvSpPr txBox="1"/>
          <p:nvPr/>
        </p:nvSpPr>
        <p:spPr>
          <a:xfrm>
            <a:off x="2589800" y="50625"/>
            <a:ext cx="2061600" cy="152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a:t>3. </a:t>
            </a:r>
            <a:r>
              <a:rPr lang="en" sz="1000" b="1"/>
              <a:t>Gateway (Very Important)</a:t>
            </a:r>
            <a:endParaRPr sz="1000" b="1"/>
          </a:p>
          <a:p>
            <a:pPr marL="457200" lvl="0" indent="-279400" algn="l" rtl="0">
              <a:lnSpc>
                <a:spcPct val="115000"/>
              </a:lnSpc>
              <a:spcBef>
                <a:spcPts val="0"/>
              </a:spcBef>
              <a:spcAft>
                <a:spcPts val="0"/>
              </a:spcAft>
              <a:buSzPts val="800"/>
              <a:buChar char="●"/>
            </a:pPr>
            <a:r>
              <a:rPr lang="en" sz="800" b="1"/>
              <a:t>Acts as a bridge between:</a:t>
            </a:r>
            <a:endParaRPr sz="800" b="1"/>
          </a:p>
          <a:p>
            <a:pPr marL="0" lvl="0" indent="0" algn="l" rtl="0">
              <a:lnSpc>
                <a:spcPct val="115000"/>
              </a:lnSpc>
              <a:spcBef>
                <a:spcPts val="0"/>
              </a:spcBef>
              <a:spcAft>
                <a:spcPts val="0"/>
              </a:spcAft>
              <a:buNone/>
            </a:pPr>
            <a:r>
              <a:rPr lang="en" sz="800" b="1"/>
              <a:t>WirelessHART network</a:t>
            </a:r>
            <a:endParaRPr sz="800" b="1"/>
          </a:p>
          <a:p>
            <a:pPr marL="0" lvl="0" indent="0" algn="l" rtl="0">
              <a:lnSpc>
                <a:spcPct val="115000"/>
              </a:lnSpc>
              <a:spcBef>
                <a:spcPts val="0"/>
              </a:spcBef>
              <a:spcAft>
                <a:spcPts val="0"/>
              </a:spcAft>
              <a:buNone/>
            </a:pPr>
            <a:r>
              <a:rPr lang="en" sz="800" b="1"/>
              <a:t>Wired control system</a:t>
            </a:r>
            <a:endParaRPr sz="800" b="1"/>
          </a:p>
          <a:p>
            <a:pPr marL="457200" lvl="0" indent="-279400" algn="l" rtl="0">
              <a:lnSpc>
                <a:spcPct val="115000"/>
              </a:lnSpc>
              <a:spcBef>
                <a:spcPts val="0"/>
              </a:spcBef>
              <a:spcAft>
                <a:spcPts val="0"/>
              </a:spcAft>
              <a:buSzPts val="800"/>
              <a:buChar char="●"/>
            </a:pPr>
            <a:r>
              <a:rPr lang="en" sz="800" b="1"/>
              <a:t>Collects data from all wireless devices</a:t>
            </a:r>
            <a:endParaRPr sz="800" b="1"/>
          </a:p>
          <a:p>
            <a:pPr marL="457200" lvl="0" indent="-279400" algn="l" rtl="0">
              <a:lnSpc>
                <a:spcPct val="115000"/>
              </a:lnSpc>
              <a:spcBef>
                <a:spcPts val="0"/>
              </a:spcBef>
              <a:spcAft>
                <a:spcPts val="0"/>
              </a:spcAft>
              <a:buSzPts val="800"/>
              <a:buChar char="●"/>
            </a:pPr>
            <a:r>
              <a:rPr lang="en" sz="800" b="1"/>
              <a:t>Sends data to host system</a:t>
            </a:r>
            <a:endParaRPr sz="800" b="1"/>
          </a:p>
          <a:p>
            <a:pPr marL="0" lvl="0" indent="0" algn="l" rtl="0">
              <a:lnSpc>
                <a:spcPct val="115000"/>
              </a:lnSpc>
              <a:spcBef>
                <a:spcPts val="0"/>
              </a:spcBef>
              <a:spcAft>
                <a:spcPts val="1200"/>
              </a:spcAft>
              <a:buNone/>
            </a:pPr>
            <a:r>
              <a:rPr lang="en" sz="800" b="1"/>
              <a:t>👉 Without gateway, WirelessHART cannot talk </a:t>
            </a:r>
            <a:endParaRPr sz="800" b="1"/>
          </a:p>
        </p:txBody>
      </p:sp>
      <p:sp>
        <p:nvSpPr>
          <p:cNvPr id="241" name="Google Shape;241;p42"/>
          <p:cNvSpPr txBox="1"/>
          <p:nvPr/>
        </p:nvSpPr>
        <p:spPr>
          <a:xfrm>
            <a:off x="-65150" y="2083450"/>
            <a:ext cx="2951700" cy="96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a:t> </a:t>
            </a:r>
            <a:r>
              <a:rPr lang="en" sz="1000" b="1"/>
              <a:t>4. Network Manager</a:t>
            </a:r>
            <a:endParaRPr sz="1000" b="1"/>
          </a:p>
          <a:p>
            <a:pPr marL="0" lvl="0" indent="0" algn="l" rtl="0">
              <a:lnSpc>
                <a:spcPct val="115000"/>
              </a:lnSpc>
              <a:spcBef>
                <a:spcPts val="0"/>
              </a:spcBef>
              <a:spcAft>
                <a:spcPts val="0"/>
              </a:spcAft>
              <a:buNone/>
            </a:pPr>
            <a:r>
              <a:rPr lang="en" sz="800" b="1"/>
              <a:t>Manages:</a:t>
            </a:r>
            <a:endParaRPr sz="800" b="1"/>
          </a:p>
          <a:p>
            <a:pPr marL="0" lvl="0" indent="0" algn="l" rtl="0">
              <a:lnSpc>
                <a:spcPct val="115000"/>
              </a:lnSpc>
              <a:spcBef>
                <a:spcPts val="0"/>
              </a:spcBef>
              <a:spcAft>
                <a:spcPts val="0"/>
              </a:spcAft>
              <a:buNone/>
            </a:pPr>
            <a:r>
              <a:rPr lang="en" sz="800" b="1"/>
              <a:t>Routing paths &amp; Time slots &amp; Communication schedules</a:t>
            </a:r>
            <a:endParaRPr sz="800" b="1"/>
          </a:p>
          <a:p>
            <a:pPr marL="0" lvl="0" indent="0" algn="l" rtl="0">
              <a:lnSpc>
                <a:spcPct val="115000"/>
              </a:lnSpc>
              <a:spcBef>
                <a:spcPts val="0"/>
              </a:spcBef>
              <a:spcAft>
                <a:spcPts val="1200"/>
              </a:spcAft>
              <a:buNone/>
            </a:pPr>
            <a:r>
              <a:rPr lang="en" sz="800" b="1"/>
              <a:t>Ensures:</a:t>
            </a:r>
            <a:br>
              <a:rPr lang="en" sz="800" b="1"/>
            </a:br>
            <a:r>
              <a:rPr lang="en" sz="800" b="1"/>
              <a:t>Reliable delivery &amp; Self-healing mesh</a:t>
            </a:r>
            <a:endParaRPr sz="800" b="1"/>
          </a:p>
        </p:txBody>
      </p:sp>
      <p:sp>
        <p:nvSpPr>
          <p:cNvPr id="242" name="Google Shape;242;p42"/>
          <p:cNvSpPr txBox="1"/>
          <p:nvPr/>
        </p:nvSpPr>
        <p:spPr>
          <a:xfrm>
            <a:off x="2662150" y="3935525"/>
            <a:ext cx="2105100" cy="101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 5. Security Manager</a:t>
            </a:r>
            <a:endParaRPr sz="800" b="1"/>
          </a:p>
          <a:p>
            <a:pPr marL="0" lvl="0" indent="0" algn="l" rtl="0">
              <a:lnSpc>
                <a:spcPct val="115000"/>
              </a:lnSpc>
              <a:spcBef>
                <a:spcPts val="0"/>
              </a:spcBef>
              <a:spcAft>
                <a:spcPts val="0"/>
              </a:spcAft>
              <a:buNone/>
            </a:pPr>
            <a:r>
              <a:rPr lang="en" sz="800" b="1"/>
              <a:t>Handles network security</a:t>
            </a:r>
            <a:endParaRPr sz="800" b="1"/>
          </a:p>
          <a:p>
            <a:pPr marL="0" lvl="0" indent="0" algn="l" rtl="0">
              <a:lnSpc>
                <a:spcPct val="115000"/>
              </a:lnSpc>
              <a:spcBef>
                <a:spcPts val="0"/>
              </a:spcBef>
              <a:spcAft>
                <a:spcPts val="0"/>
              </a:spcAft>
              <a:buNone/>
            </a:pPr>
            <a:r>
              <a:rPr lang="en" sz="800" b="1"/>
              <a:t>Distributes:</a:t>
            </a:r>
            <a:br>
              <a:rPr lang="en" sz="800" b="1"/>
            </a:br>
            <a:r>
              <a:rPr lang="en" sz="800" b="1"/>
              <a:t>Encryption keys</a:t>
            </a:r>
            <a:br>
              <a:rPr lang="en" sz="800" b="1"/>
            </a:br>
            <a:r>
              <a:rPr lang="en" sz="800" b="1"/>
              <a:t>Authentication credentials</a:t>
            </a:r>
            <a:endParaRPr sz="800" b="1"/>
          </a:p>
          <a:p>
            <a:pPr marL="0" lvl="0" indent="0" algn="l" rtl="0">
              <a:lnSpc>
                <a:spcPct val="115000"/>
              </a:lnSpc>
              <a:spcBef>
                <a:spcPts val="0"/>
              </a:spcBef>
              <a:spcAft>
                <a:spcPts val="1200"/>
              </a:spcAft>
              <a:buNone/>
            </a:pPr>
            <a:r>
              <a:rPr lang="en" sz="800" b="1"/>
              <a:t>👉 Prevents unauthorized access.</a:t>
            </a:r>
            <a:endParaRPr sz="800" b="1"/>
          </a:p>
        </p:txBody>
      </p:sp>
      <p:sp>
        <p:nvSpPr>
          <p:cNvPr id="243" name="Google Shape;243;p42"/>
          <p:cNvSpPr txBox="1"/>
          <p:nvPr/>
        </p:nvSpPr>
        <p:spPr>
          <a:xfrm>
            <a:off x="6178025" y="-73975"/>
            <a:ext cx="3147000" cy="101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6. Access Points</a:t>
            </a:r>
            <a:endParaRPr sz="800" b="1"/>
          </a:p>
          <a:p>
            <a:pPr marL="457200" lvl="0" indent="-279400" algn="l" rtl="0">
              <a:lnSpc>
                <a:spcPct val="115000"/>
              </a:lnSpc>
              <a:spcBef>
                <a:spcPts val="0"/>
              </a:spcBef>
              <a:spcAft>
                <a:spcPts val="0"/>
              </a:spcAft>
              <a:buSzPts val="800"/>
              <a:buChar char="●"/>
            </a:pPr>
            <a:r>
              <a:rPr lang="en" sz="800" b="1"/>
              <a:t>Provide wireless connection between:</a:t>
            </a:r>
            <a:endParaRPr sz="800" b="1"/>
          </a:p>
          <a:p>
            <a:pPr marL="914400" lvl="1" indent="-279400" algn="l" rtl="0">
              <a:lnSpc>
                <a:spcPct val="115000"/>
              </a:lnSpc>
              <a:spcBef>
                <a:spcPts val="0"/>
              </a:spcBef>
              <a:spcAft>
                <a:spcPts val="0"/>
              </a:spcAft>
              <a:buSzPts val="800"/>
              <a:buChar char="○"/>
            </a:pPr>
            <a:r>
              <a:rPr lang="en" sz="800" b="1"/>
              <a:t>Gateway</a:t>
            </a:r>
            <a:endParaRPr sz="800" b="1"/>
          </a:p>
          <a:p>
            <a:pPr marL="914400" lvl="1" indent="-279400" algn="l" rtl="0">
              <a:lnSpc>
                <a:spcPct val="115000"/>
              </a:lnSpc>
              <a:spcBef>
                <a:spcPts val="0"/>
              </a:spcBef>
              <a:spcAft>
                <a:spcPts val="0"/>
              </a:spcAft>
              <a:buSzPts val="800"/>
              <a:buChar char="○"/>
            </a:pPr>
            <a:r>
              <a:rPr lang="en" sz="800" b="1"/>
              <a:t>Field device network</a:t>
            </a:r>
            <a:endParaRPr sz="800" b="1"/>
          </a:p>
          <a:p>
            <a:pPr marL="457200" lvl="0" indent="-279400" algn="l" rtl="0">
              <a:lnSpc>
                <a:spcPct val="115000"/>
              </a:lnSpc>
              <a:spcBef>
                <a:spcPts val="0"/>
              </a:spcBef>
              <a:spcAft>
                <a:spcPts val="0"/>
              </a:spcAft>
              <a:buSzPts val="800"/>
              <a:buChar char="●"/>
            </a:pPr>
            <a:r>
              <a:rPr lang="en" sz="800" b="1"/>
              <a:t>Extend coverage area</a:t>
            </a:r>
            <a:endParaRPr sz="800" b="1"/>
          </a:p>
          <a:p>
            <a:pPr marL="457200" lvl="0" indent="-279400" algn="l" rtl="0">
              <a:lnSpc>
                <a:spcPct val="115000"/>
              </a:lnSpc>
              <a:spcBef>
                <a:spcPts val="0"/>
              </a:spcBef>
              <a:spcAft>
                <a:spcPts val="0"/>
              </a:spcAft>
              <a:buSzPts val="800"/>
              <a:buChar char="●"/>
            </a:pPr>
            <a:r>
              <a:rPr lang="en" sz="800" b="1"/>
              <a:t>Multiple access points improve reliability</a:t>
            </a:r>
            <a:endParaRPr sz="800" b="1"/>
          </a:p>
        </p:txBody>
      </p:sp>
      <p:sp>
        <p:nvSpPr>
          <p:cNvPr id="244" name="Google Shape;244;p42"/>
          <p:cNvSpPr txBox="1"/>
          <p:nvPr/>
        </p:nvSpPr>
        <p:spPr>
          <a:xfrm>
            <a:off x="7306550" y="4022250"/>
            <a:ext cx="1960500" cy="1157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 7. WirelessHART Field Devices</a:t>
            </a:r>
            <a:endParaRPr sz="800" b="1"/>
          </a:p>
          <a:p>
            <a:pPr marL="457200" lvl="0" indent="-279400" algn="l" rtl="0">
              <a:lnSpc>
                <a:spcPct val="115000"/>
              </a:lnSpc>
              <a:spcBef>
                <a:spcPts val="0"/>
              </a:spcBef>
              <a:spcAft>
                <a:spcPts val="0"/>
              </a:spcAft>
              <a:buSzPts val="800"/>
              <a:buChar char="●"/>
            </a:pPr>
            <a:r>
              <a:rPr lang="en" sz="800" b="1"/>
              <a:t>Sensors (pressure, flow, temperature, level)</a:t>
            </a:r>
            <a:endParaRPr sz="800" b="1"/>
          </a:p>
          <a:p>
            <a:pPr marL="457200" lvl="0" indent="-279400" algn="l" rtl="0">
              <a:lnSpc>
                <a:spcPct val="115000"/>
              </a:lnSpc>
              <a:spcBef>
                <a:spcPts val="0"/>
              </a:spcBef>
              <a:spcAft>
                <a:spcPts val="0"/>
              </a:spcAft>
              <a:buSzPts val="800"/>
              <a:buChar char="●"/>
            </a:pPr>
            <a:r>
              <a:rPr lang="en" sz="800" b="1"/>
              <a:t>Battery powered</a:t>
            </a:r>
            <a:endParaRPr sz="800" b="1"/>
          </a:p>
          <a:p>
            <a:pPr marL="457200" lvl="0" indent="-279400" algn="l" rtl="0">
              <a:lnSpc>
                <a:spcPct val="115000"/>
              </a:lnSpc>
              <a:spcBef>
                <a:spcPts val="0"/>
              </a:spcBef>
              <a:spcAft>
                <a:spcPts val="0"/>
              </a:spcAft>
              <a:buSzPts val="800"/>
              <a:buChar char="●"/>
            </a:pPr>
            <a:r>
              <a:rPr lang="en" sz="800" b="1"/>
              <a:t>Communicate wirelessly</a:t>
            </a:r>
            <a:endParaRPr sz="800" b="1"/>
          </a:p>
          <a:p>
            <a:pPr marL="457200" lvl="0" indent="-279400" algn="l" rtl="0">
              <a:lnSpc>
                <a:spcPct val="115000"/>
              </a:lnSpc>
              <a:spcBef>
                <a:spcPts val="0"/>
              </a:spcBef>
              <a:spcAft>
                <a:spcPts val="0"/>
              </a:spcAft>
              <a:buSzPts val="800"/>
              <a:buChar char="●"/>
            </a:pPr>
            <a:r>
              <a:rPr lang="en" sz="800" b="1"/>
              <a:t>Also act as routers in the mesh network</a:t>
            </a:r>
            <a:endParaRPr sz="800" b="1"/>
          </a:p>
        </p:txBody>
      </p:sp>
      <p:sp>
        <p:nvSpPr>
          <p:cNvPr id="245" name="Google Shape;245;p42"/>
          <p:cNvSpPr txBox="1"/>
          <p:nvPr/>
        </p:nvSpPr>
        <p:spPr>
          <a:xfrm>
            <a:off x="7255875" y="1209475"/>
            <a:ext cx="1960500" cy="12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 8. Wireless Handheld</a:t>
            </a:r>
            <a:endParaRPr sz="800" b="1"/>
          </a:p>
          <a:p>
            <a:pPr marL="457200" lvl="0" indent="-279400" algn="l" rtl="0">
              <a:lnSpc>
                <a:spcPct val="115000"/>
              </a:lnSpc>
              <a:spcBef>
                <a:spcPts val="0"/>
              </a:spcBef>
              <a:spcAft>
                <a:spcPts val="0"/>
              </a:spcAft>
              <a:buSzPts val="800"/>
              <a:buChar char="●"/>
            </a:pPr>
            <a:r>
              <a:rPr lang="en" sz="800" b="1"/>
              <a:t>Used for:</a:t>
            </a:r>
            <a:endParaRPr sz="800" b="1"/>
          </a:p>
          <a:p>
            <a:pPr marL="914400" lvl="1" indent="-279400" algn="l" rtl="0">
              <a:lnSpc>
                <a:spcPct val="115000"/>
              </a:lnSpc>
              <a:spcBef>
                <a:spcPts val="0"/>
              </a:spcBef>
              <a:spcAft>
                <a:spcPts val="0"/>
              </a:spcAft>
              <a:buSzPts val="800"/>
              <a:buChar char="○"/>
            </a:pPr>
            <a:r>
              <a:rPr lang="en" sz="800" b="1"/>
              <a:t>Configuration</a:t>
            </a:r>
            <a:endParaRPr sz="800" b="1"/>
          </a:p>
          <a:p>
            <a:pPr marL="914400" lvl="1" indent="-279400" algn="l" rtl="0">
              <a:lnSpc>
                <a:spcPct val="115000"/>
              </a:lnSpc>
              <a:spcBef>
                <a:spcPts val="0"/>
              </a:spcBef>
              <a:spcAft>
                <a:spcPts val="0"/>
              </a:spcAft>
              <a:buSzPts val="800"/>
              <a:buChar char="○"/>
            </a:pPr>
            <a:r>
              <a:rPr lang="en" sz="800" b="1"/>
              <a:t>Calibration</a:t>
            </a:r>
            <a:endParaRPr sz="800" b="1"/>
          </a:p>
          <a:p>
            <a:pPr marL="914400" lvl="1" indent="-279400" algn="l" rtl="0">
              <a:lnSpc>
                <a:spcPct val="115000"/>
              </a:lnSpc>
              <a:spcBef>
                <a:spcPts val="0"/>
              </a:spcBef>
              <a:spcAft>
                <a:spcPts val="0"/>
              </a:spcAft>
              <a:buSzPts val="800"/>
              <a:buChar char="○"/>
            </a:pPr>
            <a:r>
              <a:rPr lang="en" sz="800" b="1"/>
              <a:t>Diagnostics</a:t>
            </a:r>
            <a:endParaRPr sz="800" b="1"/>
          </a:p>
          <a:p>
            <a:pPr marL="457200" lvl="0" indent="-279400" algn="l" rtl="0">
              <a:lnSpc>
                <a:spcPct val="115000"/>
              </a:lnSpc>
              <a:spcBef>
                <a:spcPts val="0"/>
              </a:spcBef>
              <a:spcAft>
                <a:spcPts val="0"/>
              </a:spcAft>
              <a:buSzPts val="800"/>
              <a:buChar char="●"/>
            </a:pPr>
            <a:r>
              <a:rPr lang="en" sz="800" b="1"/>
              <a:t>Can join the network temporarily</a:t>
            </a:r>
            <a:endParaRPr sz="800" b="1"/>
          </a:p>
          <a:p>
            <a:pPr marL="457200" lvl="0" indent="-279400" algn="l" rtl="0">
              <a:lnSpc>
                <a:spcPct val="115000"/>
              </a:lnSpc>
              <a:spcBef>
                <a:spcPts val="0"/>
              </a:spcBef>
              <a:spcAft>
                <a:spcPts val="0"/>
              </a:spcAft>
              <a:buSzPts val="800"/>
              <a:buChar char="●"/>
            </a:pPr>
            <a:r>
              <a:rPr lang="en" sz="800" b="1"/>
              <a:t>Acts as secondary master</a:t>
            </a:r>
            <a:endParaRPr sz="800" b="1"/>
          </a:p>
        </p:txBody>
      </p:sp>
      <p:sp>
        <p:nvSpPr>
          <p:cNvPr id="246" name="Google Shape;246;p42"/>
          <p:cNvSpPr txBox="1"/>
          <p:nvPr/>
        </p:nvSpPr>
        <p:spPr>
          <a:xfrm>
            <a:off x="7306550" y="2919725"/>
            <a:ext cx="1960500" cy="101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b="1"/>
              <a:t> 9. Wireless Adapter (Bottom right)</a:t>
            </a:r>
            <a:endParaRPr sz="800" b="1"/>
          </a:p>
          <a:p>
            <a:pPr marL="457200" lvl="0" indent="-279400" algn="l" rtl="0">
              <a:lnSpc>
                <a:spcPct val="115000"/>
              </a:lnSpc>
              <a:spcBef>
                <a:spcPts val="0"/>
              </a:spcBef>
              <a:spcAft>
                <a:spcPts val="0"/>
              </a:spcAft>
              <a:buSzPts val="800"/>
              <a:buChar char="●"/>
            </a:pPr>
            <a:r>
              <a:rPr lang="en" sz="800" b="1"/>
              <a:t>Converts existing wired HART device into wireless</a:t>
            </a:r>
            <a:endParaRPr sz="800" b="1"/>
          </a:p>
          <a:p>
            <a:pPr marL="457200" lvl="0" indent="-279400" algn="l" rtl="0">
              <a:lnSpc>
                <a:spcPct val="115000"/>
              </a:lnSpc>
              <a:spcBef>
                <a:spcPts val="0"/>
              </a:spcBef>
              <a:spcAft>
                <a:spcPts val="0"/>
              </a:spcAft>
              <a:buSzPts val="800"/>
              <a:buChar char="●"/>
            </a:pPr>
            <a:r>
              <a:rPr lang="en" sz="800" b="1"/>
              <a:t>Used when replacing devices is expensive</a:t>
            </a:r>
            <a:endParaRPr sz="800" b="1"/>
          </a:p>
          <a:p>
            <a:pPr marL="457200" lvl="0" indent="-279400" algn="l" rtl="0">
              <a:lnSpc>
                <a:spcPct val="115000"/>
              </a:lnSpc>
              <a:spcBef>
                <a:spcPts val="0"/>
              </a:spcBef>
              <a:spcAft>
                <a:spcPts val="0"/>
              </a:spcAft>
              <a:buSzPts val="800"/>
              <a:buChar char="●"/>
            </a:pPr>
            <a:r>
              <a:rPr lang="en" sz="800" b="1"/>
              <a:t>Saves cost</a:t>
            </a:r>
            <a:endParaRPr sz="800" b="1"/>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cSld>
  <p:clrMapOvr>
    <a:masterClrMapping/>
  </p:clrMapOvr>
  <mc:AlternateContent xmlns:mc="http://schemas.openxmlformats.org/markup-compatibility/2006" xmlns:p14="http://schemas.microsoft.com/office/powerpoint/2010/main">
    <mc:Choice Requires="p14">
      <p:transition spd="med">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2" name="Google Shape;252;p4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3" name="Google Shape;253;p43"/>
          <p:cNvPicPr preferRelativeResize="0"/>
          <p:nvPr/>
        </p:nvPicPr>
        <p:blipFill rotWithShape="1">
          <a:blip r:embed="rId3">
            <a:alphaModFix/>
          </a:blip>
          <a:srcRect l="14258" r="19146"/>
          <a:stretch/>
        </p:blipFill>
        <p:spPr>
          <a:xfrm>
            <a:off x="301075" y="311125"/>
            <a:ext cx="8646101" cy="42577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9" name="Google Shape;259;p4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0" name="Google Shape;260;p44"/>
          <p:cNvPicPr preferRelativeResize="0"/>
          <p:nvPr/>
        </p:nvPicPr>
        <p:blipFill rotWithShape="1">
          <a:blip r:embed="rId3">
            <a:alphaModFix/>
          </a:blip>
          <a:srcRect l="13844" r="15269"/>
          <a:stretch/>
        </p:blipFill>
        <p:spPr>
          <a:xfrm>
            <a:off x="326175" y="0"/>
            <a:ext cx="7421626" cy="51435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aphicFrame>
        <p:nvGraphicFramePr>
          <p:cNvPr id="265" name="Google Shape;265;p45"/>
          <p:cNvGraphicFramePr/>
          <p:nvPr/>
        </p:nvGraphicFramePr>
        <p:xfrm>
          <a:off x="1165175" y="622625"/>
          <a:ext cx="6696550" cy="2690793"/>
        </p:xfrm>
        <a:graphic>
          <a:graphicData uri="http://schemas.openxmlformats.org/drawingml/2006/table">
            <a:tbl>
              <a:tblPr>
                <a:noFill/>
                <a:tableStyleId>{DD49FAB4-2609-4524-91B9-3141F2EFCF11}</a:tableStyleId>
              </a:tblPr>
              <a:tblGrid>
                <a:gridCol w="2942000">
                  <a:extLst>
                    <a:ext uri="{9D8B030D-6E8A-4147-A177-3AD203B41FA5}">
                      <a16:colId xmlns:a16="http://schemas.microsoft.com/office/drawing/2014/main" val="20000"/>
                    </a:ext>
                  </a:extLst>
                </a:gridCol>
                <a:gridCol w="3754550">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 sz="1100" b="1"/>
                        <a:t>Feature</a:t>
                      </a:r>
                      <a:endParaRPr sz="11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WirelessHART</a:t>
                      </a:r>
                      <a:endParaRPr sz="11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t>Standard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IEC 62591</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t>Frequency band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2.4 GHz (ISM band)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t>Data rate</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250 kbps</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a:t>Topology</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Mesh</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a:t>Power</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Battery-powered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a:t>Security</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AES-128 encryption</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graphicFrame>
        <p:nvGraphicFramePr>
          <p:cNvPr id="270" name="Google Shape;270;p46"/>
          <p:cNvGraphicFramePr/>
          <p:nvPr/>
        </p:nvGraphicFramePr>
        <p:xfrm>
          <a:off x="1092850" y="883200"/>
          <a:ext cx="7157150" cy="2870675"/>
        </p:xfrm>
        <a:graphic>
          <a:graphicData uri="http://schemas.openxmlformats.org/drawingml/2006/table">
            <a:tbl>
              <a:tblPr>
                <a:noFill/>
                <a:tableStyleId>{DD49FAB4-2609-4524-91B9-3141F2EFCF11}</a:tableStyleId>
              </a:tblPr>
              <a:tblGrid>
                <a:gridCol w="1949625">
                  <a:extLst>
                    <a:ext uri="{9D8B030D-6E8A-4147-A177-3AD203B41FA5}">
                      <a16:colId xmlns:a16="http://schemas.microsoft.com/office/drawing/2014/main" val="20000"/>
                    </a:ext>
                  </a:extLst>
                </a:gridCol>
                <a:gridCol w="2437025">
                  <a:extLst>
                    <a:ext uri="{9D8B030D-6E8A-4147-A177-3AD203B41FA5}">
                      <a16:colId xmlns:a16="http://schemas.microsoft.com/office/drawing/2014/main" val="20001"/>
                    </a:ext>
                  </a:extLst>
                </a:gridCol>
                <a:gridCol w="2770500">
                  <a:extLst>
                    <a:ext uri="{9D8B030D-6E8A-4147-A177-3AD203B41FA5}">
                      <a16:colId xmlns:a16="http://schemas.microsoft.com/office/drawing/2014/main" val="20002"/>
                    </a:ext>
                  </a:extLst>
                </a:gridCol>
              </a:tblGrid>
              <a:tr h="458925">
                <a:tc>
                  <a:txBody>
                    <a:bodyPr/>
                    <a:lstStyle/>
                    <a:p>
                      <a:pPr marL="0" lvl="0" indent="0" algn="ctr" rtl="0">
                        <a:lnSpc>
                          <a:spcPct val="115000"/>
                        </a:lnSpc>
                        <a:spcBef>
                          <a:spcPts val="0"/>
                        </a:spcBef>
                        <a:spcAft>
                          <a:spcPts val="0"/>
                        </a:spcAft>
                        <a:buNone/>
                      </a:pPr>
                      <a:r>
                        <a:rPr lang="en" sz="1100" b="1"/>
                        <a:t>Feature</a:t>
                      </a:r>
                      <a:endParaRPr sz="11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Wired HART</a:t>
                      </a:r>
                      <a:endParaRPr sz="11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WirelessHART</a:t>
                      </a:r>
                      <a:endParaRPr sz="11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2350">
                <a:tc>
                  <a:txBody>
                    <a:bodyPr/>
                    <a:lstStyle/>
                    <a:p>
                      <a:pPr marL="0" lvl="0" indent="0" algn="l" rtl="0">
                        <a:spcBef>
                          <a:spcPts val="0"/>
                        </a:spcBef>
                        <a:spcAft>
                          <a:spcPts val="0"/>
                        </a:spcAft>
                        <a:buNone/>
                      </a:pPr>
                      <a:r>
                        <a:rPr lang="en"/>
                        <a:t>Medium</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Cable</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Radio</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2350">
                <a:tc>
                  <a:txBody>
                    <a:bodyPr/>
                    <a:lstStyle/>
                    <a:p>
                      <a:pPr marL="0" lvl="0" indent="0" algn="l" rtl="0">
                        <a:spcBef>
                          <a:spcPts val="0"/>
                        </a:spcBef>
                        <a:spcAft>
                          <a:spcPts val="0"/>
                        </a:spcAft>
                        <a:buNone/>
                      </a:pPr>
                      <a:r>
                        <a:rPr lang="en"/>
                        <a:t>Wiring cost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High</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Very low</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2350">
                <a:tc>
                  <a:txBody>
                    <a:bodyPr/>
                    <a:lstStyle/>
                    <a:p>
                      <a:pPr marL="0" lvl="0" indent="0" algn="l" rtl="0">
                        <a:spcBef>
                          <a:spcPts val="0"/>
                        </a:spcBef>
                        <a:spcAft>
                          <a:spcPts val="0"/>
                        </a:spcAft>
                        <a:buNone/>
                      </a:pPr>
                      <a:r>
                        <a:rPr lang="en"/>
                        <a:t>Installation</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Difficult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Easy</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2350">
                <a:tc>
                  <a:txBody>
                    <a:bodyPr/>
                    <a:lstStyle/>
                    <a:p>
                      <a:pPr marL="0" lvl="0" indent="0" algn="l" rtl="0">
                        <a:spcBef>
                          <a:spcPts val="0"/>
                        </a:spcBef>
                        <a:spcAft>
                          <a:spcPts val="0"/>
                        </a:spcAft>
                        <a:buNone/>
                      </a:pPr>
                      <a:r>
                        <a:rPr lang="en"/>
                        <a:t>Mobility</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No</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Yes</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82350">
                <a:tc>
                  <a:txBody>
                    <a:bodyPr/>
                    <a:lstStyle/>
                    <a:p>
                      <a:pPr marL="0" lvl="0" indent="0" algn="l" rtl="0">
                        <a:spcBef>
                          <a:spcPts val="0"/>
                        </a:spcBef>
                        <a:spcAft>
                          <a:spcPts val="0"/>
                        </a:spcAft>
                        <a:buNone/>
                      </a:pPr>
                      <a:r>
                        <a:rPr lang="en"/>
                        <a:t>Power</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Loop powered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Battery powered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7"/>
          <p:cNvSpPr txBox="1">
            <a:spLocks noGrp="1"/>
          </p:cNvSpPr>
          <p:nvPr>
            <p:ph type="body" idx="1"/>
          </p:nvPr>
        </p:nvSpPr>
        <p:spPr>
          <a:xfrm>
            <a:off x="819150" y="491925"/>
            <a:ext cx="7505700" cy="4217400"/>
          </a:xfrm>
          <a:prstGeom prst="rect">
            <a:avLst/>
          </a:prstGeom>
        </p:spPr>
        <p:txBody>
          <a:bodyPr spcFirstLastPara="1" wrap="square" lIns="91425" tIns="91425" rIns="91425" bIns="91425" anchor="t" anchorCtr="0">
            <a:normAutofit fontScale="92500" lnSpcReduction="20000"/>
          </a:bodyPr>
          <a:lstStyle/>
          <a:p>
            <a:pPr marL="0" lvl="0" indent="0" algn="just" rtl="0">
              <a:lnSpc>
                <a:spcPct val="120000"/>
              </a:lnSpc>
              <a:spcBef>
                <a:spcPts val="0"/>
              </a:spcBef>
              <a:spcAft>
                <a:spcPts val="0"/>
              </a:spcAft>
              <a:buNone/>
            </a:pPr>
            <a:r>
              <a:rPr lang="en" sz="1350" b="1">
                <a:solidFill>
                  <a:srgbClr val="273239"/>
                </a:solidFill>
                <a:highlight>
                  <a:srgbClr val="FFFFFF"/>
                </a:highlight>
                <a:latin typeface="Nunito"/>
                <a:ea typeface="Nunito"/>
                <a:cs typeface="Nunito"/>
                <a:sym typeface="Nunito"/>
              </a:rPr>
              <a:t>Z-Wave</a:t>
            </a:r>
            <a:r>
              <a:rPr lang="en" sz="1350">
                <a:solidFill>
                  <a:srgbClr val="273239"/>
                </a:solidFill>
                <a:highlight>
                  <a:srgbClr val="FFFFFF"/>
                </a:highlight>
                <a:latin typeface="Nunito"/>
                <a:ea typeface="Nunito"/>
                <a:cs typeface="Nunito"/>
                <a:sym typeface="Nunito"/>
              </a:rPr>
              <a:t> is a wireless communication protocol known for Home Automation. </a:t>
            </a:r>
            <a:r>
              <a:rPr lang="en" sz="1350"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Wireless Communication protocol </a:t>
            </a:r>
            <a:r>
              <a:rPr lang="en" sz="1350">
                <a:solidFill>
                  <a:srgbClr val="273239"/>
                </a:solidFill>
                <a:highlight>
                  <a:srgbClr val="FFFFFF"/>
                </a:highlight>
                <a:latin typeface="Nunito"/>
                <a:ea typeface="Nunito"/>
                <a:cs typeface="Nunito"/>
                <a:sym typeface="Nunito"/>
              </a:rPr>
              <a:t>is simply a set of rules or some standards, an application, or a program that should be followed in order to communicate wirelessly. This wireless protocol allows multiple wireless devices to communicate with each other in an affordable and reliable way with easy-to-use smart products. </a:t>
            </a:r>
            <a:endParaRPr sz="1350">
              <a:solidFill>
                <a:srgbClr val="273239"/>
              </a:solidFill>
              <a:highlight>
                <a:srgbClr val="FFFFFF"/>
              </a:highlight>
              <a:latin typeface="Nunito"/>
              <a:ea typeface="Nunito"/>
              <a:cs typeface="Nunito"/>
              <a:sym typeface="Nunito"/>
            </a:endParaRPr>
          </a:p>
          <a:p>
            <a:pPr marL="0" lvl="0" indent="0" algn="just" rtl="0">
              <a:lnSpc>
                <a:spcPct val="140000"/>
              </a:lnSpc>
              <a:spcBef>
                <a:spcPts val="1800"/>
              </a:spcBef>
              <a:spcAft>
                <a:spcPts val="0"/>
              </a:spcAft>
              <a:buNone/>
            </a:pPr>
            <a:r>
              <a:rPr lang="en" sz="1500" b="1">
                <a:solidFill>
                  <a:srgbClr val="273239"/>
                </a:solidFill>
                <a:highlight>
                  <a:srgbClr val="FFFFFF"/>
                </a:highlight>
                <a:latin typeface="Nunito"/>
                <a:ea typeface="Nunito"/>
                <a:cs typeface="Nunito"/>
                <a:sym typeface="Nunito"/>
              </a:rPr>
              <a:t>History of Z-Wave</a:t>
            </a:r>
            <a:endParaRPr sz="1500" b="1">
              <a:solidFill>
                <a:srgbClr val="273239"/>
              </a:solidFill>
              <a:highlight>
                <a:srgbClr val="FFFFFF"/>
              </a:highlight>
              <a:latin typeface="Nunito"/>
              <a:ea typeface="Nunito"/>
              <a:cs typeface="Nunito"/>
              <a:sym typeface="Nunito"/>
            </a:endParaRPr>
          </a:p>
          <a:p>
            <a:pPr marL="0" lvl="0" indent="0" algn="just" rtl="0">
              <a:lnSpc>
                <a:spcPct val="120000"/>
              </a:lnSpc>
              <a:spcBef>
                <a:spcPts val="1800"/>
              </a:spcBef>
              <a:spcAft>
                <a:spcPts val="0"/>
              </a:spcAft>
              <a:buNone/>
            </a:pPr>
            <a:r>
              <a:rPr lang="en" sz="1350">
                <a:solidFill>
                  <a:srgbClr val="273239"/>
                </a:solidFill>
                <a:highlight>
                  <a:srgbClr val="FFFFFF"/>
                </a:highlight>
                <a:latin typeface="Nunito"/>
                <a:ea typeface="Nunito"/>
                <a:cs typeface="Nunito"/>
                <a:sym typeface="Nunito"/>
              </a:rPr>
              <a:t>Z-wave was first developed/founded by the two Danish engineers of a start-up company named, </a:t>
            </a:r>
            <a:r>
              <a:rPr lang="en" sz="1350" i="1">
                <a:solidFill>
                  <a:srgbClr val="273239"/>
                </a:solidFill>
                <a:highlight>
                  <a:srgbClr val="FFFFFF"/>
                </a:highlight>
                <a:latin typeface="Nunito"/>
                <a:ea typeface="Nunito"/>
                <a:cs typeface="Nunito"/>
                <a:sym typeface="Nunito"/>
              </a:rPr>
              <a:t>Zensys</a:t>
            </a:r>
            <a:r>
              <a:rPr lang="en" sz="1350">
                <a:solidFill>
                  <a:srgbClr val="273239"/>
                </a:solidFill>
                <a:highlight>
                  <a:srgbClr val="FFFFFF"/>
                </a:highlight>
                <a:latin typeface="Nunito"/>
                <a:ea typeface="Nunito"/>
                <a:cs typeface="Nunito"/>
                <a:sym typeface="Nunito"/>
              </a:rPr>
              <a:t>. Their actual motive was to build something to automate homes, but this later turned out to be a protocol implemented by many companies all over the world.</a:t>
            </a:r>
            <a:endParaRPr sz="135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0"/>
              </a:spcAft>
              <a:buNone/>
            </a:pPr>
            <a:r>
              <a:rPr lang="en" sz="1350">
                <a:solidFill>
                  <a:srgbClr val="273239"/>
                </a:solidFill>
                <a:highlight>
                  <a:srgbClr val="FFFFFF"/>
                </a:highlight>
                <a:latin typeface="Nunito"/>
                <a:ea typeface="Nunito"/>
                <a:cs typeface="Nunito"/>
                <a:sym typeface="Nunito"/>
              </a:rPr>
              <a:t>Later in 2008, it was acquired by Sigma Designs. After seeing the potential of this technology, many other companies( such as </a:t>
            </a:r>
            <a:r>
              <a:rPr lang="en" sz="1350" i="1">
                <a:solidFill>
                  <a:srgbClr val="273239"/>
                </a:solidFill>
                <a:highlight>
                  <a:srgbClr val="FFFFFF"/>
                </a:highlight>
                <a:latin typeface="Nunito"/>
                <a:ea typeface="Nunito"/>
                <a:cs typeface="Nunito"/>
                <a:sym typeface="Nunito"/>
              </a:rPr>
              <a:t>Z-Wave Russia, z wave Sverige ADI, Samsung SDS, Vivint, D-Link</a:t>
            </a:r>
            <a:r>
              <a:rPr lang="en" sz="1350">
                <a:solidFill>
                  <a:srgbClr val="273239"/>
                </a:solidFill>
                <a:highlight>
                  <a:srgbClr val="FFFFFF"/>
                </a:highlight>
                <a:latin typeface="Nunito"/>
                <a:ea typeface="Nunito"/>
                <a:cs typeface="Nunito"/>
                <a:sym typeface="Nunito"/>
              </a:rPr>
              <a:t>, and many other companies) also joined the alliance, which is formerly known as </a:t>
            </a:r>
            <a:r>
              <a:rPr lang="en" sz="1350" i="1">
                <a:solidFill>
                  <a:srgbClr val="273239"/>
                </a:solidFill>
                <a:highlight>
                  <a:srgbClr val="FFFFFF"/>
                </a:highlight>
                <a:latin typeface="Nunito"/>
                <a:ea typeface="Nunito"/>
                <a:cs typeface="Nunito"/>
                <a:sym typeface="Nunito"/>
              </a:rPr>
              <a:t>Z-Wave Alliance</a:t>
            </a:r>
            <a:r>
              <a:rPr lang="en" sz="1350">
                <a:solidFill>
                  <a:srgbClr val="273239"/>
                </a:solidFill>
                <a:highlight>
                  <a:srgbClr val="FFFFFF"/>
                </a:highlight>
                <a:latin typeface="Nunito"/>
                <a:ea typeface="Nunito"/>
                <a:cs typeface="Nunito"/>
                <a:sym typeface="Nunito"/>
              </a:rPr>
              <a:t>. </a:t>
            </a:r>
            <a:endParaRPr sz="135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0"/>
              </a:spcAft>
              <a:buNone/>
            </a:pPr>
            <a:r>
              <a:rPr lang="en" sz="1350" b="1">
                <a:solidFill>
                  <a:srgbClr val="273239"/>
                </a:solidFill>
                <a:highlight>
                  <a:srgbClr val="FFFFFF"/>
                </a:highlight>
                <a:latin typeface="Nunito"/>
                <a:ea typeface="Nunito"/>
                <a:cs typeface="Nunito"/>
                <a:sym typeface="Nunito"/>
              </a:rPr>
              <a:t>Currently Z-Wave: </a:t>
            </a:r>
            <a:r>
              <a:rPr lang="en" sz="1350">
                <a:solidFill>
                  <a:srgbClr val="273239"/>
                </a:solidFill>
                <a:highlight>
                  <a:srgbClr val="FFFFFF"/>
                </a:highlight>
                <a:latin typeface="Nunito"/>
                <a:ea typeface="Nunito"/>
                <a:cs typeface="Nunito"/>
                <a:sym typeface="Nunito"/>
              </a:rPr>
              <a:t>It currently has more than 300 companies, with more than 500+ devices that support 14 Million applications worldwide. </a:t>
            </a:r>
            <a:endParaRPr sz="1350">
              <a:solidFill>
                <a:srgbClr val="273239"/>
              </a:solidFill>
              <a:highlight>
                <a:srgbClr val="FFFFFF"/>
              </a:highlight>
              <a:latin typeface="Nunito"/>
              <a:ea typeface="Nunito"/>
              <a:cs typeface="Nunito"/>
              <a:sym typeface="Nunito"/>
            </a:endParaRPr>
          </a:p>
          <a:p>
            <a:pPr marL="0" lvl="0" indent="0" algn="l" rtl="0">
              <a:spcBef>
                <a:spcPts val="1200"/>
              </a:spcBef>
              <a:spcAft>
                <a:spcPts val="0"/>
              </a:spcAft>
              <a:buNone/>
            </a:pPr>
            <a:r>
              <a:rPr lang="en" sz="1100">
                <a:solidFill>
                  <a:srgbClr val="000000"/>
                </a:solidFill>
                <a:latin typeface="Arial"/>
                <a:ea typeface="Arial"/>
                <a:cs typeface="Arial"/>
                <a:sym typeface="Arial"/>
              </a:rPr>
              <a:t>Z-Wave is </a:t>
            </a:r>
            <a:r>
              <a:rPr lang="en" sz="1100" b="1">
                <a:solidFill>
                  <a:srgbClr val="000000"/>
                </a:solidFill>
                <a:latin typeface="Arial"/>
                <a:ea typeface="Arial"/>
                <a:cs typeface="Arial"/>
                <a:sym typeface="Arial"/>
              </a:rPr>
              <a:t>NOT industrial like HART</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It is mainly used in:</a:t>
            </a:r>
            <a:endParaRPr sz="1100">
              <a:solidFill>
                <a:srgbClr val="000000"/>
              </a:solidFill>
              <a:latin typeface="Arial"/>
              <a:ea typeface="Arial"/>
              <a:cs typeface="Arial"/>
              <a:sym typeface="Arial"/>
            </a:endParaRPr>
          </a:p>
          <a:p>
            <a:pPr marL="457200" lvl="0" indent="-277495" algn="l" rtl="0">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 Smart homes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457200" lvl="0" indent="-277495" algn="l" rtl="0">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 Smart buildings</a:t>
            </a:r>
            <a:endParaRPr sz="1100">
              <a:solidFill>
                <a:srgbClr val="000000"/>
              </a:solidFill>
              <a:latin typeface="Arial"/>
              <a:ea typeface="Arial"/>
              <a:cs typeface="Arial"/>
              <a:sym typeface="Arial"/>
            </a:endParaRPr>
          </a:p>
          <a:p>
            <a:pPr marL="0" lvl="0" indent="0" algn="just" rtl="0">
              <a:lnSpc>
                <a:spcPct val="120000"/>
              </a:lnSpc>
              <a:spcBef>
                <a:spcPts val="1200"/>
              </a:spcBef>
              <a:spcAft>
                <a:spcPts val="0"/>
              </a:spcAft>
              <a:buNone/>
            </a:pPr>
            <a:endParaRPr sz="1350">
              <a:solidFill>
                <a:srgbClr val="273239"/>
              </a:solidFill>
              <a:highlight>
                <a:srgbClr val="FFFFFF"/>
              </a:highlight>
              <a:latin typeface="Nunito"/>
              <a:ea typeface="Nunito"/>
              <a:cs typeface="Nunito"/>
              <a:sym typeface="Nunito"/>
            </a:endParaRPr>
          </a:p>
          <a:p>
            <a:pPr marL="0" lvl="0" indent="0" algn="l" rtl="0">
              <a:spcBef>
                <a:spcPts val="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81" name="Google Shape;281;p48"/>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2" name="Google Shape;282;p48"/>
          <p:cNvPicPr preferRelativeResize="0"/>
          <p:nvPr/>
        </p:nvPicPr>
        <p:blipFill>
          <a:blip r:embed="rId3">
            <a:alphaModFix/>
          </a:blip>
          <a:stretch>
            <a:fillRect/>
          </a:stretch>
        </p:blipFill>
        <p:spPr>
          <a:xfrm>
            <a:off x="248400" y="419575"/>
            <a:ext cx="8459625" cy="41794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9"/>
          <p:cNvSpPr txBox="1">
            <a:spLocks noGrp="1"/>
          </p:cNvSpPr>
          <p:nvPr>
            <p:ph type="body" idx="1"/>
          </p:nvPr>
        </p:nvSpPr>
        <p:spPr>
          <a:xfrm>
            <a:off x="819150" y="347250"/>
            <a:ext cx="7505700" cy="4383900"/>
          </a:xfrm>
          <a:prstGeom prst="rect">
            <a:avLst/>
          </a:prstGeom>
        </p:spPr>
        <p:txBody>
          <a:bodyPr spcFirstLastPara="1" wrap="square" lIns="91425" tIns="91425" rIns="91425" bIns="91425" anchor="t" anchorCtr="0">
            <a:normAutofit fontScale="77500" lnSpcReduction="20000"/>
          </a:bodyPr>
          <a:lstStyle/>
          <a:p>
            <a:pPr marL="0" lvl="0" indent="0" algn="just" rtl="0">
              <a:lnSpc>
                <a:spcPct val="140000"/>
              </a:lnSpc>
              <a:spcBef>
                <a:spcPts val="1800"/>
              </a:spcBef>
              <a:spcAft>
                <a:spcPts val="0"/>
              </a:spcAft>
              <a:buNone/>
            </a:pPr>
            <a:r>
              <a:rPr lang="en" sz="1500" b="1">
                <a:solidFill>
                  <a:srgbClr val="273239"/>
                </a:solidFill>
                <a:highlight>
                  <a:srgbClr val="FFFFFF"/>
                </a:highlight>
                <a:latin typeface="Nunito"/>
                <a:ea typeface="Nunito"/>
                <a:cs typeface="Nunito"/>
                <a:sym typeface="Nunito"/>
              </a:rPr>
              <a:t>Z-Wave Components :</a:t>
            </a:r>
            <a:endParaRPr sz="1500" b="1">
              <a:solidFill>
                <a:srgbClr val="273239"/>
              </a:solidFill>
              <a:highlight>
                <a:srgbClr val="FFFFFF"/>
              </a:highlight>
              <a:latin typeface="Nunito"/>
              <a:ea typeface="Nunito"/>
              <a:cs typeface="Nunito"/>
              <a:sym typeface="Nunito"/>
            </a:endParaRPr>
          </a:p>
          <a:p>
            <a:pPr marL="0" lvl="0" indent="0" algn="just" rtl="0">
              <a:lnSpc>
                <a:spcPct val="120000"/>
              </a:lnSpc>
              <a:spcBef>
                <a:spcPts val="1800"/>
              </a:spcBef>
              <a:spcAft>
                <a:spcPts val="0"/>
              </a:spcAft>
              <a:buNone/>
            </a:pPr>
            <a:r>
              <a:rPr lang="en" sz="1350">
                <a:solidFill>
                  <a:srgbClr val="273239"/>
                </a:solidFill>
                <a:highlight>
                  <a:srgbClr val="FFFFFF"/>
                </a:highlight>
                <a:latin typeface="Nunito"/>
                <a:ea typeface="Nunito"/>
                <a:cs typeface="Nunito"/>
                <a:sym typeface="Nunito"/>
              </a:rPr>
              <a:t>The components of z-wave include controllers, slave nodes, Home ID, Node ID, and routing tables.</a:t>
            </a:r>
            <a:endParaRPr sz="1350">
              <a:solidFill>
                <a:srgbClr val="273239"/>
              </a:solidFill>
              <a:highlight>
                <a:srgbClr val="FFFFFF"/>
              </a:highlight>
              <a:latin typeface="Nunito"/>
              <a:ea typeface="Nunito"/>
              <a:cs typeface="Nunito"/>
              <a:sym typeface="Nunito"/>
            </a:endParaRPr>
          </a:p>
          <a:p>
            <a:pPr marL="685800" lvl="0" indent="-288607" algn="just" rtl="0">
              <a:lnSpc>
                <a:spcPct val="158000"/>
              </a:lnSpc>
              <a:spcBef>
                <a:spcPts val="80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Controllers:</a:t>
            </a:r>
            <a:r>
              <a:rPr lang="en" sz="1350">
                <a:solidFill>
                  <a:srgbClr val="273239"/>
                </a:solidFill>
                <a:highlight>
                  <a:srgbClr val="FFFFFF"/>
                </a:highlight>
                <a:latin typeface="Nunito"/>
                <a:ea typeface="Nunito"/>
                <a:cs typeface="Nunito"/>
                <a:sym typeface="Nunito"/>
              </a:rPr>
              <a:t> A controller is a unit that has the ability to compile a routing table of the network and can calculate routes to the different nodes. There are two types of controllers - </a:t>
            </a:r>
            <a:endParaRPr sz="1350">
              <a:solidFill>
                <a:srgbClr val="273239"/>
              </a:solidFill>
              <a:highlight>
                <a:srgbClr val="FFFFFF"/>
              </a:highlight>
              <a:latin typeface="Nunito"/>
              <a:ea typeface="Nunito"/>
              <a:cs typeface="Nunito"/>
              <a:sym typeface="Nunito"/>
            </a:endParaRPr>
          </a:p>
          <a:p>
            <a:pPr marL="1854200" lvl="1" indent="-288607" algn="l" rtl="0">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Primary controller: Primary controller is the device that contains a description of the z-wave network and controls the output. It assigns network ID or Home ID or Node ID to the z-wave during the enrollment process.  </a:t>
            </a:r>
            <a:endParaRPr sz="1350">
              <a:solidFill>
                <a:srgbClr val="273239"/>
              </a:solidFill>
              <a:highlight>
                <a:srgbClr val="FFFFFF"/>
              </a:highlight>
              <a:latin typeface="Nunito"/>
              <a:ea typeface="Nunito"/>
              <a:cs typeface="Nunito"/>
              <a:sym typeface="Nunito"/>
            </a:endParaRPr>
          </a:p>
          <a:p>
            <a:pPr marL="1854200" lvl="1" indent="-288607" algn="l" rtl="0">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Secondary controller: It also has a Network ID and it remains constant to maintain routing tables.</a:t>
            </a:r>
            <a:endParaRPr sz="1350">
              <a:solidFill>
                <a:srgbClr val="273239"/>
              </a:solidFill>
              <a:highlight>
                <a:srgbClr val="FFFFFF"/>
              </a:highlight>
              <a:latin typeface="Nunito"/>
              <a:ea typeface="Nunito"/>
              <a:cs typeface="Nunito"/>
              <a:sym typeface="Nunito"/>
            </a:endParaRPr>
          </a:p>
          <a:p>
            <a:pPr marL="685800" lvl="0" indent="-288607" algn="just"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Slave nodes: </a:t>
            </a:r>
            <a:r>
              <a:rPr lang="en" sz="1350">
                <a:solidFill>
                  <a:srgbClr val="273239"/>
                </a:solidFill>
                <a:highlight>
                  <a:srgbClr val="FFFFFF"/>
                </a:highlight>
                <a:latin typeface="Nunito"/>
                <a:ea typeface="Nunito"/>
                <a:cs typeface="Nunito"/>
                <a:sym typeface="Nunito"/>
              </a:rPr>
              <a:t> Slave nodes are the nodes that do not contain routing tables but may contain a network map. slave nodes have the ability to receive frames and respond to them if necessary.</a:t>
            </a:r>
            <a:endParaRPr sz="1350">
              <a:solidFill>
                <a:srgbClr val="273239"/>
              </a:solidFill>
              <a:highlight>
                <a:srgbClr val="FFFFFF"/>
              </a:highlight>
              <a:latin typeface="Nunito"/>
              <a:ea typeface="Nunito"/>
              <a:cs typeface="Nunito"/>
              <a:sym typeface="Nunito"/>
            </a:endParaRPr>
          </a:p>
          <a:p>
            <a:pPr marL="685800" lvl="0" indent="-288607" algn="just"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Home ID:</a:t>
            </a:r>
            <a:r>
              <a:rPr lang="en" sz="1350">
                <a:solidFill>
                  <a:srgbClr val="273239"/>
                </a:solidFill>
                <a:highlight>
                  <a:srgbClr val="FFFFFF"/>
                </a:highlight>
                <a:latin typeface="Nunito"/>
                <a:ea typeface="Nunito"/>
                <a:cs typeface="Nunito"/>
                <a:sym typeface="Nunito"/>
              </a:rPr>
              <a:t>  The ID used by z-Wave for the separation of the network from each other is called Home ID. It is created by the primary controller and is 32-bit in size. </a:t>
            </a:r>
            <a:endParaRPr sz="1350">
              <a:solidFill>
                <a:srgbClr val="273239"/>
              </a:solidFill>
              <a:highlight>
                <a:srgbClr val="FFFFFF"/>
              </a:highlight>
              <a:latin typeface="Nunito"/>
              <a:ea typeface="Nunito"/>
              <a:cs typeface="Nunito"/>
              <a:sym typeface="Nunito"/>
            </a:endParaRPr>
          </a:p>
          <a:p>
            <a:pPr marL="685800" lvl="0" indent="-288607" algn="just"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Node ID: </a:t>
            </a:r>
            <a:r>
              <a:rPr lang="en" sz="1350">
                <a:solidFill>
                  <a:srgbClr val="273239"/>
                </a:solidFill>
                <a:highlight>
                  <a:srgbClr val="FFFFFF"/>
                </a:highlight>
                <a:latin typeface="Nunito"/>
                <a:ea typeface="Nunito"/>
                <a:cs typeface="Nunito"/>
                <a:sym typeface="Nunito"/>
              </a:rPr>
              <a:t> The identification number or an address that is given to every device during the process of inclusion is called Node ID. </a:t>
            </a:r>
            <a:endParaRPr sz="1350">
              <a:solidFill>
                <a:srgbClr val="273239"/>
              </a:solidFill>
              <a:highlight>
                <a:srgbClr val="FFFFFF"/>
              </a:highlight>
              <a:latin typeface="Nunito"/>
              <a:ea typeface="Nunito"/>
              <a:cs typeface="Nunito"/>
              <a:sym typeface="Nunito"/>
            </a:endParaRPr>
          </a:p>
          <a:p>
            <a:pPr marL="685800" lvl="0" indent="-288607" algn="just"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Routing table:  </a:t>
            </a:r>
            <a:r>
              <a:rPr lang="en" sz="1350">
                <a:solidFill>
                  <a:srgbClr val="273239"/>
                </a:solidFill>
                <a:highlight>
                  <a:srgbClr val="FFFFFF"/>
                </a:highlight>
                <a:latin typeface="Nunito"/>
                <a:ea typeface="Nunito"/>
                <a:cs typeface="Nunito"/>
                <a:sym typeface="Nunito"/>
              </a:rPr>
              <a:t>It is used by controllers for calculating routes. </a:t>
            </a:r>
            <a:endParaRPr sz="135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graphicFrame>
        <p:nvGraphicFramePr>
          <p:cNvPr id="292" name="Google Shape;292;p50"/>
          <p:cNvGraphicFramePr/>
          <p:nvPr/>
        </p:nvGraphicFramePr>
        <p:xfrm>
          <a:off x="253675" y="383900"/>
          <a:ext cx="7095875" cy="2690793"/>
        </p:xfrm>
        <a:graphic>
          <a:graphicData uri="http://schemas.openxmlformats.org/drawingml/2006/table">
            <a:tbl>
              <a:tblPr>
                <a:noFill/>
                <a:tableStyleId>{DD49FAB4-2609-4524-91B9-3141F2EFCF11}</a:tableStyleId>
              </a:tblPr>
              <a:tblGrid>
                <a:gridCol w="2594525">
                  <a:extLst>
                    <a:ext uri="{9D8B030D-6E8A-4147-A177-3AD203B41FA5}">
                      <a16:colId xmlns:a16="http://schemas.microsoft.com/office/drawing/2014/main" val="20000"/>
                    </a:ext>
                  </a:extLst>
                </a:gridCol>
                <a:gridCol w="4501350">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 sz="1100" b="1"/>
                        <a:t>Feature</a:t>
                      </a:r>
                      <a:endParaRPr sz="1100" b="1"/>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Z-Wave</a:t>
                      </a:r>
                      <a:endParaRPr sz="1100" b="1"/>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t>Frequency</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spcBef>
                          <a:spcPts val="0"/>
                        </a:spcBef>
                        <a:spcAft>
                          <a:spcPts val="0"/>
                        </a:spcAft>
                        <a:buNone/>
                      </a:pPr>
                      <a:r>
                        <a:rPr lang="en"/>
                        <a:t>~900 MHz (sub-GHz)</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t>Range</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spcBef>
                          <a:spcPts val="0"/>
                        </a:spcBef>
                        <a:spcAft>
                          <a:spcPts val="0"/>
                        </a:spcAft>
                        <a:buNone/>
                      </a:pPr>
                      <a:r>
                        <a:rPr lang="en"/>
                        <a:t>30–100 meters</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t>Data rate</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spcBef>
                          <a:spcPts val="0"/>
                        </a:spcBef>
                        <a:spcAft>
                          <a:spcPts val="0"/>
                        </a:spcAft>
                        <a:buNone/>
                      </a:pPr>
                      <a:r>
                        <a:rPr lang="en"/>
                        <a:t>Up to 100 kbps</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a:t>Topology</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spcBef>
                          <a:spcPts val="0"/>
                        </a:spcBef>
                        <a:spcAft>
                          <a:spcPts val="0"/>
                        </a:spcAft>
                        <a:buNone/>
                      </a:pPr>
                      <a:r>
                        <a:rPr lang="en"/>
                        <a:t>Mesh</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a:t>Power</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spcBef>
                          <a:spcPts val="0"/>
                        </a:spcBef>
                        <a:spcAft>
                          <a:spcPts val="0"/>
                        </a:spcAft>
                        <a:buNone/>
                      </a:pPr>
                      <a:r>
                        <a:rPr lang="en"/>
                        <a:t>Battery powered</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a:t>Max devices</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tc>
                  <a:txBody>
                    <a:bodyPr/>
                    <a:lstStyle/>
                    <a:p>
                      <a:pPr marL="0" lvl="0" indent="0" algn="l" rtl="0">
                        <a:spcBef>
                          <a:spcPts val="0"/>
                        </a:spcBef>
                        <a:spcAft>
                          <a:spcPts val="0"/>
                        </a:spcAft>
                        <a:buNone/>
                      </a:pPr>
                      <a:r>
                        <a:rPr lang="en"/>
                        <a:t>232 per network</a:t>
                      </a:r>
                      <a:endParaRPr/>
                    </a:p>
                  </a:txBody>
                  <a:tcPr marL="91425" marR="91425" marT="91425" marB="91425">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93" name="Google Shape;293;p50"/>
          <p:cNvSpPr txBox="1"/>
          <p:nvPr/>
        </p:nvSpPr>
        <p:spPr>
          <a:xfrm>
            <a:off x="484675" y="3155050"/>
            <a:ext cx="3000000" cy="1700700"/>
          </a:xfrm>
          <a:prstGeom prst="rect">
            <a:avLst/>
          </a:prstGeom>
          <a:noFill/>
          <a:ln>
            <a:noFill/>
          </a:ln>
        </p:spPr>
        <p:txBody>
          <a:bodyPr spcFirstLastPara="1" wrap="square" lIns="91425" tIns="91425" rIns="91425" bIns="91425" anchor="t" anchorCtr="0">
            <a:spAutoFit/>
          </a:bodyPr>
          <a:lstStyle/>
          <a:p>
            <a:pPr marL="0" lvl="0" indent="0" algn="just" rtl="0">
              <a:lnSpc>
                <a:spcPct val="140000"/>
              </a:lnSpc>
              <a:spcBef>
                <a:spcPts val="0"/>
              </a:spcBef>
              <a:spcAft>
                <a:spcPts val="0"/>
              </a:spcAft>
              <a:buNone/>
            </a:pPr>
            <a:r>
              <a:rPr lang="en" sz="1500" b="1">
                <a:solidFill>
                  <a:srgbClr val="273239"/>
                </a:solidFill>
                <a:highlight>
                  <a:srgbClr val="FFFFFF"/>
                </a:highlight>
                <a:latin typeface="Nunito"/>
                <a:ea typeface="Nunito"/>
                <a:cs typeface="Nunito"/>
                <a:sym typeface="Nunito"/>
              </a:rPr>
              <a:t> Applications of Z-Wave :</a:t>
            </a:r>
            <a:endParaRPr sz="1500" b="1">
              <a:solidFill>
                <a:srgbClr val="273239"/>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Home automation</a:t>
            </a:r>
            <a:endParaRPr sz="1350">
              <a:solidFill>
                <a:srgbClr val="273239"/>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Water management using flood sensors</a:t>
            </a:r>
            <a:endParaRPr sz="1350">
              <a:solidFill>
                <a:srgbClr val="273239"/>
              </a:solidFill>
              <a:highlight>
                <a:srgbClr val="FFFFFF"/>
              </a:highlight>
              <a:latin typeface="Nunito"/>
              <a:ea typeface="Nunito"/>
              <a:cs typeface="Nunito"/>
              <a:sym typeface="Nunito"/>
            </a:endParaRPr>
          </a:p>
          <a:p>
            <a:pPr marL="685800" lvl="0" indent="-314325" algn="just" rtl="0">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Fingerprint scanner</a:t>
            </a:r>
            <a:endParaRPr sz="1350">
              <a:solidFill>
                <a:srgbClr val="273239"/>
              </a:solidFill>
              <a:highlight>
                <a:srgbClr val="FFFFFF"/>
              </a:highlight>
              <a:latin typeface="Nunito"/>
              <a:ea typeface="Nunito"/>
              <a:cs typeface="Nunito"/>
              <a:sym typeface="Nunito"/>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1"/>
          <p:cNvSpPr txBox="1">
            <a:spLocks noGrp="1"/>
          </p:cNvSpPr>
          <p:nvPr>
            <p:ph type="body" idx="1"/>
          </p:nvPr>
        </p:nvSpPr>
        <p:spPr>
          <a:xfrm>
            <a:off x="1410675" y="2220900"/>
            <a:ext cx="7421700" cy="1446900"/>
          </a:xfrm>
          <a:prstGeom prst="rect">
            <a:avLst/>
          </a:prstGeom>
        </p:spPr>
        <p:txBody>
          <a:bodyPr spcFirstLastPara="1" wrap="square" lIns="91425" tIns="91425" rIns="91425" bIns="91425" anchor="t" anchorCtr="0">
            <a:normAutofit/>
          </a:bodyPr>
          <a:lstStyle/>
          <a:p>
            <a:pPr marL="0" lvl="0" indent="0" algn="just" rtl="0">
              <a:lnSpc>
                <a:spcPct val="120000"/>
              </a:lnSpc>
              <a:spcBef>
                <a:spcPts val="0"/>
              </a:spcBef>
              <a:spcAft>
                <a:spcPts val="800"/>
              </a:spcAft>
              <a:buClr>
                <a:schemeClr val="dk1"/>
              </a:buClr>
              <a:buSzPts val="1100"/>
              <a:buFont typeface="Arial"/>
              <a:buNone/>
            </a:pPr>
            <a:r>
              <a:rPr lang="en" sz="4800">
                <a:solidFill>
                  <a:srgbClr val="273239"/>
                </a:solidFill>
                <a:highlight>
                  <a:srgbClr val="FFFFFF"/>
                </a:highlight>
                <a:latin typeface="Times New Roman"/>
                <a:ea typeface="Times New Roman"/>
                <a:cs typeface="Times New Roman"/>
                <a:sym typeface="Times New Roman"/>
              </a:rPr>
              <a:t>Network Layer Protocol</a:t>
            </a:r>
            <a:endParaRPr sz="4800">
              <a:latin typeface="Times New Roman"/>
              <a:ea typeface="Times New Roman"/>
              <a:cs typeface="Times New Roman"/>
              <a:sym typeface="Times New Roman"/>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2"/>
          <p:cNvSpPr txBox="1">
            <a:spLocks noGrp="1"/>
          </p:cNvSpPr>
          <p:nvPr>
            <p:ph type="body" idx="1"/>
          </p:nvPr>
        </p:nvSpPr>
        <p:spPr>
          <a:xfrm>
            <a:off x="311700" y="86800"/>
            <a:ext cx="8520600" cy="5056800"/>
          </a:xfrm>
          <a:prstGeom prst="rect">
            <a:avLst/>
          </a:prstGeom>
        </p:spPr>
        <p:txBody>
          <a:bodyPr spcFirstLastPara="1" wrap="square" lIns="91425" tIns="91425" rIns="91425" bIns="91425" anchor="t" anchorCtr="0">
            <a:normAutofit fontScale="85000" lnSpcReduction="10000"/>
          </a:bodyPr>
          <a:lstStyle/>
          <a:p>
            <a:pPr marL="0" lvl="0" indent="0" algn="just" rtl="0">
              <a:lnSpc>
                <a:spcPct val="120000"/>
              </a:lnSpc>
              <a:spcBef>
                <a:spcPts val="0"/>
              </a:spcBef>
              <a:spcAft>
                <a:spcPts val="0"/>
              </a:spcAft>
              <a:buClr>
                <a:schemeClr val="dk1"/>
              </a:buClr>
              <a:buSzPct val="81481"/>
              <a:buFont typeface="Arial"/>
              <a:buNone/>
            </a:pPr>
            <a:r>
              <a:rPr lang="en" sz="1350">
                <a:solidFill>
                  <a:srgbClr val="273239"/>
                </a:solidFill>
                <a:highlight>
                  <a:srgbClr val="FFFFFF"/>
                </a:highlight>
                <a:latin typeface="Nunito"/>
                <a:ea typeface="Nunito"/>
                <a:cs typeface="Nunito"/>
                <a:sym typeface="Nunito"/>
              </a:rPr>
              <a:t>Network Layer is responsible for the transmission of data or communication from one host to another host connected in a network. Rather than describing how data is transferred, it implements the technique for efficient transmission. In order to provide efficient communication protocols are used at the network layer. The data is being grouped into packets or in the case of extremely large data it is divided into smaller sub packets. Each protocol used has specific features and advantages. The below article covers in detail the protocols used at the network layer.</a:t>
            </a:r>
            <a:endParaRPr sz="1350">
              <a:solidFill>
                <a:srgbClr val="273239"/>
              </a:solidFill>
              <a:highlight>
                <a:srgbClr val="FFFFFF"/>
              </a:highlight>
              <a:latin typeface="Nunito"/>
              <a:ea typeface="Nunito"/>
              <a:cs typeface="Nunito"/>
              <a:sym typeface="Nunito"/>
            </a:endParaRPr>
          </a:p>
          <a:p>
            <a:pPr marL="0" lvl="0" indent="0" algn="l" rtl="0">
              <a:lnSpc>
                <a:spcPct val="116666"/>
              </a:lnSpc>
              <a:spcBef>
                <a:spcPts val="800"/>
              </a:spcBef>
              <a:spcAft>
                <a:spcPts val="0"/>
              </a:spcAft>
              <a:buClr>
                <a:schemeClr val="dk1"/>
              </a:buClr>
              <a:buSzPct val="61111"/>
              <a:buFont typeface="Arial"/>
              <a:buNone/>
            </a:pPr>
            <a:r>
              <a:rPr lang="en" b="1">
                <a:solidFill>
                  <a:srgbClr val="273239"/>
                </a:solidFill>
                <a:highlight>
                  <a:srgbClr val="FFFFFF"/>
                </a:highlight>
                <a:latin typeface="Nunito"/>
                <a:ea typeface="Nunito"/>
                <a:cs typeface="Nunito"/>
                <a:sym typeface="Nunito"/>
              </a:rPr>
              <a:t>Functions of Network Layer</a:t>
            </a:r>
            <a:endParaRPr b="1">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ct val="81481"/>
              <a:buFont typeface="Arial"/>
              <a:buNone/>
            </a:pPr>
            <a:r>
              <a:rPr lang="en" sz="1350">
                <a:solidFill>
                  <a:srgbClr val="273239"/>
                </a:solidFill>
                <a:highlight>
                  <a:srgbClr val="FFFFFF"/>
                </a:highlight>
                <a:latin typeface="Nunito"/>
                <a:ea typeface="Nunito"/>
                <a:cs typeface="Nunito"/>
                <a:sym typeface="Nunito"/>
              </a:rPr>
              <a:t>The network layer is responsible for providing the below-given tasks:</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80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Logical Addressing: </a:t>
            </a:r>
            <a:r>
              <a:rPr lang="en" sz="1350">
                <a:solidFill>
                  <a:srgbClr val="273239"/>
                </a:solidFill>
                <a:highlight>
                  <a:srgbClr val="FFFFFF"/>
                </a:highlight>
                <a:latin typeface="Nunito"/>
                <a:ea typeface="Nunito"/>
                <a:cs typeface="Nunito"/>
                <a:sym typeface="Nunito"/>
              </a:rPr>
              <a:t>Each device on the network needs to be identified uniquely. Therefore network layer provides an addressing scheme to identify the device. It places the IP address of every sender and the receiver in the header. This header consists of the network ID and host ID of the network.</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Host-to-host Delivery of Data: </a:t>
            </a:r>
            <a:r>
              <a:rPr lang="en" sz="1350">
                <a:solidFill>
                  <a:srgbClr val="273239"/>
                </a:solidFill>
                <a:highlight>
                  <a:srgbClr val="FFFFFF"/>
                </a:highlight>
                <a:latin typeface="Nunito"/>
                <a:ea typeface="Nunito"/>
                <a:cs typeface="Nunito"/>
                <a:sym typeface="Nunito"/>
              </a:rPr>
              <a:t>The network layer ensures that the packet is being delivered successfully from the sender to the receiver. This layer makes sure that the packet reaches the intended recipient only.</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Fragmentation: </a:t>
            </a:r>
            <a:r>
              <a:rPr lang="en" sz="1350">
                <a:solidFill>
                  <a:srgbClr val="273239"/>
                </a:solidFill>
                <a:highlight>
                  <a:srgbClr val="FFFFFF"/>
                </a:highlight>
                <a:latin typeface="Nunito"/>
                <a:ea typeface="Nunito"/>
                <a:cs typeface="Nunito"/>
                <a:sym typeface="Nunito"/>
              </a:rPr>
              <a:t>In order to transmit the larger data from sender to receiver, the network layer fragments it into smaller packets. Fragmentation is required because every node has its own fixed capacity for receiving data.</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Congestion Control: </a:t>
            </a:r>
            <a:r>
              <a:rPr lang="en" sz="1350">
                <a:solidFill>
                  <a:srgbClr val="273239"/>
                </a:solidFill>
                <a:highlight>
                  <a:srgbClr val="FFFFFF"/>
                </a:highlight>
                <a:latin typeface="Nunito"/>
                <a:ea typeface="Nunito"/>
                <a:cs typeface="Nunito"/>
                <a:sym typeface="Nunito"/>
              </a:rPr>
              <a:t>Congestion is defined as a situation where the router is not able to route the packets property which results in aggregation of packets in the network. Congestion occurs when a large amount of packets are flooded in the network. Therefore network layer controls the congestion of data packets in the network.</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Routing and Forwarding: </a:t>
            </a:r>
            <a:r>
              <a:rPr lang="en" sz="1350">
                <a:solidFill>
                  <a:srgbClr val="273239"/>
                </a:solidFill>
                <a:highlight>
                  <a:srgbClr val="FFFFFF"/>
                </a:highlight>
                <a:latin typeface="Nunito"/>
                <a:ea typeface="Nunito"/>
                <a:cs typeface="Nunito"/>
                <a:sym typeface="Nunito"/>
              </a:rPr>
              <a:t>Routing is the process that decides the route for transmission of packets from sender to receiver. It mostly chooses the shortest path between the sender and the receiver. Routing protocols that are mostly used are path vector, distance vector routing, link state routing, etc.</a:t>
            </a:r>
            <a:endParaRPr sz="135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3"/>
          <p:cNvSpPr txBox="1">
            <a:spLocks noGrp="1"/>
          </p:cNvSpPr>
          <p:nvPr>
            <p:ph type="body" idx="1"/>
          </p:nvPr>
        </p:nvSpPr>
        <p:spPr>
          <a:xfrm>
            <a:off x="311700" y="0"/>
            <a:ext cx="8520600" cy="5100000"/>
          </a:xfrm>
          <a:prstGeom prst="rect">
            <a:avLst/>
          </a:prstGeom>
        </p:spPr>
        <p:txBody>
          <a:bodyPr spcFirstLastPara="1" wrap="square" lIns="91425" tIns="91425" rIns="91425" bIns="91425" anchor="t" anchorCtr="0">
            <a:normAutofit fontScale="77500" lnSpcReduction="20000"/>
          </a:bodyPr>
          <a:lstStyle/>
          <a:p>
            <a:pPr marL="0" lvl="0" indent="0" algn="l" rtl="0">
              <a:lnSpc>
                <a:spcPct val="132352"/>
              </a:lnSpc>
              <a:spcBef>
                <a:spcPts val="1800"/>
              </a:spcBef>
              <a:spcAft>
                <a:spcPts val="0"/>
              </a:spcAft>
              <a:buClr>
                <a:schemeClr val="dk1"/>
              </a:buClr>
              <a:buSzPct val="64705"/>
              <a:buFont typeface="Arial"/>
              <a:buNone/>
            </a:pPr>
            <a:r>
              <a:rPr lang="en" sz="1700">
                <a:solidFill>
                  <a:schemeClr val="dk1"/>
                </a:solidFill>
              </a:rPr>
              <a:t>nternet Protocol Version 4 (IPv4)</a:t>
            </a:r>
            <a:endParaRPr sz="1700">
              <a:solidFill>
                <a:schemeClr val="dk1"/>
              </a:solidFill>
            </a:endParaRPr>
          </a:p>
          <a:p>
            <a:pPr marL="0" lvl="0" indent="0" algn="l" rtl="0">
              <a:spcBef>
                <a:spcPts val="400"/>
              </a:spcBef>
              <a:spcAft>
                <a:spcPts val="0"/>
              </a:spcAft>
              <a:buClr>
                <a:schemeClr val="dk1"/>
              </a:buClr>
              <a:buSzPct val="91666"/>
              <a:buFont typeface="Arial"/>
              <a:buNone/>
            </a:pPr>
            <a:r>
              <a:rPr lang="en" sz="1200">
                <a:solidFill>
                  <a:schemeClr val="dk1"/>
                </a:solidFill>
                <a:latin typeface="Verdana"/>
                <a:ea typeface="Verdana"/>
                <a:cs typeface="Verdana"/>
                <a:sym typeface="Verdana"/>
              </a:rPr>
              <a:t>IPv4 is 32-bit addressing scheme used as TCP/IP host addressing mechanism. IP addressing enables every host on the TCP/IP network to be uniquely identifiable.</a:t>
            </a:r>
            <a:endParaRPr sz="1200">
              <a:solidFill>
                <a:schemeClr val="dk1"/>
              </a:solidFill>
              <a:latin typeface="Verdana"/>
              <a:ea typeface="Verdana"/>
              <a:cs typeface="Verdana"/>
              <a:sym typeface="Verdana"/>
            </a:endParaRPr>
          </a:p>
          <a:p>
            <a:pPr marL="0" lvl="0" indent="0" algn="l" rtl="0">
              <a:spcBef>
                <a:spcPts val="1200"/>
              </a:spcBef>
              <a:spcAft>
                <a:spcPts val="0"/>
              </a:spcAft>
              <a:buClr>
                <a:schemeClr val="dk1"/>
              </a:buClr>
              <a:buSzPct val="91666"/>
              <a:buFont typeface="Arial"/>
              <a:buNone/>
            </a:pPr>
            <a:r>
              <a:rPr lang="en" sz="1200">
                <a:solidFill>
                  <a:schemeClr val="dk1"/>
                </a:solidFill>
                <a:latin typeface="Verdana"/>
                <a:ea typeface="Verdana"/>
                <a:cs typeface="Verdana"/>
                <a:sym typeface="Verdana"/>
              </a:rPr>
              <a:t>IPv4 provides hierarchical addressing scheme which enables it to divide the network into sub-networks, each with well-defined number of hosts. IP addresses are divided into many categories:</a:t>
            </a:r>
            <a:endParaRPr sz="1200">
              <a:solidFill>
                <a:schemeClr val="dk1"/>
              </a:solidFill>
              <a:latin typeface="Verdana"/>
              <a:ea typeface="Verdana"/>
              <a:cs typeface="Verdana"/>
              <a:sym typeface="Verdana"/>
            </a:endParaRPr>
          </a:p>
          <a:p>
            <a:pPr marL="457200" lvl="0" indent="-228600" algn="just" rtl="0">
              <a:spcBef>
                <a:spcPts val="1200"/>
              </a:spcBef>
              <a:spcAft>
                <a:spcPts val="0"/>
              </a:spcAft>
              <a:buClr>
                <a:schemeClr val="dk1"/>
              </a:buClr>
              <a:buSzPct val="100000"/>
              <a:buFont typeface="Verdana"/>
              <a:buNone/>
            </a:pPr>
            <a:r>
              <a:rPr lang="en" sz="1200" b="1">
                <a:solidFill>
                  <a:schemeClr val="dk1"/>
                </a:solidFill>
                <a:latin typeface="Verdana"/>
                <a:ea typeface="Verdana"/>
                <a:cs typeface="Verdana"/>
                <a:sym typeface="Verdana"/>
              </a:rPr>
              <a:t>Class A</a:t>
            </a:r>
            <a:r>
              <a:rPr lang="en" sz="1200">
                <a:solidFill>
                  <a:schemeClr val="dk1"/>
                </a:solidFill>
                <a:latin typeface="Verdana"/>
                <a:ea typeface="Verdana"/>
                <a:cs typeface="Verdana"/>
                <a:sym typeface="Verdana"/>
              </a:rPr>
              <a:t>  - it uses first octet for network addresses and last three octets for host addressing</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ct val="100000"/>
              <a:buFont typeface="Verdana"/>
              <a:buNone/>
            </a:pPr>
            <a:r>
              <a:rPr lang="en" sz="1200" b="1">
                <a:solidFill>
                  <a:schemeClr val="dk1"/>
                </a:solidFill>
                <a:latin typeface="Verdana"/>
                <a:ea typeface="Verdana"/>
                <a:cs typeface="Verdana"/>
                <a:sym typeface="Verdana"/>
              </a:rPr>
              <a:t>Class B</a:t>
            </a:r>
            <a:r>
              <a:rPr lang="en" sz="1200">
                <a:solidFill>
                  <a:schemeClr val="dk1"/>
                </a:solidFill>
                <a:latin typeface="Verdana"/>
                <a:ea typeface="Verdana"/>
                <a:cs typeface="Verdana"/>
                <a:sym typeface="Verdana"/>
              </a:rPr>
              <a:t>  - it uses first two octets for network addresses and last two for host addressing</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ct val="100000"/>
              <a:buFont typeface="Verdana"/>
              <a:buNone/>
            </a:pPr>
            <a:r>
              <a:rPr lang="en" sz="1200" b="1">
                <a:solidFill>
                  <a:schemeClr val="dk1"/>
                </a:solidFill>
                <a:latin typeface="Verdana"/>
                <a:ea typeface="Verdana"/>
                <a:cs typeface="Verdana"/>
                <a:sym typeface="Verdana"/>
              </a:rPr>
              <a:t>Class C</a:t>
            </a:r>
            <a:r>
              <a:rPr lang="en" sz="1200">
                <a:solidFill>
                  <a:schemeClr val="dk1"/>
                </a:solidFill>
                <a:latin typeface="Verdana"/>
                <a:ea typeface="Verdana"/>
                <a:cs typeface="Verdana"/>
                <a:sym typeface="Verdana"/>
              </a:rPr>
              <a:t>  - it uses first three octets for network addresses and last one for host addressing</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ct val="100000"/>
              <a:buFont typeface="Verdana"/>
              <a:buNone/>
            </a:pPr>
            <a:r>
              <a:rPr lang="en" sz="1200" b="1">
                <a:solidFill>
                  <a:schemeClr val="dk1"/>
                </a:solidFill>
                <a:latin typeface="Verdana"/>
                <a:ea typeface="Verdana"/>
                <a:cs typeface="Verdana"/>
                <a:sym typeface="Verdana"/>
              </a:rPr>
              <a:t>Class D</a:t>
            </a:r>
            <a:r>
              <a:rPr lang="en" sz="1200">
                <a:solidFill>
                  <a:schemeClr val="dk1"/>
                </a:solidFill>
                <a:latin typeface="Verdana"/>
                <a:ea typeface="Verdana"/>
                <a:cs typeface="Verdana"/>
                <a:sym typeface="Verdana"/>
              </a:rPr>
              <a:t>  - it provides flat IP addressing scheme in contrast to hierarchical structure for above three.</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ct val="100000"/>
              <a:buFont typeface="Verdana"/>
              <a:buNone/>
            </a:pPr>
            <a:r>
              <a:rPr lang="en" sz="1200" b="1">
                <a:solidFill>
                  <a:schemeClr val="dk1"/>
                </a:solidFill>
                <a:latin typeface="Verdana"/>
                <a:ea typeface="Verdana"/>
                <a:cs typeface="Verdana"/>
                <a:sym typeface="Verdana"/>
              </a:rPr>
              <a:t>Class E</a:t>
            </a:r>
            <a:r>
              <a:rPr lang="en" sz="1200">
                <a:solidFill>
                  <a:schemeClr val="dk1"/>
                </a:solidFill>
                <a:latin typeface="Verdana"/>
                <a:ea typeface="Verdana"/>
                <a:cs typeface="Verdana"/>
                <a:sym typeface="Verdana"/>
              </a:rPr>
              <a:t>  - It is used as experimental.</a:t>
            </a:r>
            <a:endParaRPr sz="1200">
              <a:solidFill>
                <a:schemeClr val="dk1"/>
              </a:solidFill>
              <a:latin typeface="Verdana"/>
              <a:ea typeface="Verdana"/>
              <a:cs typeface="Verdana"/>
              <a:sym typeface="Verdana"/>
            </a:endParaRPr>
          </a:p>
          <a:p>
            <a:pPr marL="0" lvl="0" indent="0" algn="l" rtl="0">
              <a:spcBef>
                <a:spcPts val="1200"/>
              </a:spcBef>
              <a:spcAft>
                <a:spcPts val="0"/>
              </a:spcAft>
              <a:buClr>
                <a:schemeClr val="dk1"/>
              </a:buClr>
              <a:buSzPct val="91666"/>
              <a:buFont typeface="Arial"/>
              <a:buNone/>
            </a:pPr>
            <a:r>
              <a:rPr lang="en" sz="1200">
                <a:solidFill>
                  <a:schemeClr val="dk1"/>
                </a:solidFill>
                <a:latin typeface="Verdana"/>
                <a:ea typeface="Verdana"/>
                <a:cs typeface="Verdana"/>
                <a:sym typeface="Verdana"/>
              </a:rPr>
              <a:t>IPv4 also has well-defined address spaces to be used as private addresses (not routable on internet), and public addresses (provided by ISPs and are routable on internet).</a:t>
            </a:r>
            <a:endParaRPr sz="1200">
              <a:solidFill>
                <a:schemeClr val="dk1"/>
              </a:solidFill>
              <a:latin typeface="Verdana"/>
              <a:ea typeface="Verdana"/>
              <a:cs typeface="Verdana"/>
              <a:sym typeface="Verdana"/>
            </a:endParaRPr>
          </a:p>
          <a:p>
            <a:pPr marL="0" lvl="0" indent="0" algn="l" rtl="0">
              <a:spcBef>
                <a:spcPts val="1200"/>
              </a:spcBef>
              <a:spcAft>
                <a:spcPts val="0"/>
              </a:spcAft>
              <a:buClr>
                <a:schemeClr val="dk1"/>
              </a:buClr>
              <a:buSzPct val="91666"/>
              <a:buFont typeface="Arial"/>
              <a:buNone/>
            </a:pPr>
            <a:r>
              <a:rPr lang="en" sz="1200">
                <a:solidFill>
                  <a:schemeClr val="dk1"/>
                </a:solidFill>
                <a:latin typeface="Verdana"/>
                <a:ea typeface="Verdana"/>
                <a:cs typeface="Verdana"/>
                <a:sym typeface="Verdana"/>
              </a:rPr>
              <a:t>Though IP is not reliable one; it provides Best-Effort-Delivery mechanism.</a:t>
            </a:r>
            <a:endParaRPr sz="1200">
              <a:solidFill>
                <a:schemeClr val="dk1"/>
              </a:solidFill>
              <a:latin typeface="Verdana"/>
              <a:ea typeface="Verdana"/>
              <a:cs typeface="Verdana"/>
              <a:sym typeface="Verdana"/>
            </a:endParaRPr>
          </a:p>
          <a:p>
            <a:pPr marL="0" lvl="0" indent="0" algn="l" rtl="0">
              <a:lnSpc>
                <a:spcPct val="132352"/>
              </a:lnSpc>
              <a:spcBef>
                <a:spcPts val="1800"/>
              </a:spcBef>
              <a:spcAft>
                <a:spcPts val="0"/>
              </a:spcAft>
              <a:buClr>
                <a:schemeClr val="dk1"/>
              </a:buClr>
              <a:buSzPct val="64705"/>
              <a:buFont typeface="Arial"/>
              <a:buNone/>
            </a:pPr>
            <a:r>
              <a:rPr lang="en" sz="1700">
                <a:solidFill>
                  <a:schemeClr val="dk1"/>
                </a:solidFill>
              </a:rPr>
              <a:t>Internet Protocol Version 6 (IPv6)</a:t>
            </a:r>
            <a:endParaRPr sz="1700">
              <a:solidFill>
                <a:schemeClr val="dk1"/>
              </a:solidFill>
            </a:endParaRPr>
          </a:p>
          <a:p>
            <a:pPr marL="0" lvl="0" indent="0" algn="l" rtl="0">
              <a:spcBef>
                <a:spcPts val="400"/>
              </a:spcBef>
              <a:spcAft>
                <a:spcPts val="0"/>
              </a:spcAft>
              <a:buClr>
                <a:schemeClr val="dk1"/>
              </a:buClr>
              <a:buSzPct val="91666"/>
              <a:buFont typeface="Arial"/>
              <a:buNone/>
            </a:pPr>
            <a:r>
              <a:rPr lang="en" sz="1200">
                <a:solidFill>
                  <a:schemeClr val="dk1"/>
                </a:solidFill>
                <a:latin typeface="Verdana"/>
                <a:ea typeface="Verdana"/>
                <a:cs typeface="Verdana"/>
                <a:sym typeface="Verdana"/>
              </a:rPr>
              <a:t>Exhaustion of IPv4 addresses gave birth to a next generation Internet Protocol version 6. IPv6 addresses its nodes with 128-bit wide address providing plenty of address space for future to be used on entire planet or beyond.</a:t>
            </a:r>
            <a:endParaRPr sz="1200">
              <a:solidFill>
                <a:schemeClr val="dk1"/>
              </a:solidFill>
              <a:latin typeface="Verdana"/>
              <a:ea typeface="Verdana"/>
              <a:cs typeface="Verdana"/>
              <a:sym typeface="Verdana"/>
            </a:endParaRPr>
          </a:p>
          <a:p>
            <a:pPr marL="0" lvl="0" indent="0" algn="l" rtl="0">
              <a:spcBef>
                <a:spcPts val="1200"/>
              </a:spcBef>
              <a:spcAft>
                <a:spcPts val="0"/>
              </a:spcAft>
              <a:buClr>
                <a:schemeClr val="dk1"/>
              </a:buClr>
              <a:buSzPct val="91666"/>
              <a:buFont typeface="Arial"/>
              <a:buNone/>
            </a:pPr>
            <a:r>
              <a:rPr lang="en" sz="1200">
                <a:solidFill>
                  <a:schemeClr val="dk1"/>
                </a:solidFill>
                <a:latin typeface="Verdana"/>
                <a:ea typeface="Verdana"/>
                <a:cs typeface="Verdana"/>
                <a:sym typeface="Verdana"/>
              </a:rPr>
              <a:t>IPv6 has introduced Anycast addressing but has removed the concept of broadcasting. IPv6 enables devices to self-acquire an IPv6 address and communicate within that subnet. This auto-configuration removes the dependability of Dynamic Host Configuration Protocol (DHCP) servers. This way, even if the DHCP server on that subnet is down, the hosts can communicate with each other.</a:t>
            </a:r>
            <a:endParaRPr sz="1200">
              <a:solidFill>
                <a:schemeClr val="dk1"/>
              </a:solidFill>
              <a:latin typeface="Verdana"/>
              <a:ea typeface="Verdana"/>
              <a:cs typeface="Verdana"/>
              <a:sym typeface="Verdana"/>
            </a:endParaRPr>
          </a:p>
          <a:p>
            <a:pPr marL="0" lvl="0" indent="0" algn="l" rtl="0">
              <a:spcBef>
                <a:spcPts val="1200"/>
              </a:spcBef>
              <a:spcAft>
                <a:spcPts val="0"/>
              </a:spcAft>
              <a:buClr>
                <a:schemeClr val="dk1"/>
              </a:buClr>
              <a:buSzPct val="91666"/>
              <a:buFont typeface="Arial"/>
              <a:buNone/>
            </a:pPr>
            <a:r>
              <a:rPr lang="en" sz="1200">
                <a:solidFill>
                  <a:schemeClr val="dk1"/>
                </a:solidFill>
                <a:latin typeface="Verdana"/>
                <a:ea typeface="Verdana"/>
                <a:cs typeface="Verdana"/>
                <a:sym typeface="Verdana"/>
              </a:rPr>
              <a:t>IPv6 provides new feature of IPv6 mobility. Mobile IPv6 equipped machines can roam around without the need of changing their IP addresses.</a:t>
            </a:r>
            <a:endParaRPr sz="1200">
              <a:solidFill>
                <a:schemeClr val="dk1"/>
              </a:solidFill>
              <a:latin typeface="Verdana"/>
              <a:ea typeface="Verdana"/>
              <a:cs typeface="Verdana"/>
              <a:sym typeface="Verdana"/>
            </a:endParaRPr>
          </a:p>
          <a:p>
            <a:pPr marL="0" lvl="0" indent="0" algn="l" rtl="0">
              <a:spcBef>
                <a:spcPts val="1200"/>
              </a:spcBef>
              <a:spcAft>
                <a:spcPts val="0"/>
              </a:spcAft>
              <a:buClr>
                <a:schemeClr val="dk1"/>
              </a:buClr>
              <a:buSzPct val="91666"/>
              <a:buFont typeface="Arial"/>
              <a:buNone/>
            </a:pPr>
            <a:r>
              <a:rPr lang="en" sz="1200">
                <a:solidFill>
                  <a:schemeClr val="dk1"/>
                </a:solidFill>
                <a:latin typeface="Verdana"/>
                <a:ea typeface="Verdana"/>
                <a:cs typeface="Verdana"/>
                <a:sym typeface="Verdana"/>
              </a:rPr>
              <a:t>IPv6 is still in transition phase and is expected to replace IPv4 completely in coming years. At present, there are few networks which are running on IPv6. There are some transition mechanisms available for IPv6 enabled networks to speak and roam around different networks easily on IPv4. These are:</a:t>
            </a:r>
            <a:endParaRPr sz="1200">
              <a:solidFill>
                <a:schemeClr val="dk1"/>
              </a:solidFill>
              <a:latin typeface="Verdana"/>
              <a:ea typeface="Verdana"/>
              <a:cs typeface="Verdana"/>
              <a:sym typeface="Verdana"/>
            </a:endParaRPr>
          </a:p>
          <a:p>
            <a:pPr marL="457200" lvl="0" indent="-228600" algn="just" rtl="0">
              <a:spcBef>
                <a:spcPts val="1200"/>
              </a:spcBef>
              <a:spcAft>
                <a:spcPts val="0"/>
              </a:spcAft>
              <a:buClr>
                <a:schemeClr val="dk1"/>
              </a:buClr>
              <a:buSzPct val="100000"/>
              <a:buFont typeface="Verdana"/>
              <a:buNone/>
            </a:pPr>
            <a:r>
              <a:rPr lang="en" sz="1200">
                <a:solidFill>
                  <a:schemeClr val="dk1"/>
                </a:solidFill>
                <a:latin typeface="Verdana"/>
                <a:ea typeface="Verdana"/>
                <a:cs typeface="Verdana"/>
                <a:sym typeface="Verdana"/>
              </a:rPr>
              <a:t>Dual stack implementation</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ct val="100000"/>
              <a:buFont typeface="Verdana"/>
              <a:buNone/>
            </a:pPr>
            <a:r>
              <a:rPr lang="en" sz="1200">
                <a:solidFill>
                  <a:schemeClr val="dk1"/>
                </a:solidFill>
                <a:latin typeface="Verdana"/>
                <a:ea typeface="Verdana"/>
                <a:cs typeface="Verdana"/>
                <a:sym typeface="Verdana"/>
              </a:rPr>
              <a:t>Tunneling</a:t>
            </a:r>
            <a:endParaRPr sz="1200">
              <a:solidFill>
                <a:schemeClr val="dk1"/>
              </a:solidFill>
              <a:latin typeface="Verdana"/>
              <a:ea typeface="Verdana"/>
              <a:cs typeface="Verdana"/>
              <a:sym typeface="Verdana"/>
            </a:endParaRPr>
          </a:p>
          <a:p>
            <a:pPr marL="457200" lvl="0" indent="-228600" algn="just" rtl="0">
              <a:spcBef>
                <a:spcPts val="0"/>
              </a:spcBef>
              <a:spcAft>
                <a:spcPts val="0"/>
              </a:spcAft>
              <a:buClr>
                <a:schemeClr val="dk1"/>
              </a:buClr>
              <a:buSzPct val="100000"/>
              <a:buFont typeface="Verdana"/>
              <a:buNone/>
            </a:pPr>
            <a:r>
              <a:rPr lang="en" sz="1200">
                <a:solidFill>
                  <a:schemeClr val="dk1"/>
                </a:solidFill>
                <a:latin typeface="Verdana"/>
                <a:ea typeface="Verdana"/>
                <a:cs typeface="Verdana"/>
                <a:sym typeface="Verdana"/>
              </a:rPr>
              <a:t>NAT-PT</a:t>
            </a:r>
            <a:endParaRPr sz="1200">
              <a:solidFill>
                <a:schemeClr val="dk1"/>
              </a:solidFill>
              <a:latin typeface="Verdana"/>
              <a:ea typeface="Verdana"/>
              <a:cs typeface="Verdana"/>
              <a:sym typeface="Verdana"/>
            </a:endParaRPr>
          </a:p>
          <a:p>
            <a:pPr marL="0" lvl="0" indent="0" algn="l" rtl="0">
              <a:spcBef>
                <a:spcPts val="12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14" name="Google Shape;314;p5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lnSpc>
                <a:spcPct val="157142"/>
              </a:lnSpc>
              <a:spcBef>
                <a:spcPts val="0"/>
              </a:spcBef>
              <a:spcAft>
                <a:spcPts val="0"/>
              </a:spcAft>
              <a:buClr>
                <a:schemeClr val="dk1"/>
              </a:buClr>
              <a:buSzPts val="1100"/>
              <a:buFont typeface="Arial"/>
              <a:buNone/>
            </a:pPr>
            <a:r>
              <a:rPr lang="en" sz="1050" b="1">
                <a:solidFill>
                  <a:srgbClr val="444444"/>
                </a:solidFill>
                <a:highlight>
                  <a:srgbClr val="F8F4F1"/>
                </a:highlight>
                <a:latin typeface="Roboto"/>
                <a:ea typeface="Roboto"/>
                <a:cs typeface="Roboto"/>
                <a:sym typeface="Roboto"/>
              </a:rPr>
              <a:t>IPv4 (Internet Protocol version 4)</a:t>
            </a:r>
            <a:r>
              <a:rPr lang="en" sz="1050">
                <a:solidFill>
                  <a:srgbClr val="444444"/>
                </a:solidFill>
                <a:highlight>
                  <a:srgbClr val="F8F4F1"/>
                </a:highlight>
                <a:latin typeface="Roboto"/>
                <a:ea typeface="Roboto"/>
                <a:cs typeface="Roboto"/>
                <a:sym typeface="Roboto"/>
              </a:rPr>
              <a:t> operates at the </a:t>
            </a:r>
            <a:r>
              <a:rPr lang="en" sz="1050" b="1">
                <a:solidFill>
                  <a:srgbClr val="444444"/>
                </a:solidFill>
                <a:highlight>
                  <a:srgbClr val="F8F4F1"/>
                </a:highlight>
                <a:latin typeface="Roboto"/>
                <a:ea typeface="Roboto"/>
                <a:cs typeface="Roboto"/>
                <a:sym typeface="Roboto"/>
              </a:rPr>
              <a:t>Network Layer (Layer 3)</a:t>
            </a:r>
            <a:r>
              <a:rPr lang="en" sz="1050">
                <a:solidFill>
                  <a:srgbClr val="444444"/>
                </a:solidFill>
                <a:highlight>
                  <a:srgbClr val="F8F4F1"/>
                </a:highlight>
                <a:latin typeface="Roboto"/>
                <a:ea typeface="Roboto"/>
                <a:cs typeface="Roboto"/>
                <a:sym typeface="Roboto"/>
              </a:rPr>
              <a:t> of the </a:t>
            </a:r>
            <a:r>
              <a:rPr lang="en" sz="1050" b="1">
                <a:solidFill>
                  <a:srgbClr val="444444"/>
                </a:solidFill>
                <a:highlight>
                  <a:srgbClr val="F8F4F1"/>
                </a:highlight>
                <a:latin typeface="Roboto"/>
                <a:ea typeface="Roboto"/>
                <a:cs typeface="Roboto"/>
                <a:sym typeface="Roboto"/>
              </a:rPr>
              <a:t>OSI model</a:t>
            </a:r>
            <a:r>
              <a:rPr lang="en" sz="1050">
                <a:solidFill>
                  <a:srgbClr val="444444"/>
                </a:solidFill>
                <a:highlight>
                  <a:srgbClr val="F8F4F1"/>
                </a:highlight>
                <a:latin typeface="Roboto"/>
                <a:ea typeface="Roboto"/>
                <a:cs typeface="Roboto"/>
                <a:sym typeface="Roboto"/>
              </a:rPr>
              <a:t> and at the </a:t>
            </a:r>
            <a:r>
              <a:rPr lang="en" sz="1050" b="1">
                <a:solidFill>
                  <a:srgbClr val="444444"/>
                </a:solidFill>
                <a:highlight>
                  <a:srgbClr val="F8F4F1"/>
                </a:highlight>
                <a:latin typeface="Roboto"/>
                <a:ea typeface="Roboto"/>
                <a:cs typeface="Roboto"/>
                <a:sym typeface="Roboto"/>
              </a:rPr>
              <a:t>Internet Layer</a:t>
            </a:r>
            <a:r>
              <a:rPr lang="en" sz="1050">
                <a:solidFill>
                  <a:srgbClr val="444444"/>
                </a:solidFill>
                <a:highlight>
                  <a:srgbClr val="F8F4F1"/>
                </a:highlight>
                <a:latin typeface="Roboto"/>
                <a:ea typeface="Roboto"/>
                <a:cs typeface="Roboto"/>
                <a:sym typeface="Roboto"/>
              </a:rPr>
              <a:t> of the </a:t>
            </a:r>
            <a:r>
              <a:rPr lang="en" sz="1050" b="1">
                <a:solidFill>
                  <a:srgbClr val="444444"/>
                </a:solidFill>
                <a:highlight>
                  <a:srgbClr val="F8F4F1"/>
                </a:highlight>
                <a:latin typeface="Roboto"/>
                <a:ea typeface="Roboto"/>
                <a:cs typeface="Roboto"/>
                <a:sym typeface="Roboto"/>
              </a:rPr>
              <a:t>TCP/IP model</a:t>
            </a:r>
            <a:r>
              <a:rPr lang="en" sz="1050">
                <a:solidFill>
                  <a:srgbClr val="444444"/>
                </a:solidFill>
                <a:highlight>
                  <a:srgbClr val="F8F4F1"/>
                </a:highlight>
                <a:latin typeface="Roboto"/>
                <a:ea typeface="Roboto"/>
                <a:cs typeface="Roboto"/>
                <a:sym typeface="Roboto"/>
              </a:rPr>
              <a:t>. Its primary role is to provide </a:t>
            </a:r>
            <a:r>
              <a:rPr lang="en" sz="1050" b="1">
                <a:solidFill>
                  <a:srgbClr val="444444"/>
                </a:solidFill>
                <a:highlight>
                  <a:srgbClr val="F8F4F1"/>
                </a:highlight>
                <a:latin typeface="Roboto"/>
                <a:ea typeface="Roboto"/>
                <a:cs typeface="Roboto"/>
                <a:sym typeface="Roboto"/>
              </a:rPr>
              <a:t>logical addressing</a:t>
            </a:r>
            <a:r>
              <a:rPr lang="en" sz="1050">
                <a:solidFill>
                  <a:srgbClr val="444444"/>
                </a:solidFill>
                <a:highlight>
                  <a:srgbClr val="F8F4F1"/>
                </a:highlight>
                <a:latin typeface="Roboto"/>
                <a:ea typeface="Roboto"/>
                <a:cs typeface="Roboto"/>
                <a:sym typeface="Roboto"/>
              </a:rPr>
              <a:t> and </a:t>
            </a:r>
            <a:r>
              <a:rPr lang="en" sz="1050" b="1">
                <a:solidFill>
                  <a:srgbClr val="444444"/>
                </a:solidFill>
                <a:highlight>
                  <a:srgbClr val="F8F4F1"/>
                </a:highlight>
                <a:latin typeface="Roboto"/>
                <a:ea typeface="Roboto"/>
                <a:cs typeface="Roboto"/>
                <a:sym typeface="Roboto"/>
              </a:rPr>
              <a:t>routing</a:t>
            </a:r>
            <a:r>
              <a:rPr lang="en" sz="1050">
                <a:solidFill>
                  <a:srgbClr val="444444"/>
                </a:solidFill>
                <a:highlight>
                  <a:srgbClr val="F8F4F1"/>
                </a:highlight>
                <a:latin typeface="Roboto"/>
                <a:ea typeface="Roboto"/>
                <a:cs typeface="Roboto"/>
                <a:sym typeface="Roboto"/>
              </a:rPr>
              <a:t> so that packets can travel from a source host to a destination host across interconnected networks.</a:t>
            </a:r>
            <a:endParaRPr sz="1050">
              <a:solidFill>
                <a:srgbClr val="444444"/>
              </a:solidFill>
              <a:highlight>
                <a:srgbClr val="F8F4F1"/>
              </a:highlight>
              <a:latin typeface="Roboto"/>
              <a:ea typeface="Roboto"/>
              <a:cs typeface="Roboto"/>
              <a:sym typeface="Roboto"/>
            </a:endParaRPr>
          </a:p>
          <a:p>
            <a:pPr marL="0" lvl="0" indent="0" algn="l" rtl="0">
              <a:lnSpc>
                <a:spcPct val="157142"/>
              </a:lnSpc>
              <a:spcBef>
                <a:spcPts val="0"/>
              </a:spcBef>
              <a:spcAft>
                <a:spcPts val="0"/>
              </a:spcAft>
              <a:buClr>
                <a:schemeClr val="dk1"/>
              </a:buClr>
              <a:buSzPts val="1100"/>
              <a:buFont typeface="Arial"/>
              <a:buNone/>
            </a:pPr>
            <a:r>
              <a:rPr lang="en" sz="1050">
                <a:solidFill>
                  <a:srgbClr val="444444"/>
                </a:solidFill>
                <a:highlight>
                  <a:srgbClr val="F8F4F1"/>
                </a:highlight>
                <a:latin typeface="Roboto"/>
                <a:ea typeface="Roboto"/>
                <a:cs typeface="Roboto"/>
                <a:sym typeface="Roboto"/>
              </a:rPr>
              <a:t>At this layer, IPv4 is responsible for:</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Identifying devices</a:t>
            </a:r>
            <a:r>
              <a:rPr lang="en" sz="1050">
                <a:solidFill>
                  <a:srgbClr val="444444"/>
                </a:solidFill>
                <a:highlight>
                  <a:srgbClr val="F8F4F1"/>
                </a:highlight>
                <a:latin typeface="Roboto"/>
                <a:ea typeface="Roboto"/>
                <a:cs typeface="Roboto"/>
                <a:sym typeface="Roboto"/>
              </a:rPr>
              <a:t> using a unique 32-bit IP address.</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Determining the best path</a:t>
            </a:r>
            <a:r>
              <a:rPr lang="en" sz="1050">
                <a:solidFill>
                  <a:srgbClr val="444444"/>
                </a:solidFill>
                <a:highlight>
                  <a:srgbClr val="F8F4F1"/>
                </a:highlight>
                <a:latin typeface="Roboto"/>
                <a:ea typeface="Roboto"/>
                <a:cs typeface="Roboto"/>
                <a:sym typeface="Roboto"/>
              </a:rPr>
              <a:t> for data packets through routers.</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Encapsulating transport layer segments</a:t>
            </a:r>
            <a:r>
              <a:rPr lang="en" sz="1050">
                <a:solidFill>
                  <a:srgbClr val="444444"/>
                </a:solidFill>
                <a:highlight>
                  <a:srgbClr val="F8F4F1"/>
                </a:highlight>
                <a:latin typeface="Roboto"/>
                <a:ea typeface="Roboto"/>
                <a:cs typeface="Roboto"/>
                <a:sym typeface="Roboto"/>
              </a:rPr>
              <a:t> into IP packets with headers containing routing and control information.</a:t>
            </a:r>
            <a:endParaRPr sz="1050">
              <a:solidFill>
                <a:srgbClr val="444444"/>
              </a:solidFill>
              <a:highlight>
                <a:srgbClr val="F8F4F1"/>
              </a:highlight>
              <a:latin typeface="Roboto"/>
              <a:ea typeface="Roboto"/>
              <a:cs typeface="Roboto"/>
              <a:sym typeface="Roboto"/>
            </a:endParaRPr>
          </a:p>
          <a:p>
            <a:pPr marL="0" lvl="0" indent="0" algn="l" rtl="0">
              <a:lnSpc>
                <a:spcPct val="157142"/>
              </a:lnSpc>
              <a:spcBef>
                <a:spcPts val="0"/>
              </a:spcBef>
              <a:spcAft>
                <a:spcPts val="0"/>
              </a:spcAft>
              <a:buClr>
                <a:schemeClr val="dk1"/>
              </a:buClr>
              <a:buSzPts val="1100"/>
              <a:buFont typeface="Arial"/>
              <a:buNone/>
            </a:pPr>
            <a:r>
              <a:rPr lang="en" sz="1050" b="1">
                <a:solidFill>
                  <a:srgbClr val="444444"/>
                </a:solidFill>
                <a:highlight>
                  <a:srgbClr val="F8F4F1"/>
                </a:highlight>
                <a:latin typeface="Roboto"/>
                <a:ea typeface="Roboto"/>
                <a:cs typeface="Roboto"/>
                <a:sym typeface="Roboto"/>
              </a:rPr>
              <a:t>Key IPv4 Characteristics</a:t>
            </a:r>
            <a:endParaRPr sz="1050" b="1">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Address Format:</a:t>
            </a:r>
            <a:r>
              <a:rPr lang="en" sz="1050">
                <a:solidFill>
                  <a:srgbClr val="444444"/>
                </a:solidFill>
                <a:highlight>
                  <a:srgbClr val="F8F4F1"/>
                </a:highlight>
                <a:latin typeface="Roboto"/>
                <a:ea typeface="Roboto"/>
                <a:cs typeface="Roboto"/>
                <a:sym typeface="Roboto"/>
              </a:rPr>
              <a:t> 32-bit, written in dotted-decimal notation (e.g., </a:t>
            </a:r>
            <a:r>
              <a:rPr lang="en" sz="1050">
                <a:solidFill>
                  <a:srgbClr val="444444"/>
                </a:solidFill>
                <a:highlight>
                  <a:srgbClr val="F5F5F5"/>
                </a:highlight>
                <a:latin typeface="Courier New"/>
                <a:ea typeface="Courier New"/>
                <a:cs typeface="Courier New"/>
                <a:sym typeface="Courier New"/>
              </a:rPr>
              <a:t>192.168.0.1</a:t>
            </a:r>
            <a:r>
              <a:rPr lang="en" sz="1050">
                <a:solidFill>
                  <a:srgbClr val="444444"/>
                </a:solidFill>
                <a:highlight>
                  <a:srgbClr val="F8F4F1"/>
                </a:highlight>
                <a:latin typeface="Roboto"/>
                <a:ea typeface="Roboto"/>
                <a:cs typeface="Roboto"/>
                <a:sym typeface="Roboto"/>
              </a:rPr>
              <a:t>).</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Header Size:</a:t>
            </a:r>
            <a:r>
              <a:rPr lang="en" sz="1050">
                <a:solidFill>
                  <a:srgbClr val="444444"/>
                </a:solidFill>
                <a:highlight>
                  <a:srgbClr val="F8F4F1"/>
                </a:highlight>
                <a:latin typeface="Roboto"/>
                <a:ea typeface="Roboto"/>
                <a:cs typeface="Roboto"/>
                <a:sym typeface="Roboto"/>
              </a:rPr>
              <a:t> Minimum 20 bytes, containing fields like </a:t>
            </a:r>
            <a:r>
              <a:rPr lang="en" sz="1050" b="1">
                <a:solidFill>
                  <a:srgbClr val="444444"/>
                </a:solidFill>
                <a:highlight>
                  <a:srgbClr val="F8F4F1"/>
                </a:highlight>
                <a:latin typeface="Roboto"/>
                <a:ea typeface="Roboto"/>
                <a:cs typeface="Roboto"/>
                <a:sym typeface="Roboto"/>
              </a:rPr>
              <a:t>Version</a:t>
            </a:r>
            <a:r>
              <a:rPr lang="en" sz="1050">
                <a:solidFill>
                  <a:srgbClr val="444444"/>
                </a:solidFill>
                <a:highlight>
                  <a:srgbClr val="F8F4F1"/>
                </a:highlight>
                <a:latin typeface="Roboto"/>
                <a:ea typeface="Roboto"/>
                <a:cs typeface="Roboto"/>
                <a:sym typeface="Roboto"/>
              </a:rPr>
              <a:t>, </a:t>
            </a:r>
            <a:r>
              <a:rPr lang="en" sz="1050" b="1">
                <a:solidFill>
                  <a:srgbClr val="444444"/>
                </a:solidFill>
                <a:highlight>
                  <a:srgbClr val="F8F4F1"/>
                </a:highlight>
                <a:latin typeface="Roboto"/>
                <a:ea typeface="Roboto"/>
                <a:cs typeface="Roboto"/>
                <a:sym typeface="Roboto"/>
              </a:rPr>
              <a:t>Header Length</a:t>
            </a:r>
            <a:r>
              <a:rPr lang="en" sz="1050">
                <a:solidFill>
                  <a:srgbClr val="444444"/>
                </a:solidFill>
                <a:highlight>
                  <a:srgbClr val="F8F4F1"/>
                </a:highlight>
                <a:latin typeface="Roboto"/>
                <a:ea typeface="Roboto"/>
                <a:cs typeface="Roboto"/>
                <a:sym typeface="Roboto"/>
              </a:rPr>
              <a:t>, </a:t>
            </a:r>
            <a:r>
              <a:rPr lang="en" sz="1050" b="1">
                <a:solidFill>
                  <a:srgbClr val="444444"/>
                </a:solidFill>
                <a:highlight>
                  <a:srgbClr val="F8F4F1"/>
                </a:highlight>
                <a:latin typeface="Roboto"/>
                <a:ea typeface="Roboto"/>
                <a:cs typeface="Roboto"/>
                <a:sym typeface="Roboto"/>
              </a:rPr>
              <a:t>TTL</a:t>
            </a:r>
            <a:r>
              <a:rPr lang="en" sz="1050">
                <a:solidFill>
                  <a:srgbClr val="444444"/>
                </a:solidFill>
                <a:highlight>
                  <a:srgbClr val="F8F4F1"/>
                </a:highlight>
                <a:latin typeface="Roboto"/>
                <a:ea typeface="Roboto"/>
                <a:cs typeface="Roboto"/>
                <a:sym typeface="Roboto"/>
              </a:rPr>
              <a:t>, </a:t>
            </a:r>
            <a:r>
              <a:rPr lang="en" sz="1050" b="1">
                <a:solidFill>
                  <a:srgbClr val="444444"/>
                </a:solidFill>
                <a:highlight>
                  <a:srgbClr val="F8F4F1"/>
                </a:highlight>
                <a:latin typeface="Roboto"/>
                <a:ea typeface="Roboto"/>
                <a:cs typeface="Roboto"/>
                <a:sym typeface="Roboto"/>
              </a:rPr>
              <a:t>Protocol</a:t>
            </a:r>
            <a:r>
              <a:rPr lang="en" sz="1050">
                <a:solidFill>
                  <a:srgbClr val="444444"/>
                </a:solidFill>
                <a:highlight>
                  <a:srgbClr val="F8F4F1"/>
                </a:highlight>
                <a:latin typeface="Roboto"/>
                <a:ea typeface="Roboto"/>
                <a:cs typeface="Roboto"/>
                <a:sym typeface="Roboto"/>
              </a:rPr>
              <a:t>, </a:t>
            </a:r>
            <a:r>
              <a:rPr lang="en" sz="1050" b="1">
                <a:solidFill>
                  <a:srgbClr val="444444"/>
                </a:solidFill>
                <a:highlight>
                  <a:srgbClr val="F8F4F1"/>
                </a:highlight>
                <a:latin typeface="Roboto"/>
                <a:ea typeface="Roboto"/>
                <a:cs typeface="Roboto"/>
                <a:sym typeface="Roboto"/>
              </a:rPr>
              <a:t>Source/Destination IP</a:t>
            </a:r>
            <a:r>
              <a:rPr lang="en" sz="1050">
                <a:solidFill>
                  <a:srgbClr val="444444"/>
                </a:solidFill>
                <a:highlight>
                  <a:srgbClr val="F8F4F1"/>
                </a:highlight>
                <a:latin typeface="Roboto"/>
                <a:ea typeface="Roboto"/>
                <a:cs typeface="Roboto"/>
                <a:sym typeface="Roboto"/>
              </a:rPr>
              <a:t>.</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Addressing Modes:</a:t>
            </a:r>
            <a:r>
              <a:rPr lang="en" sz="1050">
                <a:solidFill>
                  <a:srgbClr val="444444"/>
                </a:solidFill>
                <a:highlight>
                  <a:srgbClr val="F8F4F1"/>
                </a:highlight>
                <a:latin typeface="Roboto"/>
                <a:ea typeface="Roboto"/>
                <a:cs typeface="Roboto"/>
                <a:sym typeface="Roboto"/>
              </a:rPr>
              <a:t> Unicast (one-to-one), Broadcast (one-to-all), Multicast (one-to-many).</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Routing:</a:t>
            </a:r>
            <a:r>
              <a:rPr lang="en" sz="1050">
                <a:solidFill>
                  <a:srgbClr val="444444"/>
                </a:solidFill>
                <a:highlight>
                  <a:srgbClr val="F8F4F1"/>
                </a:highlight>
                <a:latin typeface="Roboto"/>
                <a:ea typeface="Roboto"/>
                <a:cs typeface="Roboto"/>
                <a:sym typeface="Roboto"/>
              </a:rPr>
              <a:t> Uses forwarding tables in routers for hop-by-hop delivery.</a:t>
            </a:r>
            <a:endParaRPr sz="1050">
              <a:solidFill>
                <a:srgbClr val="444444"/>
              </a:solidFill>
              <a:highlight>
                <a:srgbClr val="F8F4F1"/>
              </a:highlight>
              <a:latin typeface="Roboto"/>
              <a:ea typeface="Roboto"/>
              <a:cs typeface="Roboto"/>
              <a:sym typeface="Roboto"/>
            </a:endParaRPr>
          </a:p>
          <a:p>
            <a:pPr marL="596900" lvl="0" indent="-295275" algn="l" rtl="0">
              <a:spcBef>
                <a:spcPts val="0"/>
              </a:spcBef>
              <a:spcAft>
                <a:spcPts val="0"/>
              </a:spcAft>
              <a:buClr>
                <a:srgbClr val="444444"/>
              </a:buClr>
              <a:buSzPts val="1050"/>
              <a:buFont typeface="Roboto"/>
              <a:buChar char="●"/>
            </a:pPr>
            <a:r>
              <a:rPr lang="en" sz="1050" b="1">
                <a:solidFill>
                  <a:srgbClr val="444444"/>
                </a:solidFill>
                <a:highlight>
                  <a:srgbClr val="F8F4F1"/>
                </a:highlight>
                <a:latin typeface="Roboto"/>
                <a:ea typeface="Roboto"/>
                <a:cs typeface="Roboto"/>
                <a:sym typeface="Roboto"/>
              </a:rPr>
              <a:t>TTL (Time To Live):</a:t>
            </a:r>
            <a:r>
              <a:rPr lang="en" sz="1050">
                <a:solidFill>
                  <a:srgbClr val="444444"/>
                </a:solidFill>
                <a:highlight>
                  <a:srgbClr val="F8F4F1"/>
                </a:highlight>
                <a:latin typeface="Roboto"/>
                <a:ea typeface="Roboto"/>
                <a:cs typeface="Roboto"/>
                <a:sym typeface="Roboto"/>
              </a:rPr>
              <a:t> Prevents packets from looping indefinitely.</a:t>
            </a:r>
            <a:endParaRPr sz="1050">
              <a:solidFill>
                <a:srgbClr val="444444"/>
              </a:solidFill>
              <a:highlight>
                <a:srgbClr val="F8F4F1"/>
              </a:highlight>
              <a:latin typeface="Roboto"/>
              <a:ea typeface="Roboto"/>
              <a:cs typeface="Roboto"/>
              <a:sym typeface="Roboto"/>
            </a:endParaRPr>
          </a:p>
          <a:p>
            <a:pPr marL="0" lvl="0" indent="0" algn="l" rtl="0">
              <a:spcBef>
                <a:spcPts val="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5"/>
          <p:cNvSpPr txBox="1">
            <a:spLocks noGrp="1"/>
          </p:cNvSpPr>
          <p:nvPr>
            <p:ph type="body" idx="1"/>
          </p:nvPr>
        </p:nvSpPr>
        <p:spPr>
          <a:xfrm>
            <a:off x="311700" y="79575"/>
            <a:ext cx="8520600" cy="4489200"/>
          </a:xfrm>
          <a:prstGeom prst="rect">
            <a:avLst/>
          </a:prstGeom>
        </p:spPr>
        <p:txBody>
          <a:bodyPr spcFirstLastPara="1" wrap="square" lIns="91425" tIns="91425" rIns="91425" bIns="91425" anchor="t" anchorCtr="0">
            <a:normAutofit fontScale="92500" lnSpcReduction="10000"/>
          </a:bodyPr>
          <a:lstStyle/>
          <a:p>
            <a:pPr marL="0" lvl="0" indent="0" algn="l" rtl="0">
              <a:lnSpc>
                <a:spcPct val="120000"/>
              </a:lnSpc>
              <a:spcBef>
                <a:spcPts val="0"/>
              </a:spcBef>
              <a:spcAft>
                <a:spcPts val="0"/>
              </a:spcAft>
              <a:buClr>
                <a:schemeClr val="dk1"/>
              </a:buClr>
              <a:buSzPct val="81481"/>
              <a:buFont typeface="Arial"/>
              <a:buNone/>
            </a:pPr>
            <a:r>
              <a:rPr lang="en" sz="1350" b="1">
                <a:solidFill>
                  <a:srgbClr val="273239"/>
                </a:solidFill>
                <a:highlight>
                  <a:srgbClr val="FFFFFF"/>
                </a:highlight>
                <a:latin typeface="Nunito"/>
                <a:ea typeface="Nunito"/>
                <a:cs typeface="Nunito"/>
                <a:sym typeface="Nunito"/>
              </a:rPr>
              <a:t>6LoWPAN</a:t>
            </a:r>
            <a:r>
              <a:rPr lang="en" sz="1350">
                <a:solidFill>
                  <a:srgbClr val="273239"/>
                </a:solidFill>
                <a:highlight>
                  <a:srgbClr val="FFFFFF"/>
                </a:highlight>
                <a:latin typeface="Nunito"/>
                <a:ea typeface="Nunito"/>
                <a:cs typeface="Nunito"/>
                <a:sym typeface="Nunito"/>
              </a:rPr>
              <a:t> stands for </a:t>
            </a:r>
            <a:r>
              <a:rPr lang="en" sz="1350" b="1">
                <a:solidFill>
                  <a:srgbClr val="273239"/>
                </a:solidFill>
                <a:highlight>
                  <a:srgbClr val="FFFFFF"/>
                </a:highlight>
                <a:latin typeface="Nunito"/>
                <a:ea typeface="Nunito"/>
                <a:cs typeface="Nunito"/>
                <a:sym typeface="Nunito"/>
              </a:rPr>
              <a:t>IPv6 over Low-Power Wireless Personal Area Networks</a:t>
            </a:r>
            <a:r>
              <a:rPr lang="en" sz="1350">
                <a:solidFill>
                  <a:srgbClr val="273239"/>
                </a:solidFill>
                <a:highlight>
                  <a:srgbClr val="FFFFFF"/>
                </a:highlight>
                <a:latin typeface="Nunito"/>
                <a:ea typeface="Nunito"/>
                <a:cs typeface="Nunito"/>
                <a:sym typeface="Nunito"/>
              </a:rPr>
              <a:t>. It’s a communication protocol designed to enable small, low-power devices to connect over wireless networks. In this article, we will discover everything about 6LoWPAN and its various advantages and disadvantages.</a:t>
            </a:r>
            <a:endParaRPr sz="1350">
              <a:solidFill>
                <a:srgbClr val="273239"/>
              </a:solidFill>
              <a:highlight>
                <a:srgbClr val="FFFFFF"/>
              </a:highlight>
              <a:latin typeface="Nunito"/>
              <a:ea typeface="Nunito"/>
              <a:cs typeface="Nunito"/>
              <a:sym typeface="Nunito"/>
            </a:endParaRPr>
          </a:p>
          <a:p>
            <a:pPr marL="0" lvl="0" indent="0" algn="l" rtl="0">
              <a:lnSpc>
                <a:spcPct val="116666"/>
              </a:lnSpc>
              <a:spcBef>
                <a:spcPts val="800"/>
              </a:spcBef>
              <a:spcAft>
                <a:spcPts val="0"/>
              </a:spcAft>
              <a:buClr>
                <a:schemeClr val="dk1"/>
              </a:buClr>
              <a:buSzPct val="61111"/>
              <a:buFont typeface="Arial"/>
              <a:buNone/>
            </a:pPr>
            <a:r>
              <a:rPr lang="en" b="1">
                <a:solidFill>
                  <a:srgbClr val="273239"/>
                </a:solidFill>
                <a:highlight>
                  <a:srgbClr val="FFFFFF"/>
                </a:highlight>
                <a:latin typeface="Nunito"/>
                <a:ea typeface="Nunito"/>
                <a:cs typeface="Nunito"/>
                <a:sym typeface="Nunito"/>
              </a:rPr>
              <a:t>What is 6LoWPAN?</a:t>
            </a:r>
            <a:endParaRPr b="1">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ct val="81481"/>
              <a:buFont typeface="Arial"/>
              <a:buNone/>
            </a:pPr>
            <a:r>
              <a:rPr lang="en" sz="1350">
                <a:solidFill>
                  <a:srgbClr val="273239"/>
                </a:solidFill>
                <a:highlight>
                  <a:srgbClr val="FFFFFF"/>
                </a:highlight>
                <a:latin typeface="Nunito"/>
                <a:ea typeface="Nunito"/>
                <a:cs typeface="Nunito"/>
                <a:sym typeface="Nunito"/>
              </a:rPr>
              <a:t>6LoWPAN is an </a:t>
            </a:r>
            <a:r>
              <a:rPr lang="en" sz="1350"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IPv6 </a:t>
            </a:r>
            <a:r>
              <a:rPr lang="en" sz="1350">
                <a:solidFill>
                  <a:srgbClr val="273239"/>
                </a:solidFill>
                <a:highlight>
                  <a:srgbClr val="FFFFFF"/>
                </a:highlight>
                <a:latin typeface="Nunito"/>
                <a:ea typeface="Nunito"/>
                <a:cs typeface="Nunito"/>
                <a:sym typeface="Nunito"/>
              </a:rPr>
              <a:t>protocol, and It's extended from IPv6 over Low Power Personal Area Network. As the name itself explains the meaning of this protocol is that this protocol works on Wireless Personal Area Network. WPAN is a Personal Area Network (</a:t>
            </a:r>
            <a:r>
              <a:rPr lang="en" sz="1350" u="sng">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PAN</a:t>
            </a:r>
            <a:r>
              <a:rPr lang="en" sz="1350">
                <a:solidFill>
                  <a:srgbClr val="273239"/>
                </a:solidFill>
                <a:highlight>
                  <a:srgbClr val="FFFFFF"/>
                </a:highlight>
                <a:latin typeface="Nunito"/>
                <a:ea typeface="Nunito"/>
                <a:cs typeface="Nunito"/>
                <a:sym typeface="Nunito"/>
              </a:rPr>
              <a:t>) where the interconnected devices are centered around a person’s workspace and connected through a wireless medium. You can read more about WPAN at </a:t>
            </a:r>
            <a:r>
              <a:rPr lang="en" sz="1350" u="sng">
                <a:solidFill>
                  <a:srgbClr val="357960"/>
                </a:solidFill>
                <a:highlight>
                  <a:srgbClr val="FFFFFF"/>
                </a:highlight>
                <a:latin typeface="Nunito"/>
                <a:ea typeface="Nunito"/>
                <a:cs typeface="Nunito"/>
                <a:sym typeface="Nunito"/>
                <a:hlinkClick r:id="rId5">
                  <a:extLst>
                    <a:ext uri="{A12FA001-AC4F-418D-AE19-62706E023703}">
                      <ahyp:hlinkClr xmlns:ahyp="http://schemas.microsoft.com/office/drawing/2018/hyperlinkcolor" val="tx"/>
                    </a:ext>
                  </a:extLst>
                </a:hlinkClick>
              </a:rPr>
              <a:t>WPAN</a:t>
            </a:r>
            <a:r>
              <a:rPr lang="en" sz="1350">
                <a:solidFill>
                  <a:srgbClr val="273239"/>
                </a:solidFill>
                <a:highlight>
                  <a:srgbClr val="FFFFFF"/>
                </a:highlight>
                <a:latin typeface="Nunito"/>
                <a:ea typeface="Nunito"/>
                <a:cs typeface="Nunito"/>
                <a:sym typeface="Nunito"/>
              </a:rPr>
              <a:t>. 6LoWPAN allows communication using the IPv6 protocol. IPv6 is Internet Protocol Version 6 is a network layer protocol that allows communication to take place over the network. It is faster and more reliable and provides a large number of addresses.</a:t>
            </a:r>
            <a:endParaRPr sz="135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0"/>
              </a:spcAft>
              <a:buNone/>
            </a:pPr>
            <a:r>
              <a:rPr lang="en" sz="1350">
                <a:solidFill>
                  <a:srgbClr val="273239"/>
                </a:solidFill>
                <a:highlight>
                  <a:srgbClr val="FFFFFF"/>
                </a:highlight>
                <a:latin typeface="Nunito"/>
                <a:ea typeface="Nunito"/>
                <a:cs typeface="Nunito"/>
                <a:sym typeface="Nunito"/>
              </a:rPr>
              <a:t>6LoWPAN initially came into existence to overcome the conventional methodologies that were adapted to transmit information. But still, it is not so efficient as it only allows for the smaller devices with minimal processing ability to establish communication using one of the Internet Protocols, i.e., IPv6. It has very low cost, short-range, low memory usage, and low bit rate. It comprises an Edge Router and Sensor Nodes. Even the smallest of the IoT devices can now be part of the network, and the information can be transmitted to the outside world as well. For example, LED Streetlights.</a:t>
            </a:r>
            <a:endParaRPr sz="135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0"/>
              </a:spcAft>
              <a:buClr>
                <a:schemeClr val="dk1"/>
              </a:buClr>
              <a:buSzPct val="81481"/>
              <a:buFont typeface="Arial"/>
              <a:buNone/>
            </a:pPr>
            <a:r>
              <a:rPr lang="en" sz="1350">
                <a:solidFill>
                  <a:srgbClr val="273239"/>
                </a:solidFill>
                <a:highlight>
                  <a:srgbClr val="FFFFFF"/>
                </a:highlight>
                <a:latin typeface="Nunito"/>
                <a:ea typeface="Nunito"/>
                <a:cs typeface="Nunito"/>
                <a:sym typeface="Nunito"/>
              </a:rPr>
              <a:t>It is a technology that makes the individual nodes IP-enabled. 6LoWPAN  can interact with 802.15.4 devices and also other types of devices on an IP Network. For example, </a:t>
            </a:r>
            <a:r>
              <a:rPr lang="en" sz="1350" u="sng">
                <a:solidFill>
                  <a:srgbClr val="357960"/>
                </a:solidFill>
                <a:highlight>
                  <a:srgbClr val="FFFFFF"/>
                </a:highlight>
                <a:latin typeface="Nunito"/>
                <a:ea typeface="Nunito"/>
                <a:cs typeface="Nunito"/>
                <a:sym typeface="Nunito"/>
                <a:hlinkClick r:id="rId6">
                  <a:extLst>
                    <a:ext uri="{A12FA001-AC4F-418D-AE19-62706E023703}">
                      <ahyp:hlinkClr xmlns:ahyp="http://schemas.microsoft.com/office/drawing/2018/hyperlinkcolor" val="tx"/>
                    </a:ext>
                  </a:extLst>
                </a:hlinkClick>
              </a:rPr>
              <a:t>Wi-Fi.</a:t>
            </a:r>
            <a:r>
              <a:rPr lang="en" sz="1350">
                <a:solidFill>
                  <a:srgbClr val="273239"/>
                </a:solidFill>
                <a:highlight>
                  <a:srgbClr val="FFFFFF"/>
                </a:highlight>
                <a:latin typeface="Nunito"/>
                <a:ea typeface="Nunito"/>
                <a:cs typeface="Nunito"/>
                <a:sym typeface="Nunito"/>
              </a:rPr>
              <a:t> It uses </a:t>
            </a:r>
            <a:r>
              <a:rPr lang="en" sz="1350" u="sng">
                <a:solidFill>
                  <a:srgbClr val="357960"/>
                </a:solidFill>
                <a:highlight>
                  <a:srgbClr val="FFFFFF"/>
                </a:highlight>
                <a:latin typeface="Nunito"/>
                <a:ea typeface="Nunito"/>
                <a:cs typeface="Nunito"/>
                <a:sym typeface="Nunito"/>
                <a:hlinkClick r:id="rId7">
                  <a:extLst>
                    <a:ext uri="{A12FA001-AC4F-418D-AE19-62706E023703}">
                      <ahyp:hlinkClr xmlns:ahyp="http://schemas.microsoft.com/office/drawing/2018/hyperlinkcolor" val="tx"/>
                    </a:ext>
                  </a:extLst>
                </a:hlinkClick>
              </a:rPr>
              <a:t>AES </a:t>
            </a:r>
            <a:r>
              <a:rPr lang="en" sz="1350">
                <a:solidFill>
                  <a:srgbClr val="273239"/>
                </a:solidFill>
                <a:highlight>
                  <a:srgbClr val="FFFFFF"/>
                </a:highlight>
                <a:latin typeface="Nunito"/>
                <a:ea typeface="Nunito"/>
                <a:cs typeface="Nunito"/>
                <a:sym typeface="Nunito"/>
              </a:rPr>
              <a:t>128 link layer security, which AES is a block cipher having key size of 128/192/256 bits and encrypts data in blocks of 128 bits each. This is defined in IEEE 802.15.4 and provides link authentication and encryption.</a:t>
            </a:r>
            <a:endParaRPr sz="1350">
              <a:solidFill>
                <a:srgbClr val="273239"/>
              </a:solidFill>
              <a:highlight>
                <a:srgbClr val="FFFFFF"/>
              </a:highlight>
              <a:latin typeface="Nunito"/>
              <a:ea typeface="Nunito"/>
              <a:cs typeface="Nunito"/>
              <a:sym typeface="Nunito"/>
            </a:endParaRPr>
          </a:p>
          <a:p>
            <a:pPr marL="0" lvl="0" indent="0" algn="l" rtl="0">
              <a:spcBef>
                <a:spcPts val="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5" name="Google Shape;325;p56"/>
          <p:cNvSpPr txBox="1">
            <a:spLocks noGrp="1"/>
          </p:cNvSpPr>
          <p:nvPr>
            <p:ph type="body" idx="1"/>
          </p:nvPr>
        </p:nvSpPr>
        <p:spPr>
          <a:xfrm>
            <a:off x="381550" y="295225"/>
            <a:ext cx="3834850" cy="2308275"/>
          </a:xfrm>
          <a:prstGeom prst="rect">
            <a:avLst/>
          </a:prstGeom>
        </p:spPr>
        <p:txBody>
          <a:bodyPr spcFirstLastPara="1" wrap="square" lIns="91425" tIns="91425" rIns="91425" bIns="91425" anchor="t" anchorCtr="0">
            <a:noAutofit/>
          </a:bodyPr>
          <a:lstStyle/>
          <a:p>
            <a:pPr marL="0" lvl="0" indent="0" algn="l" rtl="0">
              <a:lnSpc>
                <a:spcPct val="116666"/>
              </a:lnSpc>
              <a:spcBef>
                <a:spcPts val="0"/>
              </a:spcBef>
              <a:spcAft>
                <a:spcPts val="0"/>
              </a:spcAft>
              <a:buClr>
                <a:schemeClr val="dk1"/>
              </a:buClr>
              <a:buSzPct val="61111"/>
              <a:buFont typeface="Arial"/>
              <a:buNone/>
            </a:pPr>
            <a:r>
              <a:rPr lang="en" b="1" dirty="0">
                <a:solidFill>
                  <a:srgbClr val="273239"/>
                </a:solidFill>
                <a:highlight>
                  <a:srgbClr val="FFFFFF"/>
                </a:highlight>
                <a:latin typeface="Nunito"/>
                <a:ea typeface="Nunito"/>
                <a:cs typeface="Nunito"/>
                <a:sym typeface="Nunito"/>
              </a:rPr>
              <a:t>Basic Requirements of 6LoWPAN</a:t>
            </a:r>
            <a:endParaRPr b="1"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The device should be having sleep mode in order to support the battery saving.</a:t>
            </a:r>
            <a:endParaRPr sz="1200"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Minimal memory requirement.</a:t>
            </a:r>
            <a:endParaRPr sz="1200"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Routing overhead should be lowered.</a:t>
            </a:r>
            <a:endParaRPr sz="1200" dirty="0">
              <a:solidFill>
                <a:srgbClr val="273239"/>
              </a:solidFill>
              <a:highlight>
                <a:srgbClr val="FFFFFF"/>
              </a:highlight>
              <a:latin typeface="Nunito"/>
              <a:ea typeface="Nunito"/>
              <a:cs typeface="Nunito"/>
              <a:sym typeface="Nunito"/>
            </a:endParaRPr>
          </a:p>
          <a:p>
            <a:pPr marL="0" lvl="0" indent="0" algn="l" rtl="0">
              <a:lnSpc>
                <a:spcPct val="116666"/>
              </a:lnSpc>
              <a:spcBef>
                <a:spcPts val="1800"/>
              </a:spcBef>
              <a:spcAft>
                <a:spcPts val="0"/>
              </a:spcAft>
              <a:buClr>
                <a:schemeClr val="dk1"/>
              </a:buClr>
              <a:buSzPct val="61111"/>
              <a:buFont typeface="Arial"/>
              <a:buNone/>
            </a:pPr>
            <a:r>
              <a:rPr lang="en" b="1" dirty="0">
                <a:solidFill>
                  <a:srgbClr val="273239"/>
                </a:solidFill>
                <a:highlight>
                  <a:srgbClr val="FFFFFF"/>
                </a:highlight>
                <a:latin typeface="Nunito"/>
                <a:ea typeface="Nunito"/>
                <a:cs typeface="Nunito"/>
                <a:sym typeface="Nunito"/>
              </a:rPr>
              <a:t>Features of 6LoWPAN</a:t>
            </a:r>
            <a:endParaRPr b="1"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It is used with IEEE 802.15,.4 in the 2.4 GHz band.</a:t>
            </a:r>
            <a:endParaRPr sz="1200"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Outdoor range: ~200 m (maximum)</a:t>
            </a:r>
            <a:endParaRPr sz="1200"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Data rate: 200kbps (maximum)</a:t>
            </a:r>
            <a:endParaRPr sz="1200" dirty="0">
              <a:solidFill>
                <a:srgbClr val="273239"/>
              </a:solidFill>
              <a:highlight>
                <a:srgbClr val="FFFFFF"/>
              </a:highlight>
              <a:latin typeface="Nunito"/>
              <a:ea typeface="Nunito"/>
              <a:cs typeface="Nunito"/>
              <a:sym typeface="Nunito"/>
            </a:endParaRPr>
          </a:p>
          <a:p>
            <a:pPr marL="685800" lvl="0" indent="-262890" algn="l" rtl="0">
              <a:lnSpc>
                <a:spcPct val="158000"/>
              </a:lnSpc>
              <a:spcBef>
                <a:spcPts val="0"/>
              </a:spcBef>
              <a:spcAft>
                <a:spcPts val="0"/>
              </a:spcAft>
              <a:buClr>
                <a:srgbClr val="273239"/>
              </a:buClr>
              <a:buSzPct val="100000"/>
              <a:buFont typeface="Nunito"/>
              <a:buChar char="●"/>
            </a:pPr>
            <a:r>
              <a:rPr lang="en" sz="1200" dirty="0">
                <a:solidFill>
                  <a:srgbClr val="273239"/>
                </a:solidFill>
                <a:highlight>
                  <a:srgbClr val="FFFFFF"/>
                </a:highlight>
                <a:latin typeface="Nunito"/>
                <a:ea typeface="Nunito"/>
                <a:cs typeface="Nunito"/>
                <a:sym typeface="Nunito"/>
              </a:rPr>
              <a:t>Maximum number of nodes: ~100</a:t>
            </a:r>
            <a:endParaRPr sz="1200" dirty="0">
              <a:solidFill>
                <a:srgbClr val="273239"/>
              </a:solidFill>
              <a:highlight>
                <a:srgbClr val="FFFFFF"/>
              </a:highlight>
              <a:latin typeface="Nunito"/>
              <a:ea typeface="Nunito"/>
              <a:cs typeface="Nunito"/>
              <a:sym typeface="Nunito"/>
            </a:endParaRPr>
          </a:p>
        </p:txBody>
      </p:sp>
      <p:sp>
        <p:nvSpPr>
          <p:cNvPr id="2" name="TextBox 1"/>
          <p:cNvSpPr txBox="1"/>
          <p:nvPr/>
        </p:nvSpPr>
        <p:spPr>
          <a:xfrm>
            <a:off x="4114800" y="1473200"/>
            <a:ext cx="5362365" cy="3261790"/>
          </a:xfrm>
          <a:prstGeom prst="rect">
            <a:avLst/>
          </a:prstGeom>
          <a:noFill/>
        </p:spPr>
        <p:txBody>
          <a:bodyPr wrap="none" rtlCol="0">
            <a:spAutoFit/>
          </a:bodyPr>
          <a:lstStyle/>
          <a:p>
            <a:pPr lvl="0">
              <a:lnSpc>
                <a:spcPct val="116666"/>
              </a:lnSpc>
              <a:spcBef>
                <a:spcPts val="1800"/>
              </a:spcBef>
              <a:buClr>
                <a:schemeClr val="dk1"/>
              </a:buClr>
              <a:buSzPct val="61111"/>
            </a:pPr>
            <a:r>
              <a:rPr lang="en-US" sz="2400" b="1" dirty="0">
                <a:solidFill>
                  <a:srgbClr val="273239"/>
                </a:solidFill>
                <a:highlight>
                  <a:srgbClr val="FFFFFF"/>
                </a:highlight>
                <a:latin typeface="Nunito"/>
                <a:ea typeface="Nunito"/>
                <a:cs typeface="Nunito"/>
                <a:sym typeface="Nunito"/>
              </a:rPr>
              <a:t>Advantages of  6LoWPAN</a:t>
            </a:r>
          </a:p>
          <a:p>
            <a:pPr marL="685800" lvl="0" indent="-262890">
              <a:lnSpc>
                <a:spcPct val="158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6LoWPAN is a mesh network that is robust, scalable, and can heal on its own.</a:t>
            </a:r>
          </a:p>
          <a:p>
            <a:pPr marL="685800" lvl="0" indent="-262890">
              <a:lnSpc>
                <a:spcPct val="158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It delivers low-cost and secure communication in IoT devices.</a:t>
            </a:r>
          </a:p>
          <a:p>
            <a:pPr marL="685800" lvl="0" indent="-262890">
              <a:lnSpc>
                <a:spcPct val="120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It uses IPv6 protocol and so it can be directly routed to </a:t>
            </a:r>
            <a:r>
              <a:rPr lang="en-US" sz="1000" u="sng"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cloud platforms</a:t>
            </a:r>
            <a:r>
              <a:rPr lang="en-US" sz="1000" dirty="0">
                <a:solidFill>
                  <a:srgbClr val="273239"/>
                </a:solidFill>
                <a:highlight>
                  <a:srgbClr val="FFFFFF"/>
                </a:highlight>
                <a:latin typeface="Nunito"/>
                <a:ea typeface="Nunito"/>
                <a:cs typeface="Nunito"/>
                <a:sym typeface="Nunito"/>
              </a:rPr>
              <a:t>.</a:t>
            </a:r>
          </a:p>
          <a:p>
            <a:pPr marL="685800" lvl="0" indent="-262890">
              <a:lnSpc>
                <a:spcPct val="158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It offers one-to-many and many-to-one routing.</a:t>
            </a:r>
          </a:p>
          <a:p>
            <a:pPr marL="685800" lvl="0" indent="-262890">
              <a:lnSpc>
                <a:spcPct val="158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In the network, leaf nodes can be in sleep mode for a longer duration of time.</a:t>
            </a:r>
          </a:p>
          <a:p>
            <a:pPr lvl="0">
              <a:lnSpc>
                <a:spcPct val="116666"/>
              </a:lnSpc>
              <a:spcBef>
                <a:spcPts val="1800"/>
              </a:spcBef>
              <a:buClr>
                <a:schemeClr val="dk1"/>
              </a:buClr>
              <a:buSzPct val="61111"/>
            </a:pPr>
            <a:r>
              <a:rPr lang="en-US" sz="2400" b="1" dirty="0">
                <a:solidFill>
                  <a:srgbClr val="273239"/>
                </a:solidFill>
                <a:highlight>
                  <a:srgbClr val="FFFFFF"/>
                </a:highlight>
                <a:latin typeface="Nunito"/>
                <a:ea typeface="Nunito"/>
                <a:cs typeface="Nunito"/>
                <a:sym typeface="Nunito"/>
              </a:rPr>
              <a:t>Disadvantages of 6LoWPAN</a:t>
            </a:r>
          </a:p>
          <a:p>
            <a:pPr marL="685800" lvl="0" indent="-262890">
              <a:lnSpc>
                <a:spcPct val="158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It is comparatively less secure than </a:t>
            </a:r>
            <a:r>
              <a:rPr lang="en-US" sz="1000" dirty="0" err="1">
                <a:solidFill>
                  <a:srgbClr val="273239"/>
                </a:solidFill>
                <a:highlight>
                  <a:srgbClr val="FFFFFF"/>
                </a:highlight>
                <a:latin typeface="Nunito"/>
                <a:ea typeface="Nunito"/>
                <a:cs typeface="Nunito"/>
                <a:sym typeface="Nunito"/>
              </a:rPr>
              <a:t>Zigbee</a:t>
            </a:r>
            <a:r>
              <a:rPr lang="en-US" sz="1000" dirty="0">
                <a:solidFill>
                  <a:srgbClr val="273239"/>
                </a:solidFill>
                <a:highlight>
                  <a:srgbClr val="FFFFFF"/>
                </a:highlight>
                <a:latin typeface="Nunito"/>
                <a:ea typeface="Nunito"/>
                <a:cs typeface="Nunito"/>
                <a:sym typeface="Nunito"/>
              </a:rPr>
              <a:t>.</a:t>
            </a:r>
          </a:p>
          <a:p>
            <a:pPr marL="685800" lvl="0" indent="-262890">
              <a:lnSpc>
                <a:spcPct val="120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It has lesser immunity to interference than that Wi-Fi and </a:t>
            </a:r>
            <a:r>
              <a:rPr lang="en-US" sz="1000" u="sng" dirty="0">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Bluetooth.</a:t>
            </a:r>
            <a:endParaRPr lang="en-US" sz="1000" u="sng" dirty="0">
              <a:solidFill>
                <a:srgbClr val="357960"/>
              </a:solidFill>
              <a:highlight>
                <a:srgbClr val="FFFFFF"/>
              </a:highlight>
              <a:latin typeface="Nunito"/>
              <a:ea typeface="Nunito"/>
              <a:cs typeface="Nunito"/>
              <a:sym typeface="Nunito"/>
            </a:endParaRPr>
          </a:p>
          <a:p>
            <a:pPr marL="685800" lvl="0" indent="-262890">
              <a:lnSpc>
                <a:spcPct val="158000"/>
              </a:lnSpc>
              <a:buClr>
                <a:srgbClr val="273239"/>
              </a:buClr>
              <a:buSzPct val="100000"/>
              <a:buFont typeface="Nunito"/>
              <a:buChar char="●"/>
            </a:pPr>
            <a:r>
              <a:rPr lang="en-US" sz="1000" dirty="0">
                <a:solidFill>
                  <a:srgbClr val="273239"/>
                </a:solidFill>
                <a:highlight>
                  <a:srgbClr val="FFFFFF"/>
                </a:highlight>
                <a:latin typeface="Nunito"/>
                <a:ea typeface="Nunito"/>
                <a:cs typeface="Nunito"/>
                <a:sym typeface="Nunito"/>
              </a:rPr>
              <a:t>Without the mesh topology, it supports a short range.</a:t>
            </a:r>
          </a:p>
          <a:p>
            <a:endParaRPr lang="en-US" sz="1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1" name="Google Shape;331;p57"/>
          <p:cNvSpPr txBox="1">
            <a:spLocks noGrp="1"/>
          </p:cNvSpPr>
          <p:nvPr>
            <p:ph type="body" idx="1"/>
          </p:nvPr>
        </p:nvSpPr>
        <p:spPr>
          <a:xfrm>
            <a:off x="267250" y="5047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lnSpc>
                <a:spcPct val="116666"/>
              </a:lnSpc>
              <a:spcBef>
                <a:spcPts val="0"/>
              </a:spcBef>
              <a:spcAft>
                <a:spcPts val="0"/>
              </a:spcAft>
              <a:buClr>
                <a:schemeClr val="dk1"/>
              </a:buClr>
              <a:buSzPct val="61111"/>
              <a:buFont typeface="Arial"/>
              <a:buNone/>
            </a:pPr>
            <a:r>
              <a:rPr lang="en" b="1" dirty="0">
                <a:solidFill>
                  <a:srgbClr val="273239"/>
                </a:solidFill>
                <a:highlight>
                  <a:srgbClr val="FFFFFF"/>
                </a:highlight>
                <a:latin typeface="Nunito"/>
                <a:ea typeface="Nunito"/>
                <a:cs typeface="Nunito"/>
                <a:sym typeface="Nunito"/>
              </a:rPr>
              <a:t>Applications of 6LoWPAN</a:t>
            </a:r>
            <a:endParaRPr b="1" dirty="0">
              <a:solidFill>
                <a:srgbClr val="273239"/>
              </a:solidFill>
              <a:highlight>
                <a:srgbClr val="FFFFFF"/>
              </a:highlight>
              <a:latin typeface="Nunito"/>
              <a:ea typeface="Nunito"/>
              <a:cs typeface="Nunito"/>
              <a:sym typeface="Nunito"/>
            </a:endParaRPr>
          </a:p>
          <a:p>
            <a:pPr marL="685800" lvl="0" indent="-301466" algn="l" rtl="0">
              <a:lnSpc>
                <a:spcPct val="120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It is a </a:t>
            </a:r>
            <a:r>
              <a:rPr lang="en" sz="1350" u="sng"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wireless sensor network.</a:t>
            </a:r>
            <a:endParaRPr sz="1350" u="sng" dirty="0">
              <a:solidFill>
                <a:srgbClr val="357960"/>
              </a:solidFill>
              <a:highlight>
                <a:srgbClr val="FFFFFF"/>
              </a:highlight>
              <a:latin typeface="Nunito"/>
              <a:ea typeface="Nunito"/>
              <a:cs typeface="Nunito"/>
              <a:sym typeface="Nunito"/>
            </a:endParaRPr>
          </a:p>
          <a:p>
            <a:pPr marL="685800" lvl="0" indent="-301466"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It is used in home-automation,</a:t>
            </a:r>
            <a:endParaRPr sz="1350" dirty="0">
              <a:solidFill>
                <a:srgbClr val="273239"/>
              </a:solidFill>
              <a:highlight>
                <a:srgbClr val="FFFFFF"/>
              </a:highlight>
              <a:latin typeface="Nunito"/>
              <a:ea typeface="Nunito"/>
              <a:cs typeface="Nunito"/>
              <a:sym typeface="Nunito"/>
            </a:endParaRPr>
          </a:p>
          <a:p>
            <a:pPr marL="685800" lvl="0" indent="-301466"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It is used in smart agricultural techniques, and industrial monitoring.</a:t>
            </a:r>
            <a:endParaRPr sz="1350" dirty="0">
              <a:solidFill>
                <a:srgbClr val="273239"/>
              </a:solidFill>
              <a:highlight>
                <a:srgbClr val="FFFFFF"/>
              </a:highlight>
              <a:latin typeface="Nunito"/>
              <a:ea typeface="Nunito"/>
              <a:cs typeface="Nunito"/>
              <a:sym typeface="Nunito"/>
            </a:endParaRPr>
          </a:p>
          <a:p>
            <a:pPr marL="685800" lvl="0" indent="-301466"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It is utilised to make IPv6 packet transmission on networks with constrained power and reliability resources possible.</a:t>
            </a:r>
            <a:endParaRPr sz="1350" dirty="0">
              <a:solidFill>
                <a:srgbClr val="273239"/>
              </a:solidFill>
              <a:highlight>
                <a:srgbClr val="FFFFFF"/>
              </a:highlight>
              <a:latin typeface="Nunito"/>
              <a:ea typeface="Nunito"/>
              <a:cs typeface="Nunito"/>
              <a:sym typeface="Nunito"/>
            </a:endParaRPr>
          </a:p>
          <a:p>
            <a:pPr marL="0" lvl="0" indent="0" algn="l" rtl="0">
              <a:lnSpc>
                <a:spcPct val="116666"/>
              </a:lnSpc>
              <a:spcBef>
                <a:spcPts val="1800"/>
              </a:spcBef>
              <a:spcAft>
                <a:spcPts val="0"/>
              </a:spcAft>
              <a:buClr>
                <a:schemeClr val="dk1"/>
              </a:buClr>
              <a:buSzPct val="61111"/>
              <a:buFont typeface="Arial"/>
              <a:buNone/>
            </a:pPr>
            <a:r>
              <a:rPr lang="en" b="1" dirty="0">
                <a:solidFill>
                  <a:srgbClr val="273239"/>
                </a:solidFill>
                <a:highlight>
                  <a:srgbClr val="FFFFFF"/>
                </a:highlight>
                <a:latin typeface="Nunito"/>
                <a:ea typeface="Nunito"/>
                <a:cs typeface="Nunito"/>
                <a:sym typeface="Nunito"/>
              </a:rPr>
              <a:t>Security and Interoperability with 6LoWPAN</a:t>
            </a:r>
            <a:endParaRPr b="1" dirty="0">
              <a:solidFill>
                <a:srgbClr val="273239"/>
              </a:solidFill>
              <a:highlight>
                <a:srgbClr val="FFFFFF"/>
              </a:highlight>
              <a:latin typeface="Nunito"/>
              <a:ea typeface="Nunito"/>
              <a:cs typeface="Nunito"/>
              <a:sym typeface="Nunito"/>
            </a:endParaRPr>
          </a:p>
          <a:p>
            <a:pPr marL="685800" lvl="0" indent="-301466" algn="l" rtl="0">
              <a:lnSpc>
                <a:spcPct val="158000"/>
              </a:lnSpc>
              <a:spcBef>
                <a:spcPts val="0"/>
              </a:spcBef>
              <a:spcAft>
                <a:spcPts val="0"/>
              </a:spcAft>
              <a:buClr>
                <a:srgbClr val="273239"/>
              </a:buClr>
              <a:buSzPct val="100000"/>
              <a:buFont typeface="Nunito"/>
              <a:buChar char="●"/>
            </a:pPr>
            <a:r>
              <a:rPr lang="en" sz="1350" b="1" dirty="0">
                <a:solidFill>
                  <a:srgbClr val="273239"/>
                </a:solidFill>
                <a:highlight>
                  <a:srgbClr val="FFFFFF"/>
                </a:highlight>
                <a:latin typeface="Nunito"/>
                <a:ea typeface="Nunito"/>
                <a:cs typeface="Nunito"/>
                <a:sym typeface="Nunito"/>
              </a:rPr>
              <a:t>Security</a:t>
            </a:r>
            <a:r>
              <a:rPr lang="en" sz="1350" dirty="0">
                <a:solidFill>
                  <a:srgbClr val="273239"/>
                </a:solidFill>
                <a:highlight>
                  <a:srgbClr val="FFFFFF"/>
                </a:highlight>
                <a:latin typeface="Nunito"/>
                <a:ea typeface="Nunito"/>
                <a:cs typeface="Nunito"/>
                <a:sym typeface="Nunito"/>
              </a:rPr>
              <a:t>: 6LoWPAN security is ensured by the AES algorithm, which is a link layer security, and the transport layer security mechanisms are included as well. </a:t>
            </a:r>
            <a:endParaRPr sz="1350" dirty="0">
              <a:solidFill>
                <a:srgbClr val="273239"/>
              </a:solidFill>
              <a:highlight>
                <a:srgbClr val="FFFFFF"/>
              </a:highlight>
              <a:latin typeface="Nunito"/>
              <a:ea typeface="Nunito"/>
              <a:cs typeface="Nunito"/>
              <a:sym typeface="Nunito"/>
            </a:endParaRPr>
          </a:p>
          <a:p>
            <a:pPr marL="685800" lvl="0" indent="-301466" algn="l" rtl="0">
              <a:lnSpc>
                <a:spcPct val="158000"/>
              </a:lnSpc>
              <a:spcBef>
                <a:spcPts val="0"/>
              </a:spcBef>
              <a:spcAft>
                <a:spcPts val="0"/>
              </a:spcAft>
              <a:buClr>
                <a:srgbClr val="273239"/>
              </a:buClr>
              <a:buSzPct val="100000"/>
              <a:buFont typeface="Nunito"/>
              <a:buChar char="●"/>
            </a:pPr>
            <a:r>
              <a:rPr lang="en" sz="1350" b="1" dirty="0">
                <a:solidFill>
                  <a:srgbClr val="273239"/>
                </a:solidFill>
                <a:highlight>
                  <a:srgbClr val="FFFFFF"/>
                </a:highlight>
                <a:latin typeface="Nunito"/>
                <a:ea typeface="Nunito"/>
                <a:cs typeface="Nunito"/>
                <a:sym typeface="Nunito"/>
              </a:rPr>
              <a:t>Interoperability: </a:t>
            </a:r>
            <a:r>
              <a:rPr lang="en" sz="1350" dirty="0">
                <a:solidFill>
                  <a:srgbClr val="273239"/>
                </a:solidFill>
                <a:highlight>
                  <a:srgbClr val="FFFFFF"/>
                </a:highlight>
                <a:latin typeface="Nunito"/>
                <a:ea typeface="Nunito"/>
                <a:cs typeface="Nunito"/>
                <a:sym typeface="Nunito"/>
              </a:rPr>
              <a:t>6LoWPAN is able to operate with other wireless devices as well which makes it interoperable in a network.</a:t>
            </a:r>
            <a:endParaRPr sz="1350" dirty="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8"/>
          <p:cNvSpPr txBox="1">
            <a:spLocks noGrp="1"/>
          </p:cNvSpPr>
          <p:nvPr>
            <p:ph type="subTitle" idx="1"/>
          </p:nvPr>
        </p:nvSpPr>
        <p:spPr>
          <a:xfrm>
            <a:off x="286300" y="67450"/>
            <a:ext cx="8520600" cy="4155300"/>
          </a:xfrm>
          <a:prstGeom prst="rect">
            <a:avLst/>
          </a:prstGeom>
        </p:spPr>
        <p:txBody>
          <a:bodyPr spcFirstLastPara="1" wrap="square" lIns="91425" tIns="91425" rIns="91425" bIns="91425" anchor="t" anchorCtr="0">
            <a:noAutofit/>
          </a:bodyPr>
          <a:lstStyle/>
          <a:p>
            <a:pPr marL="0" lvl="0" indent="0" algn="l" rtl="0">
              <a:lnSpc>
                <a:spcPct val="116666"/>
              </a:lnSpc>
              <a:spcBef>
                <a:spcPts val="0"/>
              </a:spcBef>
              <a:spcAft>
                <a:spcPts val="0"/>
              </a:spcAft>
              <a:buClr>
                <a:schemeClr val="dk1"/>
              </a:buClr>
              <a:buSzPct val="61111"/>
              <a:buFont typeface="Arial"/>
              <a:buNone/>
            </a:pPr>
            <a:r>
              <a:rPr lang="en-US" sz="1000" b="1"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4. </a:t>
            </a:r>
            <a:r>
              <a:rPr lang="en-US" sz="1000" b="1"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Icmp</a:t>
            </a:r>
            <a:endParaRPr lang="en-US" sz="1000" b="1"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endParaRPr>
          </a:p>
          <a:p>
            <a:pPr marL="0" lvl="0" indent="0" algn="just" rtl="0">
              <a:lnSpc>
                <a:spcPct val="120000"/>
              </a:lnSpc>
              <a:spcBef>
                <a:spcPts val="0"/>
              </a:spcBef>
              <a:spcAft>
                <a:spcPts val="0"/>
              </a:spcAft>
              <a:buClr>
                <a:schemeClr val="dk1"/>
              </a:buClr>
              <a:buSzPct val="81481"/>
              <a:buFont typeface="Arial"/>
              <a:buNone/>
            </a:pP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ICMP Stands For Internet Control Message Protocol. ICMP Is A Part Of IP Protocol Suite. ICMP Is An Error Reporting And Network Diagnostic Protocol. Feedback In The Network Is Reported To The Designated Host. Meanwhile, If Any Kind Of Error Occur It Is Then Reported To ICMP. ICMP Protocol Consists Of Many Error Reporting And Diagnostic Messages. ICMP Protocol Handles Various Kinds Of Errors Such As Time Exceeded, Redirection, Source Quench, Destination Unreachable, Parameter Problems Etc. The Messages In ICMP Are Divided Into Two Types. They Are Given Below:</a:t>
            </a:r>
          </a:p>
          <a:p>
            <a:pPr marL="685800" lvl="0" indent="-269319" algn="l" rtl="0">
              <a:lnSpc>
                <a:spcPct val="158000"/>
              </a:lnSpc>
              <a:spcBef>
                <a:spcPts val="800"/>
              </a:spcBef>
              <a:spcAft>
                <a:spcPts val="0"/>
              </a:spcAft>
              <a:buClr>
                <a:srgbClr val="273239"/>
              </a:buClr>
              <a:buSzPct val="100000"/>
              <a:buFont typeface="Nunito"/>
              <a:buChar char="●"/>
            </a:pP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Error Message: Error Message States About The Issues Or Problems That Are Faced By The Host Or Routers During Processing Of IP Packet.</a:t>
            </a:r>
          </a:p>
          <a:p>
            <a:pPr marL="685800" lvl="0" indent="-269319" algn="l" rtl="0">
              <a:lnSpc>
                <a:spcPct val="158000"/>
              </a:lnSpc>
              <a:spcBef>
                <a:spcPts val="0"/>
              </a:spcBef>
              <a:spcAft>
                <a:spcPts val="0"/>
              </a:spcAft>
              <a:buClr>
                <a:srgbClr val="273239"/>
              </a:buClr>
              <a:buSzPct val="100000"/>
              <a:buFont typeface="Nunito"/>
              <a:buChar char="●"/>
            </a:pP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Query Message: Query Messages Are Used By The Host In Order To Get Information From A Router Or Another Host.</a:t>
            </a:r>
          </a:p>
          <a:p>
            <a:pPr marL="0" lvl="0" indent="0" algn="l" rtl="0">
              <a:lnSpc>
                <a:spcPct val="140000"/>
              </a:lnSpc>
              <a:spcBef>
                <a:spcPts val="1800"/>
              </a:spcBef>
              <a:spcAft>
                <a:spcPts val="0"/>
              </a:spcAft>
              <a:buClr>
                <a:schemeClr val="dk1"/>
              </a:buClr>
              <a:buSzPct val="73333"/>
              <a:buFont typeface="Arial"/>
              <a:buNone/>
            </a:pPr>
            <a:r>
              <a:rPr lang="en-US" sz="800" b="1"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How Does </a:t>
            </a:r>
            <a:r>
              <a:rPr lang="en-US" sz="900" cap="none" dirty="0">
                <a:solidFill>
                  <a:schemeClr val="dk1"/>
                </a:solidFill>
                <a:latin typeface="Times New Roman" panose="02020603050405020304" pitchFamily="18" charset="0"/>
                <a:cs typeface="Times New Roman" panose="02020603050405020304" pitchFamily="18" charset="0"/>
                <a:sym typeface="Nunito"/>
              </a:rPr>
              <a:t>ICMP</a:t>
            </a:r>
            <a:r>
              <a:rPr lang="en-US" sz="800" b="1"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Work?</a:t>
            </a:r>
          </a:p>
          <a:p>
            <a:pPr marL="685800" lvl="0" indent="-269319" algn="l" rtl="0">
              <a:lnSpc>
                <a:spcPct val="158000"/>
              </a:lnSpc>
              <a:spcBef>
                <a:spcPts val="1800"/>
              </a:spcBef>
              <a:spcAft>
                <a:spcPts val="0"/>
              </a:spcAft>
              <a:buClr>
                <a:srgbClr val="273239"/>
              </a:buClr>
              <a:buSzPct val="100000"/>
              <a:buFont typeface="Nunito"/>
              <a:buChar char="●"/>
            </a:pP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The Main And Most Significant Protocol In The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Suite Is Called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Icmp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However, Unlike TCP And UDP, ICMP Is A Connectionless Protocol, Meaning It Doesn't Require A Connection To Be Established With The Target Device In Order To Transmit A Message.</a:t>
            </a:r>
          </a:p>
          <a:p>
            <a:pPr marL="685800" lvl="0" indent="-269319" algn="l" rtl="0">
              <a:lnSpc>
                <a:spcPct val="120000"/>
              </a:lnSpc>
              <a:spcBef>
                <a:spcPts val="0"/>
              </a:spcBef>
              <a:spcAft>
                <a:spcPts val="0"/>
              </a:spcAft>
              <a:buClr>
                <a:srgbClr val="273239"/>
              </a:buClr>
              <a:buSzPct val="100000"/>
              <a:buFont typeface="Nunito"/>
              <a:buChar char="●"/>
            </a:pP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Tcp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And </a:t>
            </a:r>
            <a:r>
              <a:rPr lang="en-US" sz="700" u="sng" cap="none" dirty="0" err="1">
                <a:solidFill>
                  <a:srgbClr val="357960"/>
                </a:solidFill>
                <a:highlight>
                  <a:srgbClr val="FFFFFF"/>
                </a:highlight>
                <a:latin typeface="Times New Roman" panose="02020603050405020304" pitchFamily="18" charset="0"/>
                <a:ea typeface="Nunito"/>
                <a:cs typeface="Times New Roman" panose="02020603050405020304" pitchFamily="18" charset="0"/>
                <a:sym typeface="Nunito"/>
                <a:hlinkClick r:id="rId3">
                  <a:extLst>
                    <a:ext uri="{A12FA001-AC4F-418D-AE19-62706E023703}">
                      <ahyp:hlinkClr xmlns:ahyp="http://schemas.microsoft.com/office/drawing/2018/hyperlinkcolor" val="tx"/>
                    </a:ext>
                  </a:extLst>
                </a:hlinkClick>
              </a:rPr>
              <a:t>Icmp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Operate Differently From One Another;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Tcp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Is A Connection-oriented Protocol, While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Icmp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Operates Without A Connection. Every Time A Connection Is Made Prior To A Message Being Sent, A TCP Handshake Is Required Of Both Devices.</a:t>
            </a:r>
          </a:p>
          <a:p>
            <a:pPr marL="685800" lvl="0" indent="-269319" algn="l" rtl="0">
              <a:lnSpc>
                <a:spcPct val="158000"/>
              </a:lnSpc>
              <a:spcBef>
                <a:spcPts val="0"/>
              </a:spcBef>
              <a:spcAft>
                <a:spcPts val="0"/>
              </a:spcAft>
              <a:buClr>
                <a:srgbClr val="273239"/>
              </a:buClr>
              <a:buSzPct val="100000"/>
              <a:buFont typeface="Nunito"/>
              <a:buChar char="●"/>
            </a:pP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Datagrams Including An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Header Containing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Icmp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Data Are Used To Transmit </a:t>
            </a:r>
            <a:r>
              <a:rPr lang="en-US" sz="700" cap="none" dirty="0" err="1">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Icmp</a:t>
            </a:r>
            <a:r>
              <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rPr>
              <a:t> Packets. An Independent Data Item Like A Packet Is Comparable To An ICMP Datagram.</a:t>
            </a:r>
          </a:p>
          <a:p>
            <a:pPr marL="0" lvl="0" indent="0" algn="l" rtl="0">
              <a:lnSpc>
                <a:spcPct val="132352"/>
              </a:lnSpc>
              <a:spcBef>
                <a:spcPts val="1800"/>
              </a:spcBef>
              <a:spcAft>
                <a:spcPts val="0"/>
              </a:spcAft>
              <a:buNone/>
            </a:pPr>
            <a:r>
              <a:rPr lang="en-US" sz="900" cap="none" dirty="0">
                <a:solidFill>
                  <a:schemeClr val="dk1"/>
                </a:solidFill>
                <a:latin typeface="Times New Roman" panose="02020603050405020304" pitchFamily="18" charset="0"/>
                <a:cs typeface="Times New Roman" panose="02020603050405020304" pitchFamily="18" charset="0"/>
              </a:rPr>
              <a:t>Internet Control Message Protocol (ICMP)</a:t>
            </a:r>
          </a:p>
          <a:p>
            <a:pPr marL="0" lvl="0" indent="0" algn="l" rtl="0">
              <a:lnSpc>
                <a:spcPct val="115000"/>
              </a:lnSpc>
              <a:spcBef>
                <a:spcPts val="400"/>
              </a:spcBef>
              <a:spcAft>
                <a:spcPts val="0"/>
              </a:spcAft>
              <a:buNone/>
            </a:pP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ICMP Is Network Diagnostic And Error Reporting Protocol. ICMP Belongs To IP Protocol Suite And Uses IP As Carrier Protocol. After Constructing ICMP Packet, It Is Encapsulated In IP Packet. Because IP Itself Is A Best-effort Non-reliable Protocol, So Is ICMP.</a:t>
            </a:r>
          </a:p>
          <a:p>
            <a:pPr marL="0" lvl="0" indent="0" algn="l" rtl="0">
              <a:lnSpc>
                <a:spcPct val="115000"/>
              </a:lnSpc>
              <a:spcBef>
                <a:spcPts val="1200"/>
              </a:spcBef>
              <a:spcAft>
                <a:spcPts val="0"/>
              </a:spcAft>
              <a:buNone/>
            </a:pP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Any Feedback About Network Is Sent Back To The Originating Host. If Some Error In The Network Occurs, It Is Reported By Means Of ICMP. ICMP Contains Dozens Of Diagnostic And Error Reporting Messages.</a:t>
            </a:r>
          </a:p>
          <a:p>
            <a:pPr marL="0" lvl="0" indent="0" algn="l" rtl="0">
              <a:lnSpc>
                <a:spcPct val="115000"/>
              </a:lnSpc>
              <a:spcBef>
                <a:spcPts val="1200"/>
              </a:spcBef>
              <a:spcAft>
                <a:spcPts val="0"/>
              </a:spcAft>
              <a:buNone/>
            </a:pPr>
            <a:r>
              <a:rPr lang="en-US" sz="700" cap="none" dirty="0" err="1">
                <a:solidFill>
                  <a:schemeClr val="dk1"/>
                </a:solidFill>
                <a:latin typeface="Times New Roman" panose="02020603050405020304" pitchFamily="18" charset="0"/>
                <a:ea typeface="Verdana"/>
                <a:cs typeface="Times New Roman" panose="02020603050405020304" pitchFamily="18" charset="0"/>
                <a:sym typeface="Verdana"/>
              </a:rPr>
              <a:t>Icmp</a:t>
            </a: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-echo And </a:t>
            </a:r>
            <a:r>
              <a:rPr lang="en-US" sz="700" cap="none" dirty="0" err="1">
                <a:solidFill>
                  <a:schemeClr val="dk1"/>
                </a:solidFill>
                <a:latin typeface="Times New Roman" panose="02020603050405020304" pitchFamily="18" charset="0"/>
                <a:ea typeface="Verdana"/>
                <a:cs typeface="Times New Roman" panose="02020603050405020304" pitchFamily="18" charset="0"/>
                <a:sym typeface="Verdana"/>
              </a:rPr>
              <a:t>Icmp</a:t>
            </a: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-echo-reply Are The Most Commonly Used </a:t>
            </a:r>
            <a:r>
              <a:rPr lang="en-US" sz="700" cap="none" dirty="0" err="1">
                <a:solidFill>
                  <a:schemeClr val="dk1"/>
                </a:solidFill>
                <a:latin typeface="Times New Roman" panose="02020603050405020304" pitchFamily="18" charset="0"/>
                <a:ea typeface="Verdana"/>
                <a:cs typeface="Times New Roman" panose="02020603050405020304" pitchFamily="18" charset="0"/>
                <a:sym typeface="Verdana"/>
              </a:rPr>
              <a:t>Icmp</a:t>
            </a: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 Messages To Check The Reachability Of End-to-end Hosts. When A Host Receives An </a:t>
            </a:r>
            <a:r>
              <a:rPr lang="en-US" sz="700" cap="none" dirty="0" err="1">
                <a:solidFill>
                  <a:schemeClr val="dk1"/>
                </a:solidFill>
                <a:latin typeface="Times New Roman" panose="02020603050405020304" pitchFamily="18" charset="0"/>
                <a:ea typeface="Verdana"/>
                <a:cs typeface="Times New Roman" panose="02020603050405020304" pitchFamily="18" charset="0"/>
                <a:sym typeface="Verdana"/>
              </a:rPr>
              <a:t>Icmp</a:t>
            </a: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-echo Request, It Is Bound To Send Back An </a:t>
            </a:r>
            <a:r>
              <a:rPr lang="en-US" sz="700" cap="none" dirty="0" err="1">
                <a:solidFill>
                  <a:schemeClr val="dk1"/>
                </a:solidFill>
                <a:latin typeface="Times New Roman" panose="02020603050405020304" pitchFamily="18" charset="0"/>
                <a:ea typeface="Verdana"/>
                <a:cs typeface="Times New Roman" panose="02020603050405020304" pitchFamily="18" charset="0"/>
                <a:sym typeface="Verdana"/>
              </a:rPr>
              <a:t>Icmp</a:t>
            </a:r>
            <a:r>
              <a:rPr lang="en-US" sz="700" cap="none" dirty="0">
                <a:solidFill>
                  <a:schemeClr val="dk1"/>
                </a:solidFill>
                <a:latin typeface="Times New Roman" panose="02020603050405020304" pitchFamily="18" charset="0"/>
                <a:ea typeface="Verdana"/>
                <a:cs typeface="Times New Roman" panose="02020603050405020304" pitchFamily="18" charset="0"/>
                <a:sym typeface="Verdana"/>
              </a:rPr>
              <a:t>-echo-reply. If There Is Any Problem In The Transit Network, The ICMP Will Report That Problem.</a:t>
            </a:r>
          </a:p>
          <a:p>
            <a:pPr marL="0" lvl="0" indent="0" algn="l" rtl="0">
              <a:lnSpc>
                <a:spcPct val="158000"/>
              </a:lnSpc>
              <a:spcBef>
                <a:spcPts val="1200"/>
              </a:spcBef>
              <a:spcAft>
                <a:spcPts val="0"/>
              </a:spcAft>
              <a:buNone/>
            </a:pPr>
            <a:endParaRPr lang="en-US" sz="700" cap="none" dirty="0">
              <a:solidFill>
                <a:srgbClr val="273239"/>
              </a:solidFill>
              <a:highlight>
                <a:srgbClr val="FFFFFF"/>
              </a:highlight>
              <a:latin typeface="Times New Roman" panose="02020603050405020304" pitchFamily="18" charset="0"/>
              <a:ea typeface="Nunito"/>
              <a:cs typeface="Times New Roman" panose="02020603050405020304" pitchFamily="18" charset="0"/>
              <a:sym typeface="Nunito"/>
            </a:endParaRPr>
          </a:p>
          <a:p>
            <a:pPr marL="0" lvl="0" indent="0" algn="ctr" rtl="0">
              <a:spcBef>
                <a:spcPts val="1800"/>
              </a:spcBef>
              <a:spcAft>
                <a:spcPts val="0"/>
              </a:spcAft>
              <a:buNone/>
            </a:pPr>
            <a:endParaRPr lang="en-US" sz="1000" cap="none"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None/>
            </a:pPr>
            <a:endParaRPr lang="en-US" sz="1000" cap="none"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None/>
            </a:pPr>
            <a:endParaRPr lang="en-US" sz="1000" cap="none"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None/>
            </a:pPr>
            <a:endParaRPr lang="en-US" sz="1000" cap="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9"/>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342" name="Google Shape;342;p59"/>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343" name="Google Shape;343;p59"/>
          <p:cNvPicPr preferRelativeResize="0"/>
          <p:nvPr/>
        </p:nvPicPr>
        <p:blipFill>
          <a:blip r:embed="rId3">
            <a:alphaModFix/>
          </a:blip>
          <a:stretch>
            <a:fillRect/>
          </a:stretch>
        </p:blipFill>
        <p:spPr>
          <a:xfrm>
            <a:off x="2100263" y="1333500"/>
            <a:ext cx="4943475" cy="24765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60"/>
          <p:cNvSpPr txBox="1">
            <a:spLocks noGrp="1"/>
          </p:cNvSpPr>
          <p:nvPr>
            <p:ph type="subTitle" idx="1"/>
          </p:nvPr>
        </p:nvSpPr>
        <p:spPr>
          <a:xfrm>
            <a:off x="237323" y="184547"/>
            <a:ext cx="6185353" cy="4123500"/>
          </a:xfrm>
          <a:prstGeom prst="rect">
            <a:avLst/>
          </a:prstGeom>
        </p:spPr>
        <p:txBody>
          <a:bodyPr spcFirstLastPara="1" wrap="square" lIns="91425" tIns="91425" rIns="91425" bIns="91425" anchor="t" anchorCtr="0">
            <a:normAutofit fontScale="92500"/>
          </a:bodyPr>
          <a:lstStyle/>
          <a:p>
            <a:pPr marL="0" lvl="0" indent="0" algn="l" rtl="0">
              <a:lnSpc>
                <a:spcPct val="116666"/>
              </a:lnSpc>
              <a:spcBef>
                <a:spcPts val="0"/>
              </a:spcBef>
              <a:spcAft>
                <a:spcPts val="0"/>
              </a:spcAft>
              <a:buClr>
                <a:schemeClr val="dk1"/>
              </a:buClr>
              <a:buSzPts val="1100"/>
              <a:buFont typeface="Arial"/>
              <a:buNone/>
            </a:pPr>
            <a:r>
              <a:rPr lang="en-US" sz="1800" b="1" cap="none" dirty="0">
                <a:solidFill>
                  <a:srgbClr val="273239"/>
                </a:solidFill>
                <a:highlight>
                  <a:srgbClr val="FFFFFF"/>
                </a:highlight>
                <a:latin typeface="Nunito"/>
                <a:ea typeface="Nunito"/>
                <a:cs typeface="Nunito"/>
                <a:sym typeface="Nunito"/>
              </a:rPr>
              <a:t>What Is RPL (Ipv6 Routing Protocol)?</a:t>
            </a:r>
          </a:p>
          <a:p>
            <a:pPr marL="0" lvl="0" indent="0" algn="l" rtl="0">
              <a:lnSpc>
                <a:spcPct val="116666"/>
              </a:lnSpc>
              <a:spcBef>
                <a:spcPts val="0"/>
              </a:spcBef>
              <a:spcAft>
                <a:spcPts val="0"/>
              </a:spcAft>
              <a:buClr>
                <a:schemeClr val="dk1"/>
              </a:buClr>
              <a:buSzPts val="1100"/>
              <a:buFont typeface="Arial"/>
              <a:buNone/>
            </a:pPr>
            <a:endParaRPr lang="en-US" sz="1800" b="1" cap="none" dirty="0">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ts val="1100"/>
              <a:buFont typeface="Arial"/>
              <a:buNone/>
            </a:pPr>
            <a:r>
              <a:rPr lang="en-US" sz="1350" b="1" cap="none" dirty="0">
                <a:solidFill>
                  <a:srgbClr val="273239"/>
                </a:solidFill>
                <a:highlight>
                  <a:srgbClr val="FFFFFF"/>
                </a:highlight>
                <a:latin typeface="Nunito"/>
                <a:ea typeface="Nunito"/>
                <a:cs typeface="Nunito"/>
                <a:sym typeface="Nunito"/>
              </a:rPr>
              <a:t>RPL</a:t>
            </a:r>
            <a:r>
              <a:rPr lang="en-US" sz="1350" cap="none" dirty="0">
                <a:solidFill>
                  <a:srgbClr val="273239"/>
                </a:solidFill>
                <a:highlight>
                  <a:srgbClr val="FFFFFF"/>
                </a:highlight>
                <a:latin typeface="Nunito"/>
                <a:ea typeface="Nunito"/>
                <a:cs typeface="Nunito"/>
                <a:sym typeface="Nunito"/>
              </a:rPr>
              <a:t> Stands For </a:t>
            </a:r>
            <a:r>
              <a:rPr lang="en-US" sz="1350" b="1" cap="none" dirty="0">
                <a:solidFill>
                  <a:srgbClr val="273239"/>
                </a:solidFill>
                <a:highlight>
                  <a:srgbClr val="FFFFFF"/>
                </a:highlight>
                <a:latin typeface="Nunito"/>
                <a:ea typeface="Nunito"/>
                <a:cs typeface="Nunito"/>
                <a:sym typeface="Nunito"/>
              </a:rPr>
              <a:t>Routing Protocol For Low Power And Lossy Networks</a:t>
            </a:r>
            <a:r>
              <a:rPr lang="en-US" sz="1350" cap="none" dirty="0">
                <a:solidFill>
                  <a:srgbClr val="273239"/>
                </a:solidFill>
                <a:highlight>
                  <a:srgbClr val="FFFFFF"/>
                </a:highlight>
                <a:latin typeface="Nunito"/>
                <a:ea typeface="Nunito"/>
                <a:cs typeface="Nunito"/>
                <a:sym typeface="Nunito"/>
              </a:rPr>
              <a:t> For Heterogeneous Traffic Networks. It Is A Routing Protocol For Wireless Networks. This Protocol Is Based On The Same Standard As By Zigbee And 6 </a:t>
            </a:r>
            <a:r>
              <a:rPr lang="en-US" sz="1350" cap="none" dirty="0" err="1">
                <a:solidFill>
                  <a:srgbClr val="273239"/>
                </a:solidFill>
                <a:highlight>
                  <a:srgbClr val="FFFFFF"/>
                </a:highlight>
                <a:latin typeface="Nunito"/>
                <a:ea typeface="Nunito"/>
                <a:cs typeface="Nunito"/>
                <a:sym typeface="Nunito"/>
              </a:rPr>
              <a:t>Lowpan</a:t>
            </a:r>
            <a:r>
              <a:rPr lang="en-US" sz="1350" cap="none" dirty="0">
                <a:solidFill>
                  <a:srgbClr val="273239"/>
                </a:solidFill>
                <a:highlight>
                  <a:srgbClr val="FFFFFF"/>
                </a:highlight>
                <a:latin typeface="Nunito"/>
                <a:ea typeface="Nunito"/>
                <a:cs typeface="Nunito"/>
                <a:sym typeface="Nunito"/>
              </a:rPr>
              <a:t> Is IEEE 802.15.4 It Holds Both Many-to-one And One-to-one Communication.</a:t>
            </a:r>
          </a:p>
          <a:p>
            <a:pPr marL="0" lvl="0" indent="0" algn="just" rtl="0">
              <a:lnSpc>
                <a:spcPct val="120000"/>
              </a:lnSpc>
              <a:spcBef>
                <a:spcPts val="800"/>
              </a:spcBef>
              <a:spcAft>
                <a:spcPts val="0"/>
              </a:spcAft>
              <a:buClr>
                <a:schemeClr val="dk1"/>
              </a:buClr>
              <a:buSzPts val="1100"/>
              <a:buFont typeface="Arial"/>
              <a:buNone/>
            </a:pPr>
            <a:r>
              <a:rPr lang="en-US" sz="1350" cap="none" dirty="0">
                <a:solidFill>
                  <a:srgbClr val="273239"/>
                </a:solidFill>
                <a:highlight>
                  <a:srgbClr val="FFFFFF"/>
                </a:highlight>
                <a:latin typeface="Nunito"/>
                <a:ea typeface="Nunito"/>
                <a:cs typeface="Nunito"/>
                <a:sym typeface="Nunito"/>
              </a:rPr>
              <a:t>It Is A </a:t>
            </a:r>
            <a:r>
              <a:rPr lang="en-US" sz="1350" b="1" u="sng" cap="none"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Distance Vector Routing</a:t>
            </a:r>
            <a:r>
              <a:rPr lang="en-US" sz="1350" u="sng" cap="none"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 </a:t>
            </a:r>
            <a:r>
              <a:rPr lang="en-US" sz="1350" b="1" u="sng" cap="none"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Protocol</a:t>
            </a:r>
            <a:r>
              <a:rPr lang="en-US" sz="1350" b="1" cap="none" dirty="0">
                <a:solidFill>
                  <a:srgbClr val="273239"/>
                </a:solidFill>
                <a:highlight>
                  <a:srgbClr val="FFFFFF"/>
                </a:highlight>
                <a:latin typeface="Nunito"/>
                <a:ea typeface="Nunito"/>
                <a:cs typeface="Nunito"/>
                <a:sym typeface="Nunito"/>
              </a:rPr>
              <a:t> </a:t>
            </a:r>
            <a:r>
              <a:rPr lang="en-US" sz="1350" cap="none" dirty="0">
                <a:solidFill>
                  <a:srgbClr val="273239"/>
                </a:solidFill>
                <a:highlight>
                  <a:srgbClr val="FFFFFF"/>
                </a:highlight>
                <a:latin typeface="Nunito"/>
                <a:ea typeface="Nunito"/>
                <a:cs typeface="Nunito"/>
                <a:sym typeface="Nunito"/>
              </a:rPr>
              <a:t>That Creates A Tree-like Routing Topology Called The </a:t>
            </a:r>
            <a:r>
              <a:rPr lang="en-US" sz="1350" i="1" cap="none" dirty="0">
                <a:solidFill>
                  <a:srgbClr val="273239"/>
                </a:solidFill>
                <a:highlight>
                  <a:srgbClr val="FFFFFF"/>
                </a:highlight>
                <a:latin typeface="Nunito"/>
                <a:ea typeface="Nunito"/>
                <a:cs typeface="Nunito"/>
                <a:sym typeface="Nunito"/>
              </a:rPr>
              <a:t>Destination Oriented Directed Acyclic Graph (</a:t>
            </a:r>
            <a:r>
              <a:rPr lang="en-US" sz="1350" i="1" cap="none" dirty="0" err="1">
                <a:solidFill>
                  <a:srgbClr val="273239"/>
                </a:solidFill>
                <a:highlight>
                  <a:srgbClr val="FFFFFF"/>
                </a:highlight>
                <a:latin typeface="Nunito"/>
                <a:ea typeface="Nunito"/>
                <a:cs typeface="Nunito"/>
                <a:sym typeface="Nunito"/>
              </a:rPr>
              <a:t>Dodag</a:t>
            </a:r>
            <a:r>
              <a:rPr lang="en-US" sz="1350" i="1" cap="none" dirty="0">
                <a:solidFill>
                  <a:srgbClr val="273239"/>
                </a:solidFill>
                <a:highlight>
                  <a:srgbClr val="FFFFFF"/>
                </a:highlight>
                <a:latin typeface="Nunito"/>
                <a:ea typeface="Nunito"/>
                <a:cs typeface="Nunito"/>
                <a:sym typeface="Nunito"/>
              </a:rPr>
              <a:t>)</a:t>
            </a:r>
            <a:r>
              <a:rPr lang="en-US" sz="1350" cap="none" dirty="0">
                <a:solidFill>
                  <a:srgbClr val="273239"/>
                </a:solidFill>
                <a:highlight>
                  <a:srgbClr val="FFFFFF"/>
                </a:highlight>
                <a:latin typeface="Nunito"/>
                <a:ea typeface="Nunito"/>
                <a:cs typeface="Nunito"/>
                <a:sym typeface="Nunito"/>
              </a:rPr>
              <a:t>, Rooted Towards One Or More Nodes Called The Root Node Or Sink Node.</a:t>
            </a:r>
          </a:p>
          <a:p>
            <a:pPr marL="0" lvl="0" indent="0" algn="just" rtl="0">
              <a:lnSpc>
                <a:spcPct val="120000"/>
              </a:lnSpc>
              <a:spcBef>
                <a:spcPts val="800"/>
              </a:spcBef>
              <a:spcAft>
                <a:spcPts val="0"/>
              </a:spcAft>
              <a:buClr>
                <a:schemeClr val="dk1"/>
              </a:buClr>
              <a:buSzPts val="1100"/>
              <a:buFont typeface="Arial"/>
              <a:buNone/>
            </a:pPr>
            <a:r>
              <a:rPr lang="en-US" sz="1350" cap="none" dirty="0">
                <a:solidFill>
                  <a:srgbClr val="273239"/>
                </a:solidFill>
                <a:highlight>
                  <a:srgbClr val="FFFFFF"/>
                </a:highlight>
                <a:latin typeface="Nunito"/>
                <a:ea typeface="Nunito"/>
                <a:cs typeface="Nunito"/>
                <a:sym typeface="Nunito"/>
              </a:rPr>
              <a:t>The </a:t>
            </a:r>
            <a:r>
              <a:rPr lang="en-US" sz="1350" i="1" u="sng" cap="none" dirty="0">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Directed Acyclic Graphs</a:t>
            </a:r>
            <a:r>
              <a:rPr lang="en-US" sz="1350" cap="none" dirty="0">
                <a:solidFill>
                  <a:srgbClr val="273239"/>
                </a:solidFill>
                <a:highlight>
                  <a:srgbClr val="FFFFFF"/>
                </a:highlight>
                <a:latin typeface="Nunito"/>
                <a:ea typeface="Nunito"/>
                <a:cs typeface="Nunito"/>
                <a:sym typeface="Nunito"/>
              </a:rPr>
              <a:t> (DAGs) Are Created Based On User-specified Specific Objective Function (Of). The OF Defines The Method To Find The Best-optimized Route Among The Number Of Sensor Devices.</a:t>
            </a:r>
          </a:p>
          <a:p>
            <a:pPr marL="0" lvl="0" indent="0" algn="ctr" rtl="0">
              <a:spcBef>
                <a:spcPts val="800"/>
              </a:spcBef>
              <a:spcAft>
                <a:spcPts val="0"/>
              </a:spcAft>
              <a:buNone/>
            </a:pPr>
            <a:endParaRPr lang="en-US" cap="none" dirty="0"/>
          </a:p>
        </p:txBody>
      </p:sp>
      <p:pic>
        <p:nvPicPr>
          <p:cNvPr id="349" name="Google Shape;349;p60"/>
          <p:cNvPicPr preferRelativeResize="0"/>
          <p:nvPr/>
        </p:nvPicPr>
        <p:blipFill>
          <a:blip r:embed="rId5">
            <a:alphaModFix/>
          </a:blip>
          <a:stretch>
            <a:fillRect/>
          </a:stretch>
        </p:blipFill>
        <p:spPr>
          <a:xfrm>
            <a:off x="6458593" y="812116"/>
            <a:ext cx="2371772" cy="258735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1"/>
          <p:cNvSpPr txBox="1"/>
          <p:nvPr/>
        </p:nvSpPr>
        <p:spPr>
          <a:xfrm>
            <a:off x="400050" y="1212850"/>
            <a:ext cx="7914300" cy="2988600"/>
          </a:xfrm>
          <a:prstGeom prst="rect">
            <a:avLst/>
          </a:prstGeom>
          <a:noFill/>
          <a:ln>
            <a:noFill/>
          </a:ln>
        </p:spPr>
        <p:txBody>
          <a:bodyPr spcFirstLastPara="1" wrap="square" lIns="91425" tIns="91425" rIns="91425" bIns="91425" anchor="t" anchorCtr="0">
            <a:spAutoFit/>
          </a:bodyPr>
          <a:lstStyle/>
          <a:p>
            <a:pPr marL="0" lvl="0" indent="0" algn="just" rtl="0">
              <a:lnSpc>
                <a:spcPct val="120000"/>
              </a:lnSpc>
              <a:spcBef>
                <a:spcPts val="0"/>
              </a:spcBef>
              <a:spcAft>
                <a:spcPts val="0"/>
              </a:spcAft>
              <a:buNone/>
            </a:pPr>
            <a:r>
              <a:rPr lang="en" sz="1350" dirty="0">
                <a:solidFill>
                  <a:srgbClr val="273239"/>
                </a:solidFill>
                <a:highlight>
                  <a:srgbClr val="FFFFFF"/>
                </a:highlight>
                <a:latin typeface="Nunito"/>
                <a:ea typeface="Nunito"/>
                <a:cs typeface="Nunito"/>
                <a:sym typeface="Nunito"/>
              </a:rPr>
              <a:t>The IETF chartered the ROLL (Routing Over Low power and Lossy networks) working group to evaluate all three routing protocols and determine the needs and requirements for developing a routing solution for IP smart objects. After the study of various use cases and a survey of existing protocols, the consensus was that a new routing protocol should be developed for IP smart objects, given the characteristics and requirements of the constrained network. This new Distance Vector Routing Protocol was named the IPv6 Routing Protocol for Low power and Lossy networks(RPL). The RPL specification was published as RFC 6550 by the ROLL working group.</a:t>
            </a:r>
            <a:endParaRPr sz="1350" dirty="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800"/>
              </a:spcAft>
              <a:buNone/>
            </a:pPr>
            <a:r>
              <a:rPr lang="en" sz="1350" dirty="0">
                <a:solidFill>
                  <a:srgbClr val="273239"/>
                </a:solidFill>
                <a:highlight>
                  <a:srgbClr val="FFFFFF"/>
                </a:highlight>
                <a:latin typeface="Nunito"/>
                <a:ea typeface="Nunito"/>
                <a:cs typeface="Nunito"/>
                <a:sym typeface="Nunito"/>
              </a:rPr>
              <a:t>In an RPL Network, each node acts as a router and becomes part of a mesh network. Routing is performed at the IP Layer. Each node examines every received IPv6 packet and determines the next-hop destination based on the information contained in the IPv6 header. No information from the MAC layer header is needed to perform the next determination.</a:t>
            </a:r>
            <a:endParaRPr sz="1350"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2"/>
          <p:cNvSpPr txBox="1">
            <a:spLocks noGrp="1"/>
          </p:cNvSpPr>
          <p:nvPr>
            <p:ph type="ctrTitle"/>
          </p:nvPr>
        </p:nvSpPr>
        <p:spPr>
          <a:xfrm>
            <a:off x="216450" y="255625"/>
            <a:ext cx="8520600" cy="4398900"/>
          </a:xfrm>
          <a:prstGeom prst="rect">
            <a:avLst/>
          </a:prstGeom>
        </p:spPr>
        <p:txBody>
          <a:bodyPr spcFirstLastPara="1" wrap="square" lIns="91425" tIns="91425" rIns="91425" bIns="91425" anchor="b" anchorCtr="0">
            <a:noAutofit/>
          </a:bodyPr>
          <a:lstStyle/>
          <a:p>
            <a:pPr marL="0" lvl="0" indent="0" algn="l" rtl="0">
              <a:lnSpc>
                <a:spcPct val="116666"/>
              </a:lnSpc>
              <a:spcBef>
                <a:spcPts val="0"/>
              </a:spcBef>
              <a:spcAft>
                <a:spcPts val="0"/>
              </a:spcAft>
              <a:buClr>
                <a:schemeClr val="dk1"/>
              </a:buClr>
              <a:buSzPts val="990"/>
              <a:buFont typeface="Arial"/>
              <a:buNone/>
            </a:pPr>
            <a:r>
              <a:rPr lang="en" sz="1400" b="1" dirty="0">
                <a:solidFill>
                  <a:srgbClr val="273239"/>
                </a:solidFill>
                <a:highlight>
                  <a:srgbClr val="FFFFFF"/>
                </a:highlight>
                <a:latin typeface="Nunito"/>
                <a:ea typeface="Nunito"/>
                <a:cs typeface="Nunito"/>
                <a:sym typeface="Nunito"/>
              </a:rPr>
              <a:t>Modes of RPL:</a:t>
            </a:r>
            <a:endParaRPr sz="1400" b="1" dirty="0">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ts val="990"/>
              <a:buFont typeface="Arial"/>
              <a:buNone/>
            </a:pPr>
            <a:r>
              <a:rPr lang="en" sz="900" i="1" dirty="0">
                <a:solidFill>
                  <a:srgbClr val="273239"/>
                </a:solidFill>
                <a:highlight>
                  <a:srgbClr val="FFFFFF"/>
                </a:highlight>
                <a:latin typeface="Nunito"/>
                <a:ea typeface="Nunito"/>
                <a:cs typeface="Nunito"/>
                <a:sym typeface="Nunito"/>
              </a:rPr>
              <a:t>This protocol defines two modes:</a:t>
            </a:r>
            <a:endParaRPr sz="900" i="1" dirty="0">
              <a:solidFill>
                <a:srgbClr val="273239"/>
              </a:solidFill>
              <a:highlight>
                <a:srgbClr val="FFFFFF"/>
              </a:highlight>
              <a:latin typeface="Nunito"/>
              <a:ea typeface="Nunito"/>
              <a:cs typeface="Nunito"/>
              <a:sym typeface="Nunito"/>
            </a:endParaRPr>
          </a:p>
          <a:p>
            <a:pPr marL="0" lvl="0" indent="0" algn="l" rtl="0">
              <a:lnSpc>
                <a:spcPct val="140000"/>
              </a:lnSpc>
              <a:spcBef>
                <a:spcPts val="1800"/>
              </a:spcBef>
              <a:spcAft>
                <a:spcPts val="0"/>
              </a:spcAft>
              <a:buClr>
                <a:schemeClr val="dk1"/>
              </a:buClr>
              <a:buSzPts val="990"/>
              <a:buFont typeface="Arial"/>
              <a:buNone/>
            </a:pPr>
            <a:r>
              <a:rPr lang="en" sz="1000" b="1" dirty="0">
                <a:solidFill>
                  <a:srgbClr val="273239"/>
                </a:solidFill>
                <a:highlight>
                  <a:srgbClr val="FFFFFF"/>
                </a:highlight>
                <a:latin typeface="Nunito"/>
                <a:ea typeface="Nunito"/>
                <a:cs typeface="Nunito"/>
                <a:sym typeface="Nunito"/>
              </a:rPr>
              <a:t>1. Storing mode</a:t>
            </a:r>
            <a:endParaRPr sz="1000" b="1" dirty="0">
              <a:solidFill>
                <a:srgbClr val="273239"/>
              </a:solidFill>
              <a:highlight>
                <a:srgbClr val="FFFFFF"/>
              </a:highlight>
              <a:latin typeface="Nunito"/>
              <a:ea typeface="Nunito"/>
              <a:cs typeface="Nunito"/>
              <a:sym typeface="Nunito"/>
            </a:endParaRPr>
          </a:p>
          <a:p>
            <a:pPr marL="0" lvl="0" indent="0" algn="l" rtl="0">
              <a:lnSpc>
                <a:spcPct val="120000"/>
              </a:lnSpc>
              <a:spcBef>
                <a:spcPts val="1800"/>
              </a:spcBef>
              <a:spcAft>
                <a:spcPts val="0"/>
              </a:spcAft>
              <a:buClr>
                <a:schemeClr val="dk1"/>
              </a:buClr>
              <a:buSzPts val="990"/>
              <a:buFont typeface="Arial"/>
              <a:buNone/>
            </a:pPr>
            <a:r>
              <a:rPr lang="en" sz="900" dirty="0">
                <a:solidFill>
                  <a:srgbClr val="273239"/>
                </a:solidFill>
                <a:highlight>
                  <a:srgbClr val="FFFFFF"/>
                </a:highlight>
                <a:latin typeface="Nunito"/>
                <a:ea typeface="Nunito"/>
                <a:cs typeface="Nunito"/>
                <a:sym typeface="Nunito"/>
              </a:rPr>
              <a:t>All modes contain the entire routing table of the RPL domain. Every node knows how to reach every other node directly.</a:t>
            </a:r>
            <a:endParaRPr sz="900" dirty="0">
              <a:solidFill>
                <a:srgbClr val="273239"/>
              </a:solidFill>
              <a:highlight>
                <a:srgbClr val="FFFFFF"/>
              </a:highlight>
              <a:latin typeface="Nunito"/>
              <a:ea typeface="Nunito"/>
              <a:cs typeface="Nunito"/>
              <a:sym typeface="Nunito"/>
            </a:endParaRPr>
          </a:p>
          <a:p>
            <a:pPr marL="0" lvl="0" indent="0" algn="l" rtl="0">
              <a:lnSpc>
                <a:spcPct val="140000"/>
              </a:lnSpc>
              <a:spcBef>
                <a:spcPts val="1800"/>
              </a:spcBef>
              <a:spcAft>
                <a:spcPts val="0"/>
              </a:spcAft>
              <a:buClr>
                <a:schemeClr val="dk1"/>
              </a:buClr>
              <a:buSzPts val="990"/>
              <a:buFont typeface="Arial"/>
              <a:buNone/>
            </a:pPr>
            <a:r>
              <a:rPr lang="en" sz="1000" b="1" dirty="0">
                <a:solidFill>
                  <a:srgbClr val="273239"/>
                </a:solidFill>
                <a:highlight>
                  <a:srgbClr val="FFFFFF"/>
                </a:highlight>
                <a:latin typeface="Nunito"/>
                <a:ea typeface="Nunito"/>
                <a:cs typeface="Nunito"/>
                <a:sym typeface="Nunito"/>
              </a:rPr>
              <a:t>2. Non-Storing mode</a:t>
            </a:r>
            <a:endParaRPr sz="1000" b="1" dirty="0">
              <a:solidFill>
                <a:srgbClr val="273239"/>
              </a:solidFill>
              <a:highlight>
                <a:srgbClr val="FFFFFF"/>
              </a:highlight>
              <a:latin typeface="Nunito"/>
              <a:ea typeface="Nunito"/>
              <a:cs typeface="Nunito"/>
              <a:sym typeface="Nunito"/>
            </a:endParaRPr>
          </a:p>
          <a:p>
            <a:pPr marL="0" lvl="0" indent="0" algn="l" rtl="0">
              <a:lnSpc>
                <a:spcPct val="120000"/>
              </a:lnSpc>
              <a:spcBef>
                <a:spcPts val="1800"/>
              </a:spcBef>
              <a:spcAft>
                <a:spcPts val="0"/>
              </a:spcAft>
              <a:buClr>
                <a:schemeClr val="dk1"/>
              </a:buClr>
              <a:buSzPts val="990"/>
              <a:buFont typeface="Arial"/>
              <a:buNone/>
            </a:pPr>
            <a:r>
              <a:rPr lang="en" sz="900" dirty="0">
                <a:solidFill>
                  <a:srgbClr val="273239"/>
                </a:solidFill>
                <a:highlight>
                  <a:srgbClr val="FFFFFF"/>
                </a:highlight>
                <a:latin typeface="Nunito"/>
                <a:ea typeface="Nunito"/>
                <a:cs typeface="Nunito"/>
                <a:sym typeface="Nunito"/>
              </a:rPr>
              <a:t>Only the border router(s) of the RPL domain contain(s) the full routing table. All other nodes in the domain maintain their list of parents only and use this as a list of default routes towards the border router. The abbreviated routing table saves memory space and CPU. When communicating in non-storing mode, a node always forwards its packet to the border router, which knows how to ultimately reach the final destination.</a:t>
            </a:r>
            <a:endParaRPr sz="900" dirty="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0"/>
              </a:spcAft>
              <a:buClr>
                <a:schemeClr val="dk1"/>
              </a:buClr>
              <a:buSzPts val="990"/>
              <a:buFont typeface="Arial"/>
              <a:buNone/>
            </a:pPr>
            <a:r>
              <a:rPr lang="en" sz="900" dirty="0">
                <a:solidFill>
                  <a:srgbClr val="273239"/>
                </a:solidFill>
                <a:highlight>
                  <a:srgbClr val="FFFFFF"/>
                </a:highlight>
                <a:latin typeface="Nunito"/>
                <a:ea typeface="Nunito"/>
                <a:cs typeface="Nunito"/>
                <a:sym typeface="Nunito"/>
              </a:rPr>
              <a:t>RPL is based on the concept of a Directed Acyclic Graph (DAG). A DAG is Directed Graph where no cycle exists. This means that from any vertex or point in the graph, we cannot follow an edge or a line back to this same point. All of the edges are arranged in a path oriented toward and terminating at one or more root nodes.</a:t>
            </a:r>
            <a:endParaRPr sz="900" dirty="0">
              <a:solidFill>
                <a:srgbClr val="273239"/>
              </a:solidFill>
              <a:highlight>
                <a:srgbClr val="FFFFFF"/>
              </a:highlight>
              <a:latin typeface="Nunito"/>
              <a:ea typeface="Nunito"/>
              <a:cs typeface="Nunito"/>
              <a:sym typeface="Nunito"/>
            </a:endParaRPr>
          </a:p>
          <a:p>
            <a:pPr marL="0" lvl="0" indent="0" algn="just" rtl="0">
              <a:lnSpc>
                <a:spcPct val="120000"/>
              </a:lnSpc>
              <a:spcBef>
                <a:spcPts val="800"/>
              </a:spcBef>
              <a:spcAft>
                <a:spcPts val="0"/>
              </a:spcAft>
              <a:buClr>
                <a:schemeClr val="dk1"/>
              </a:buClr>
              <a:buSzPts val="990"/>
              <a:buFont typeface="Arial"/>
              <a:buNone/>
            </a:pPr>
            <a:r>
              <a:rPr lang="en" sz="900" dirty="0">
                <a:solidFill>
                  <a:srgbClr val="273239"/>
                </a:solidFill>
                <a:highlight>
                  <a:srgbClr val="FFFFFF"/>
                </a:highlight>
                <a:latin typeface="Nunito"/>
                <a:ea typeface="Nunito"/>
                <a:cs typeface="Nunito"/>
                <a:sym typeface="Nunito"/>
              </a:rPr>
              <a:t>A basic RPL process involves building a Destination Oriented Directed Acyclic Graph (DODAG). A DODAG is a DAG rooted in one destination. In RPL this destination occurs at a border router known as the DODAG root. In a DODAG,  three parents maximum are maintained by each node that provides a path to the root. Typically one of these parents is the preferred parent, which means it is the preferred next hop for upward roots towards the root. The routing graph created by the set of DODAG parents across all nodes defines the full set of upwards roots. RPL protocol information should ensure that routes are loop-free by disallowing nodes from selected DODAG parents positioned further away from a border router.</a:t>
            </a:r>
            <a:endParaRPr sz="900"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3"/>
          <p:cNvSpPr txBox="1">
            <a:spLocks noGrp="1"/>
          </p:cNvSpPr>
          <p:nvPr>
            <p:ph type="ctrTitle"/>
          </p:nvPr>
        </p:nvSpPr>
        <p:spPr>
          <a:xfrm>
            <a:off x="222800" y="414375"/>
            <a:ext cx="8520600" cy="4312200"/>
          </a:xfrm>
          <a:prstGeom prst="rect">
            <a:avLst/>
          </a:prstGeom>
        </p:spPr>
        <p:txBody>
          <a:bodyPr spcFirstLastPara="1" wrap="square" lIns="91425" tIns="91425" rIns="91425" bIns="91425" anchor="b" anchorCtr="0">
            <a:normAutofit fontScale="90000"/>
          </a:bodyPr>
          <a:lstStyle/>
          <a:p>
            <a:pPr marL="0" lvl="0" indent="0" algn="l" rtl="0">
              <a:lnSpc>
                <a:spcPct val="116666"/>
              </a:lnSpc>
              <a:spcBef>
                <a:spcPts val="0"/>
              </a:spcBef>
              <a:spcAft>
                <a:spcPts val="0"/>
              </a:spcAft>
              <a:buClr>
                <a:schemeClr val="dk1"/>
              </a:buClr>
              <a:buSzPct val="61111"/>
              <a:buFont typeface="Arial"/>
              <a:buNone/>
            </a:pPr>
            <a:r>
              <a:rPr lang="en" sz="1800" b="1" dirty="0">
                <a:solidFill>
                  <a:srgbClr val="273239"/>
                </a:solidFill>
                <a:highlight>
                  <a:srgbClr val="FFFFFF"/>
                </a:highlight>
                <a:latin typeface="Nunito"/>
                <a:ea typeface="Nunito"/>
                <a:cs typeface="Nunito"/>
                <a:sym typeface="Nunito"/>
              </a:rPr>
              <a:t>Main Features and Advantages of RPL</a:t>
            </a:r>
            <a:endParaRPr sz="1800" b="1" dirty="0">
              <a:solidFill>
                <a:srgbClr val="273239"/>
              </a:solidFill>
              <a:highlight>
                <a:srgbClr val="FFFFFF"/>
              </a:highlight>
              <a:latin typeface="Nunito"/>
              <a:ea typeface="Nunito"/>
              <a:cs typeface="Nunito"/>
              <a:sym typeface="Nunito"/>
            </a:endParaRPr>
          </a:p>
          <a:p>
            <a:pPr marL="0" lvl="0" indent="0" algn="l" rtl="0">
              <a:lnSpc>
                <a:spcPct val="120000"/>
              </a:lnSpc>
              <a:spcBef>
                <a:spcPts val="0"/>
              </a:spcBef>
              <a:spcAft>
                <a:spcPts val="0"/>
              </a:spcAft>
              <a:buClr>
                <a:schemeClr val="dk1"/>
              </a:buClr>
              <a:buSzPct val="81481"/>
              <a:buFont typeface="Arial"/>
              <a:buNone/>
            </a:pPr>
            <a:r>
              <a:rPr lang="en" sz="1350" dirty="0">
                <a:solidFill>
                  <a:srgbClr val="273239"/>
                </a:solidFill>
                <a:highlight>
                  <a:srgbClr val="FFFFFF"/>
                </a:highlight>
                <a:latin typeface="Nunito"/>
                <a:ea typeface="Nunito"/>
                <a:cs typeface="Nunito"/>
                <a:sym typeface="Nunito"/>
              </a:rPr>
              <a:t>The IPv6 Routing Protocol for RPL, is an efficient and effective protocol for data routing in resource-constrained scenarios, such Internet of Things devices as per requirement. Its many essential features include the below points:</a:t>
            </a:r>
            <a:endParaRPr sz="1350" dirty="0">
              <a:solidFill>
                <a:srgbClr val="273239"/>
              </a:solidFill>
              <a:highlight>
                <a:srgbClr val="FFFFFF"/>
              </a:highlight>
              <a:latin typeface="Nunito"/>
              <a:ea typeface="Nunito"/>
              <a:cs typeface="Nunito"/>
              <a:sym typeface="Nunito"/>
            </a:endParaRPr>
          </a:p>
          <a:p>
            <a:pPr marL="685800" lvl="0" indent="-305752" algn="l" rtl="0">
              <a:lnSpc>
                <a:spcPct val="158000"/>
              </a:lnSpc>
              <a:spcBef>
                <a:spcPts val="80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Scalability: The protocol can accommodate such type of big networks with low power and lossy connectivity, which makes it appropriate for a range of Internet of Things applications.</a:t>
            </a:r>
            <a:endParaRPr sz="1350" dirty="0">
              <a:solidFill>
                <a:srgbClr val="273239"/>
              </a:solidFill>
              <a:highlight>
                <a:srgbClr val="FFFFFF"/>
              </a:highlight>
              <a:latin typeface="Nunito"/>
              <a:ea typeface="Nunito"/>
              <a:cs typeface="Nunito"/>
              <a:sym typeface="Nunito"/>
            </a:endParaRPr>
          </a:p>
          <a:p>
            <a:pPr marL="685800" lvl="0" indent="-305752"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Multipoint-to-point traffic generation: RPL offers a way to send data to a single destination point from several devices within the LLN as per requirement.</a:t>
            </a:r>
            <a:endParaRPr sz="1350" dirty="0">
              <a:solidFill>
                <a:srgbClr val="273239"/>
              </a:solidFill>
              <a:highlight>
                <a:srgbClr val="FFFFFF"/>
              </a:highlight>
              <a:latin typeface="Nunito"/>
              <a:ea typeface="Nunito"/>
              <a:cs typeface="Nunito"/>
              <a:sym typeface="Nunito"/>
            </a:endParaRPr>
          </a:p>
          <a:p>
            <a:pPr marL="685800" lvl="0" indent="-305752"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Quality of Service (QoS) - The protocol guarantees QoS by offering various types of methods for reliable packet delivery system and congestion control systetm.</a:t>
            </a:r>
            <a:endParaRPr sz="1350" dirty="0">
              <a:solidFill>
                <a:srgbClr val="273239"/>
              </a:solidFill>
              <a:highlight>
                <a:srgbClr val="FFFFFF"/>
              </a:highlight>
              <a:latin typeface="Nunito"/>
              <a:ea typeface="Nunito"/>
              <a:cs typeface="Nunito"/>
              <a:sym typeface="Nunito"/>
            </a:endParaRPr>
          </a:p>
          <a:p>
            <a:pPr marL="685800" lvl="0" indent="-305752"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Adaptive – RPL modifies the required routes in response to link quality and energy availability changes in the network environment or system.</a:t>
            </a:r>
            <a:endParaRPr sz="1350" dirty="0">
              <a:solidFill>
                <a:srgbClr val="273239"/>
              </a:solidFill>
              <a:highlight>
                <a:srgbClr val="FFFFFF"/>
              </a:highlight>
              <a:latin typeface="Nunito"/>
              <a:ea typeface="Nunito"/>
              <a:cs typeface="Nunito"/>
              <a:sym typeface="Nunito"/>
            </a:endParaRPr>
          </a:p>
          <a:p>
            <a:pPr marL="685800" lvl="0" indent="-305752" algn="l" rtl="0">
              <a:lnSpc>
                <a:spcPct val="158000"/>
              </a:lnSpc>
              <a:spcBef>
                <a:spcPts val="0"/>
              </a:spcBef>
              <a:spcAft>
                <a:spcPts val="0"/>
              </a:spcAft>
              <a:buClr>
                <a:srgbClr val="273239"/>
              </a:buClr>
              <a:buSzPct val="100000"/>
              <a:buFont typeface="Nunito"/>
              <a:buChar char="●"/>
            </a:pPr>
            <a:r>
              <a:rPr lang="en" sz="1350" dirty="0">
                <a:solidFill>
                  <a:srgbClr val="273239"/>
                </a:solidFill>
                <a:highlight>
                  <a:srgbClr val="FFFFFF"/>
                </a:highlight>
                <a:latin typeface="Nunito"/>
                <a:ea typeface="Nunito"/>
                <a:cs typeface="Nunito"/>
                <a:sym typeface="Nunito"/>
              </a:rPr>
              <a:t>Security system: To guarantee various types of secure communication within the LLN as per requirement, RPL incorporates techniques for integrity protection, authentication, confidentiality, and encryption for better performance.</a:t>
            </a:r>
            <a:endParaRPr sz="1350"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64"/>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Application Layer</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5"/>
          <p:cNvSpPr txBox="1">
            <a:spLocks noGrp="1"/>
          </p:cNvSpPr>
          <p:nvPr>
            <p:ph type="ctrTitle"/>
          </p:nvPr>
        </p:nvSpPr>
        <p:spPr>
          <a:xfrm>
            <a:off x="260900" y="782675"/>
            <a:ext cx="8520600" cy="3306600"/>
          </a:xfrm>
          <a:prstGeom prst="rect">
            <a:avLst/>
          </a:prstGeom>
        </p:spPr>
        <p:txBody>
          <a:bodyPr spcFirstLastPara="1" wrap="square" lIns="91425" tIns="91425" rIns="91425" bIns="91425" anchor="b" anchorCtr="0">
            <a:normAutofit fontScale="90000"/>
          </a:bodyPr>
          <a:lstStyle/>
          <a:p>
            <a:pPr marL="0" lvl="0" indent="0" algn="just" rtl="0">
              <a:lnSpc>
                <a:spcPct val="120000"/>
              </a:lnSpc>
              <a:spcBef>
                <a:spcPts val="0"/>
              </a:spcBef>
              <a:spcAft>
                <a:spcPts val="0"/>
              </a:spcAft>
              <a:buClr>
                <a:schemeClr val="dk1"/>
              </a:buClr>
              <a:buSzPct val="81481"/>
              <a:buFont typeface="Arial"/>
              <a:buNone/>
            </a:pPr>
            <a:r>
              <a:rPr lang="en" sz="1350" dirty="0">
                <a:solidFill>
                  <a:srgbClr val="273239"/>
                </a:solidFill>
                <a:highlight>
                  <a:srgbClr val="FFFFFF"/>
                </a:highlight>
                <a:latin typeface="Nunito"/>
                <a:ea typeface="Nunito"/>
                <a:cs typeface="Nunito"/>
                <a:sym typeface="Nunito"/>
              </a:rPr>
              <a:t>The Constrained Application Protocol (CoAP) is a special web transfer protocol that operates with constrained nodes and networks. These networks are commonly used for applications such as the Internet of Things (IoT), where devices may have limited processor, memory, and power resources. CoAP is intended to be simple, low-overhead, and efficient, making it ideal for machine-to-machine communication.</a:t>
            </a:r>
            <a:endParaRPr sz="1350" dirty="0">
              <a:solidFill>
                <a:srgbClr val="273239"/>
              </a:solidFill>
              <a:highlight>
                <a:srgbClr val="FFFFFF"/>
              </a:highlight>
              <a:latin typeface="Nunito"/>
              <a:ea typeface="Nunito"/>
              <a:cs typeface="Nunito"/>
              <a:sym typeface="Nunito"/>
            </a:endParaRPr>
          </a:p>
          <a:p>
            <a:pPr marL="0" lvl="0" indent="0" algn="l" rtl="0">
              <a:lnSpc>
                <a:spcPct val="116666"/>
              </a:lnSpc>
              <a:spcBef>
                <a:spcPts val="800"/>
              </a:spcBef>
              <a:spcAft>
                <a:spcPts val="0"/>
              </a:spcAft>
              <a:buClr>
                <a:schemeClr val="dk1"/>
              </a:buClr>
              <a:buSzPct val="61111"/>
              <a:buFont typeface="Arial"/>
              <a:buNone/>
            </a:pPr>
            <a:br>
              <a:rPr lang="en" sz="1800" b="1" dirty="0">
                <a:solidFill>
                  <a:srgbClr val="273239"/>
                </a:solidFill>
                <a:highlight>
                  <a:srgbClr val="FFFFFF"/>
                </a:highlight>
                <a:latin typeface="Nunito"/>
                <a:ea typeface="Nunito"/>
                <a:cs typeface="Nunito"/>
                <a:sym typeface="Nunito"/>
              </a:rPr>
            </a:br>
            <a:r>
              <a:rPr lang="en" sz="1800" b="1" dirty="0">
                <a:solidFill>
                  <a:srgbClr val="273239"/>
                </a:solidFill>
                <a:highlight>
                  <a:srgbClr val="FFFFFF"/>
                </a:highlight>
                <a:latin typeface="Nunito"/>
                <a:ea typeface="Nunito"/>
                <a:cs typeface="Nunito"/>
                <a:sym typeface="Nunito"/>
              </a:rPr>
              <a:t>What is CoAP?</a:t>
            </a:r>
            <a:endParaRPr sz="1800" b="1" dirty="0">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ct val="81481"/>
              <a:buFont typeface="Arial"/>
              <a:buNone/>
            </a:pPr>
            <a:r>
              <a:rPr lang="en" sz="1350" dirty="0">
                <a:solidFill>
                  <a:srgbClr val="273239"/>
                </a:solidFill>
                <a:highlight>
                  <a:srgbClr val="FFFFFF"/>
                </a:highlight>
                <a:latin typeface="Nunito"/>
                <a:ea typeface="Nunito"/>
                <a:cs typeface="Nunito"/>
                <a:sym typeface="Nunito"/>
              </a:rPr>
              <a:t>CoAP or Constrained Application Protocol, as the name suggests, is an application layer protocol that was introduced by the Internet Engineering Task Force in the year 2014. CoAP is designed for the constrained environment. It is a web-based protocol that resembles </a:t>
            </a:r>
            <a:r>
              <a:rPr lang="en" sz="1350" u="sng"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HTTP</a:t>
            </a:r>
            <a:r>
              <a:rPr lang="en" sz="1350" dirty="0">
                <a:solidFill>
                  <a:srgbClr val="273239"/>
                </a:solidFill>
                <a:highlight>
                  <a:srgbClr val="FFFFFF"/>
                </a:highlight>
                <a:latin typeface="Nunito"/>
                <a:ea typeface="Nunito"/>
                <a:cs typeface="Nunito"/>
                <a:sym typeface="Nunito"/>
              </a:rPr>
              <a:t>. It is also based on the request-response model. Based on the REST-style architecture, this protocol considers the various objects in the network as resources. These resources are uniquely assigned a URI or </a:t>
            </a:r>
            <a:r>
              <a:rPr lang="en" sz="1350" u="sng" dirty="0">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Uniform Resource Identifier</a:t>
            </a:r>
            <a:r>
              <a:rPr lang="en" sz="1350" dirty="0">
                <a:solidFill>
                  <a:srgbClr val="273239"/>
                </a:solidFill>
                <a:highlight>
                  <a:srgbClr val="FFFFFF"/>
                </a:highlight>
                <a:latin typeface="Nunito"/>
                <a:ea typeface="Nunito"/>
                <a:cs typeface="Nunito"/>
                <a:sym typeface="Nunito"/>
              </a:rPr>
              <a:t>. The data from one resource to another resource is transferred in the form of CoAP message packets whose format is briefly described later. The Client requests for some resources and in response to that, the server sends some response over which the client sends an acknowledgement. Although, some types of CoAP do not involve the receiver sending acknowledgments for the information received.</a:t>
            </a:r>
            <a:endParaRPr sz="1350"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lnSpc>
                <a:spcPct val="116666"/>
              </a:lnSpc>
              <a:spcBef>
                <a:spcPts val="0"/>
              </a:spcBef>
              <a:spcAft>
                <a:spcPts val="0"/>
              </a:spcAft>
              <a:buClr>
                <a:schemeClr val="dk1"/>
              </a:buClr>
              <a:buSzPct val="61111"/>
              <a:buFont typeface="Arial"/>
              <a:buNone/>
            </a:pPr>
            <a:r>
              <a:rPr lang="en" sz="1800" b="1">
                <a:solidFill>
                  <a:srgbClr val="273239"/>
                </a:solidFill>
                <a:highlight>
                  <a:srgbClr val="FFFFFF"/>
                </a:highlight>
                <a:latin typeface="Nunito"/>
                <a:ea typeface="Nunito"/>
                <a:cs typeface="Nunito"/>
                <a:sym typeface="Nunito"/>
              </a:rPr>
              <a:t>How Does CoAP Works?</a:t>
            </a:r>
            <a:endParaRPr sz="1800" b="1">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ct val="81481"/>
              <a:buFont typeface="Arial"/>
              <a:buNone/>
            </a:pPr>
            <a:r>
              <a:rPr lang="en" sz="1350" b="1">
                <a:solidFill>
                  <a:srgbClr val="273239"/>
                </a:solidFill>
                <a:highlight>
                  <a:srgbClr val="FFFFFF"/>
                </a:highlight>
                <a:latin typeface="Nunito"/>
                <a:ea typeface="Nunito"/>
                <a:cs typeface="Nunito"/>
                <a:sym typeface="Nunito"/>
              </a:rPr>
              <a:t>Constrained Application Protocol (CoAP)</a:t>
            </a:r>
            <a:r>
              <a:rPr lang="en" sz="1350">
                <a:solidFill>
                  <a:srgbClr val="273239"/>
                </a:solidFill>
                <a:highlight>
                  <a:srgbClr val="FFFFFF"/>
                </a:highlight>
                <a:latin typeface="Nunito"/>
                <a:ea typeface="Nunito"/>
                <a:cs typeface="Nunito"/>
                <a:sym typeface="Nunito"/>
              </a:rPr>
              <a:t> is an </a:t>
            </a:r>
            <a:r>
              <a:rPr lang="en" sz="1350"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application layer protocol</a:t>
            </a:r>
            <a:r>
              <a:rPr lang="en" sz="1350">
                <a:solidFill>
                  <a:srgbClr val="273239"/>
                </a:solidFill>
                <a:highlight>
                  <a:srgbClr val="FFFFFF"/>
                </a:highlight>
                <a:latin typeface="Nunito"/>
                <a:ea typeface="Nunito"/>
                <a:cs typeface="Nunito"/>
                <a:sym typeface="Nunito"/>
              </a:rPr>
              <a:t> designed for resource-constrained devices and networks, particularly in the context of the Internet of Things (IoT).</a:t>
            </a:r>
            <a:endParaRPr sz="135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a:p>
        </p:txBody>
      </p:sp>
      <p:sp>
        <p:nvSpPr>
          <p:cNvPr id="380" name="Google Shape;380;p66"/>
          <p:cNvSpPr txBox="1">
            <a:spLocks noGrp="1"/>
          </p:cNvSpPr>
          <p:nvPr>
            <p:ph type="body" idx="1"/>
          </p:nvPr>
        </p:nvSpPr>
        <p:spPr>
          <a:prstGeom prst="rect">
            <a:avLst/>
          </a:prstGeom>
        </p:spPr>
        <p:txBody>
          <a:bodyPr spcFirstLastPara="1" wrap="square" lIns="91425" tIns="91425" rIns="91425" bIns="91425" anchor="t" anchorCtr="0">
            <a:normAutofit fontScale="85000" lnSpcReduction="20000"/>
          </a:bodyPr>
          <a:lstStyle/>
          <a:p>
            <a:pPr marL="685800" lvl="0" indent="-288607"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Client-Server Model</a:t>
            </a:r>
            <a:r>
              <a:rPr lang="en" sz="1350">
                <a:solidFill>
                  <a:srgbClr val="273239"/>
                </a:solidFill>
                <a:highlight>
                  <a:srgbClr val="FFFFFF"/>
                </a:highlight>
                <a:latin typeface="Nunito"/>
                <a:ea typeface="Nunito"/>
                <a:cs typeface="Nunito"/>
                <a:sym typeface="Nunito"/>
              </a:rPr>
              <a:t>: CoAP model is essentially a client/server model enabling the client to request for service from server as needed and the server responds to client's request.</a:t>
            </a:r>
            <a:endParaRPr sz="1350">
              <a:solidFill>
                <a:srgbClr val="273239"/>
              </a:solidFill>
              <a:highlight>
                <a:srgbClr val="FFFFFF"/>
              </a:highlight>
              <a:latin typeface="Nunito"/>
              <a:ea typeface="Nunito"/>
              <a:cs typeface="Nunito"/>
              <a:sym typeface="Nunito"/>
            </a:endParaRPr>
          </a:p>
          <a:p>
            <a:pPr marL="685800" lvl="0" indent="-288607" algn="l" rtl="0">
              <a:lnSpc>
                <a:spcPct val="120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Resource-Oriented</a:t>
            </a:r>
            <a:r>
              <a:rPr lang="en" sz="1350">
                <a:solidFill>
                  <a:srgbClr val="273239"/>
                </a:solidFill>
                <a:highlight>
                  <a:srgbClr val="FFFFFF"/>
                </a:highlight>
                <a:latin typeface="Nunito"/>
                <a:ea typeface="Nunito"/>
                <a:cs typeface="Nunito"/>
                <a:sym typeface="Nunito"/>
              </a:rPr>
              <a:t>: CoAP treats various objects in the network as resources, each uniquely identified by a URI (Uniform Resource Identifier). Clients can request information about these resources, and servers provide responses</a:t>
            </a:r>
            <a:r>
              <a:rPr lang="en" sz="1000" u="sng">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2</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marL="685800" lvl="0" indent="-288607"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Methods</a:t>
            </a:r>
            <a:r>
              <a:rPr lang="en" sz="1350">
                <a:solidFill>
                  <a:srgbClr val="273239"/>
                </a:solidFill>
                <a:highlight>
                  <a:srgbClr val="FFFFFF"/>
                </a:highlight>
                <a:latin typeface="Nunito"/>
                <a:ea typeface="Nunito"/>
                <a:cs typeface="Nunito"/>
                <a:sym typeface="Nunito"/>
              </a:rPr>
              <a:t>: CoAP supports several methods similar to HTTP:</a:t>
            </a:r>
            <a:endParaRPr sz="1350">
              <a:solidFill>
                <a:srgbClr val="273239"/>
              </a:solidFill>
              <a:highlight>
                <a:srgbClr val="FFFFFF"/>
              </a:highlight>
              <a:latin typeface="Nunito"/>
              <a:ea typeface="Nunito"/>
              <a:cs typeface="Nunito"/>
              <a:sym typeface="Nunito"/>
            </a:endParaRPr>
          </a:p>
          <a:p>
            <a:pPr marL="1854200" lvl="1" indent="-288607" algn="l" rtl="0">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GET</a:t>
            </a:r>
            <a:endParaRPr sz="1350">
              <a:solidFill>
                <a:srgbClr val="273239"/>
              </a:solidFill>
              <a:highlight>
                <a:srgbClr val="FFFFFF"/>
              </a:highlight>
              <a:latin typeface="Nunito"/>
              <a:ea typeface="Nunito"/>
              <a:cs typeface="Nunito"/>
              <a:sym typeface="Nunito"/>
            </a:endParaRPr>
          </a:p>
          <a:p>
            <a:pPr marL="1854200" lvl="1" indent="-288607" algn="l" rtl="0">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POST</a:t>
            </a:r>
            <a:endParaRPr sz="1350">
              <a:solidFill>
                <a:srgbClr val="273239"/>
              </a:solidFill>
              <a:highlight>
                <a:srgbClr val="FFFFFF"/>
              </a:highlight>
              <a:latin typeface="Nunito"/>
              <a:ea typeface="Nunito"/>
              <a:cs typeface="Nunito"/>
              <a:sym typeface="Nunito"/>
            </a:endParaRPr>
          </a:p>
          <a:p>
            <a:pPr marL="1854200" lvl="1" indent="-288607" algn="l" rtl="0">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DELETE</a:t>
            </a:r>
            <a:endParaRPr sz="1350">
              <a:solidFill>
                <a:srgbClr val="273239"/>
              </a:solidFill>
              <a:highlight>
                <a:srgbClr val="FFFFFF"/>
              </a:highlight>
              <a:latin typeface="Nunito"/>
              <a:ea typeface="Nunito"/>
              <a:cs typeface="Nunito"/>
              <a:sym typeface="Nunito"/>
            </a:endParaRPr>
          </a:p>
          <a:p>
            <a:pPr marL="1854200" lvl="1" indent="-288607" algn="l" rtl="0">
              <a:lnSpc>
                <a:spcPct val="158000"/>
              </a:lnSpc>
              <a:spcBef>
                <a:spcPts val="0"/>
              </a:spcBef>
              <a:spcAft>
                <a:spcPts val="0"/>
              </a:spcAft>
              <a:buClr>
                <a:srgbClr val="273239"/>
              </a:buClr>
              <a:buSzPct val="100000"/>
              <a:buFont typeface="Nunito"/>
              <a:buChar char="○"/>
            </a:pPr>
            <a:r>
              <a:rPr lang="en" sz="1350">
                <a:solidFill>
                  <a:srgbClr val="273239"/>
                </a:solidFill>
                <a:highlight>
                  <a:srgbClr val="FFFFFF"/>
                </a:highlight>
                <a:latin typeface="Nunito"/>
                <a:ea typeface="Nunito"/>
                <a:cs typeface="Nunito"/>
                <a:sym typeface="Nunito"/>
              </a:rPr>
              <a:t>PUT</a:t>
            </a:r>
            <a:endParaRPr sz="1350">
              <a:solidFill>
                <a:srgbClr val="273239"/>
              </a:solidFill>
              <a:highlight>
                <a:srgbClr val="FFFFFF"/>
              </a:highlight>
              <a:latin typeface="Nunito"/>
              <a:ea typeface="Nunito"/>
              <a:cs typeface="Nunito"/>
              <a:sym typeface="Nunito"/>
            </a:endParaRPr>
          </a:p>
          <a:p>
            <a:pPr marL="685800" lvl="0" indent="-288607" algn="l" rtl="0">
              <a:lnSpc>
                <a:spcPct val="120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Asynchronous Messaging</a:t>
            </a:r>
            <a:r>
              <a:rPr lang="en" sz="1350">
                <a:solidFill>
                  <a:srgbClr val="273239"/>
                </a:solidFill>
                <a:highlight>
                  <a:srgbClr val="FFFFFF"/>
                </a:highlight>
                <a:latin typeface="Nunito"/>
                <a:ea typeface="Nunito"/>
                <a:cs typeface="Nunito"/>
                <a:sym typeface="Nunito"/>
              </a:rPr>
              <a:t>: CoAP messages are asynchronous because it uses the </a:t>
            </a:r>
            <a:r>
              <a:rPr lang="en" sz="1350" u="sng">
                <a:solidFill>
                  <a:srgbClr val="357960"/>
                </a:solidFill>
                <a:highlight>
                  <a:srgbClr val="FFFFFF"/>
                </a:highlight>
                <a:latin typeface="Nunito"/>
                <a:ea typeface="Nunito"/>
                <a:cs typeface="Nunito"/>
                <a:sym typeface="Nunito"/>
                <a:hlinkClick r:id="rId5">
                  <a:extLst>
                    <a:ext uri="{A12FA001-AC4F-418D-AE19-62706E023703}">
                      <ahyp:hlinkClr xmlns:ahyp="http://schemas.microsoft.com/office/drawing/2018/hyperlinkcolor" val="tx"/>
                    </a:ext>
                  </a:extLst>
                </a:hlinkClick>
              </a:rPr>
              <a:t>User Datagram Protocol (UDP)</a:t>
            </a:r>
            <a:r>
              <a:rPr lang="en" sz="1350">
                <a:solidFill>
                  <a:srgbClr val="273239"/>
                </a:solidFill>
                <a:highlight>
                  <a:srgbClr val="FFFFFF"/>
                </a:highlight>
                <a:latin typeface="Nunito"/>
                <a:ea typeface="Nunito"/>
                <a:cs typeface="Nunito"/>
                <a:sym typeface="Nunito"/>
              </a:rPr>
              <a:t>. Unlike TCP-based protocols, CoAP does not require acknowledgments for every message, which helps conserve energy in resource-constrained devices.</a:t>
            </a:r>
            <a:endParaRPr sz="1350">
              <a:solidFill>
                <a:srgbClr val="273239"/>
              </a:solidFill>
              <a:highlight>
                <a:srgbClr val="FFFFFF"/>
              </a:highlight>
              <a:latin typeface="Nunito"/>
              <a:ea typeface="Nunito"/>
              <a:cs typeface="Nunito"/>
              <a:sym typeface="Nunito"/>
            </a:endParaRPr>
          </a:p>
          <a:p>
            <a:pPr marL="685800" lvl="0" indent="-288607"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Energy Efficiency</a:t>
            </a:r>
            <a:r>
              <a:rPr lang="en" sz="1350">
                <a:solidFill>
                  <a:srgbClr val="273239"/>
                </a:solidFill>
                <a:highlight>
                  <a:srgbClr val="FFFFFF"/>
                </a:highlight>
                <a:latin typeface="Nunito"/>
                <a:ea typeface="Nunito"/>
                <a:cs typeface="Nunito"/>
                <a:sym typeface="Nunito"/>
              </a:rPr>
              <a:t>: CoAP is designed to minimize energy consumption while simplifying communication between clients and devices. It achieves this by managing resources, providing device descriptions, and supporting mechanisms to determine if a device is powered on or off.</a:t>
            </a:r>
            <a:endParaRPr sz="135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54</a:t>
            </a:fld>
            <a:endParaRPr lang="e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6" name="Google Shape;386;p67"/>
          <p:cNvSpPr txBox="1">
            <a:spLocks noGrp="1"/>
          </p:cNvSpPr>
          <p:nvPr>
            <p:ph type="body" idx="1"/>
          </p:nvPr>
        </p:nvSpPr>
        <p:spPr>
          <a:xfrm>
            <a:off x="248200" y="333325"/>
            <a:ext cx="8520600" cy="3416400"/>
          </a:xfrm>
          <a:prstGeom prst="rect">
            <a:avLst/>
          </a:prstGeom>
        </p:spPr>
        <p:txBody>
          <a:bodyPr spcFirstLastPara="1" wrap="square" lIns="91425" tIns="91425" rIns="91425" bIns="91425" anchor="t" anchorCtr="0">
            <a:noAutofit/>
          </a:bodyPr>
          <a:lstStyle/>
          <a:p>
            <a:pPr marL="0" lvl="0" indent="0" algn="l" rtl="0">
              <a:lnSpc>
                <a:spcPct val="116666"/>
              </a:lnSpc>
              <a:spcBef>
                <a:spcPts val="0"/>
              </a:spcBef>
              <a:spcAft>
                <a:spcPts val="0"/>
              </a:spcAft>
              <a:buClr>
                <a:schemeClr val="dk1"/>
              </a:buClr>
              <a:buSzPct val="61111"/>
              <a:buFont typeface="Arial"/>
              <a:buNone/>
            </a:pPr>
            <a:r>
              <a:rPr lang="en" sz="1400" b="1" dirty="0">
                <a:solidFill>
                  <a:srgbClr val="273239"/>
                </a:solidFill>
                <a:highlight>
                  <a:srgbClr val="FFFFFF"/>
                </a:highlight>
                <a:latin typeface="Nunito"/>
                <a:ea typeface="Nunito"/>
                <a:cs typeface="Nunito"/>
                <a:sym typeface="Nunito"/>
              </a:rPr>
              <a:t>Methods in CoAP</a:t>
            </a:r>
            <a:endParaRPr sz="1400" b="1"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GET</a:t>
            </a:r>
            <a:r>
              <a:rPr lang="en" sz="1000" dirty="0">
                <a:solidFill>
                  <a:srgbClr val="273239"/>
                </a:solidFill>
                <a:highlight>
                  <a:srgbClr val="FFFFFF"/>
                </a:highlight>
                <a:latin typeface="Nunito"/>
                <a:ea typeface="Nunito"/>
                <a:cs typeface="Nunito"/>
                <a:sym typeface="Nunito"/>
              </a:rPr>
              <a:t> - The get method is used to retrieve resource information identified by the request URI. In response to GET method success a 200(OK) response is sent.</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POST</a:t>
            </a:r>
            <a:r>
              <a:rPr lang="en" sz="1000" dirty="0">
                <a:solidFill>
                  <a:srgbClr val="273239"/>
                </a:solidFill>
                <a:highlight>
                  <a:srgbClr val="FFFFFF"/>
                </a:highlight>
                <a:latin typeface="Nunito"/>
                <a:ea typeface="Nunito"/>
                <a:cs typeface="Nunito"/>
                <a:sym typeface="Nunito"/>
              </a:rPr>
              <a:t> - The post method creates a new subordinate resource under the parent URI requested by it to the server. On successful resource creation on the server, a 201 (Created) response is sent while on failure a 200 (OK) response code is sent.</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DELETE</a:t>
            </a:r>
            <a:r>
              <a:rPr lang="en" sz="1000" dirty="0">
                <a:solidFill>
                  <a:srgbClr val="273239"/>
                </a:solidFill>
                <a:highlight>
                  <a:srgbClr val="FFFFFF"/>
                </a:highlight>
                <a:latin typeface="Nunito"/>
                <a:ea typeface="Nunito"/>
                <a:cs typeface="Nunito"/>
                <a:sym typeface="Nunito"/>
              </a:rPr>
              <a:t> - The delete method deletes the resource identified by the requested URI and a 200 (OK) response code is sent on successful operation.</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PUT</a:t>
            </a:r>
            <a:r>
              <a:rPr lang="en" sz="1000" dirty="0">
                <a:solidFill>
                  <a:srgbClr val="273239"/>
                </a:solidFill>
                <a:highlight>
                  <a:srgbClr val="FFFFFF"/>
                </a:highlight>
                <a:latin typeface="Nunito"/>
                <a:ea typeface="Nunito"/>
                <a:cs typeface="Nunito"/>
                <a:sym typeface="Nunito"/>
              </a:rPr>
              <a:t> - The PUT method updates or creates the resource identified by the request URI with the enclosed message body. The message body is considered as modified version of a resource if it already exists at the specified URI otherwise a new resource with that URI is created. A 200 (OK) response is received in former case whereas a 201 (Created) response is received in later case. If the resource is neither created nor modified then an error response code is sent.</a:t>
            </a:r>
          </a:p>
          <a:p>
            <a:pPr marL="403622" lvl="0" indent="0" algn="l" rtl="0">
              <a:lnSpc>
                <a:spcPct val="158000"/>
              </a:lnSpc>
              <a:spcBef>
                <a:spcPts val="0"/>
              </a:spcBef>
              <a:spcAft>
                <a:spcPts val="0"/>
              </a:spcAft>
              <a:buClr>
                <a:srgbClr val="273239"/>
              </a:buClr>
              <a:buSzPct val="100000"/>
              <a:buNone/>
            </a:pPr>
            <a:endParaRPr lang="en" sz="1000" dirty="0">
              <a:solidFill>
                <a:srgbClr val="273239"/>
              </a:solidFill>
              <a:highlight>
                <a:srgbClr val="FFFFFF"/>
              </a:highlight>
              <a:latin typeface="Nunito"/>
              <a:ea typeface="Nunito"/>
              <a:cs typeface="Nunito"/>
              <a:sym typeface="Nunito"/>
            </a:endParaRPr>
          </a:p>
          <a:p>
            <a:pPr marL="403622" lvl="0" indent="0" algn="l" rtl="0">
              <a:lnSpc>
                <a:spcPct val="158000"/>
              </a:lnSpc>
              <a:spcBef>
                <a:spcPts val="0"/>
              </a:spcBef>
              <a:spcAft>
                <a:spcPts val="0"/>
              </a:spcAft>
              <a:buClr>
                <a:srgbClr val="273239"/>
              </a:buClr>
              <a:buSzPct val="100000"/>
              <a:buNone/>
            </a:pPr>
            <a:endParaRPr sz="1000" dirty="0">
              <a:solidFill>
                <a:srgbClr val="273239"/>
              </a:solidFill>
              <a:highlight>
                <a:srgbClr val="FFFFFF"/>
              </a:highlight>
              <a:latin typeface="Nunito"/>
              <a:ea typeface="Nunito"/>
              <a:cs typeface="Nunito"/>
              <a:sym typeface="Nunito"/>
            </a:endParaRPr>
          </a:p>
          <a:p>
            <a:pPr marL="0" lvl="0" indent="0" algn="just" rtl="0">
              <a:lnSpc>
                <a:spcPct val="120000"/>
              </a:lnSpc>
              <a:spcBef>
                <a:spcPts val="1800"/>
              </a:spcBef>
              <a:spcAft>
                <a:spcPts val="0"/>
              </a:spcAft>
              <a:buClr>
                <a:schemeClr val="dk1"/>
              </a:buClr>
              <a:buSzPct val="81481"/>
              <a:buFont typeface="Arial"/>
              <a:buNone/>
            </a:pPr>
            <a:r>
              <a:rPr lang="en" sz="1000" dirty="0">
                <a:solidFill>
                  <a:srgbClr val="273239"/>
                </a:solidFill>
                <a:highlight>
                  <a:srgbClr val="FFFFFF"/>
                </a:highlight>
                <a:latin typeface="Nunito"/>
                <a:ea typeface="Nunito"/>
                <a:cs typeface="Nunito"/>
                <a:sym typeface="Nunito"/>
              </a:rPr>
              <a:t>The most fundamental difference between CoAP and HTTP is that CoAP defines a new method which is not present in HTTP. This method is called </a:t>
            </a:r>
            <a:r>
              <a:rPr lang="en" sz="1000" b="1" dirty="0">
                <a:solidFill>
                  <a:srgbClr val="273239"/>
                </a:solidFill>
                <a:highlight>
                  <a:srgbClr val="FFFFFF"/>
                </a:highlight>
                <a:latin typeface="Nunito"/>
                <a:ea typeface="Nunito"/>
                <a:cs typeface="Nunito"/>
                <a:sym typeface="Nunito"/>
              </a:rPr>
              <a:t>Observe</a:t>
            </a:r>
            <a:r>
              <a:rPr lang="en" sz="1000" dirty="0">
                <a:solidFill>
                  <a:srgbClr val="273239"/>
                </a:solidFill>
                <a:highlight>
                  <a:srgbClr val="FFFFFF"/>
                </a:highlight>
                <a:latin typeface="Nunito"/>
                <a:ea typeface="Nunito"/>
                <a:cs typeface="Nunito"/>
                <a:sym typeface="Nunito"/>
              </a:rPr>
              <a:t> method. The observe method is very similar to the GET method in addition with an observe option. This alerts the server, to send every update about the resource to the client. Therefore, upon any change in the resource, the server sends a response to the client. These responses could either be directly sent individually or they can be </a:t>
            </a:r>
            <a:r>
              <a:rPr lang="en" sz="1000" u="sng"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piggy-backed</a:t>
            </a:r>
            <a:r>
              <a:rPr lang="en" sz="1000" dirty="0">
                <a:solidFill>
                  <a:srgbClr val="273239"/>
                </a:solidFill>
                <a:highlight>
                  <a:srgbClr val="FFFFFF"/>
                </a:highlight>
                <a:latin typeface="Nunito"/>
                <a:ea typeface="Nunito"/>
                <a:cs typeface="Nunito"/>
                <a:sym typeface="Nunito"/>
              </a:rPr>
              <a:t>.</a:t>
            </a:r>
            <a:endParaRPr sz="1000" dirty="0">
              <a:solidFill>
                <a:srgbClr val="273239"/>
              </a:solidFill>
              <a:highlight>
                <a:srgbClr val="FFFFFF"/>
              </a:highlight>
              <a:latin typeface="Nunito"/>
              <a:ea typeface="Nunito"/>
              <a:cs typeface="Nunito"/>
              <a:sym typeface="Nunito"/>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55</a:t>
            </a:fld>
            <a:endParaRPr lang="e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8"/>
          <p:cNvSpPr txBox="1">
            <a:spLocks noGrp="1"/>
          </p:cNvSpPr>
          <p:nvPr>
            <p:ph type="body" idx="1"/>
          </p:nvPr>
        </p:nvSpPr>
        <p:spPr>
          <a:xfrm>
            <a:off x="311700" y="0"/>
            <a:ext cx="8520600" cy="4569000"/>
          </a:xfrm>
          <a:prstGeom prst="rect">
            <a:avLst/>
          </a:prstGeom>
        </p:spPr>
        <p:txBody>
          <a:bodyPr spcFirstLastPara="1" wrap="square" lIns="91425" tIns="91425" rIns="91425" bIns="91425" anchor="t" anchorCtr="0">
            <a:normAutofit fontScale="85000" lnSpcReduction="10000"/>
          </a:bodyPr>
          <a:lstStyle/>
          <a:p>
            <a:pPr marL="0" lvl="0" indent="0" algn="l" rtl="0">
              <a:lnSpc>
                <a:spcPct val="116666"/>
              </a:lnSpc>
              <a:spcBef>
                <a:spcPts val="0"/>
              </a:spcBef>
              <a:spcAft>
                <a:spcPts val="0"/>
              </a:spcAft>
              <a:buClr>
                <a:schemeClr val="dk1"/>
              </a:buClr>
              <a:buSzPct val="61111"/>
              <a:buFont typeface="Arial"/>
              <a:buNone/>
            </a:pPr>
            <a:r>
              <a:rPr lang="en" b="1">
                <a:solidFill>
                  <a:srgbClr val="273239"/>
                </a:solidFill>
                <a:highlight>
                  <a:srgbClr val="FFFFFF"/>
                </a:highlight>
                <a:latin typeface="Nunito"/>
                <a:ea typeface="Nunito"/>
                <a:cs typeface="Nunito"/>
                <a:sym typeface="Nunito"/>
              </a:rPr>
              <a:t>Message Format of CoAP</a:t>
            </a:r>
            <a:endParaRPr b="1">
              <a:solidFill>
                <a:srgbClr val="273239"/>
              </a:solidFill>
              <a:highlight>
                <a:srgbClr val="FFFFFF"/>
              </a:highlight>
              <a:latin typeface="Nunito"/>
              <a:ea typeface="Nunito"/>
              <a:cs typeface="Nunito"/>
              <a:sym typeface="Nunito"/>
            </a:endParaRPr>
          </a:p>
          <a:p>
            <a:pPr marL="0" lvl="0" indent="0" algn="just" rtl="0">
              <a:lnSpc>
                <a:spcPct val="120000"/>
              </a:lnSpc>
              <a:spcBef>
                <a:spcPts val="0"/>
              </a:spcBef>
              <a:spcAft>
                <a:spcPts val="0"/>
              </a:spcAft>
              <a:buClr>
                <a:schemeClr val="dk1"/>
              </a:buClr>
              <a:buSzPct val="81481"/>
              <a:buFont typeface="Arial"/>
              <a:buNone/>
            </a:pPr>
            <a:r>
              <a:rPr lang="en" sz="1350">
                <a:solidFill>
                  <a:srgbClr val="273239"/>
                </a:solidFill>
                <a:highlight>
                  <a:srgbClr val="FFFFFF"/>
                </a:highlight>
                <a:latin typeface="Nunito"/>
                <a:ea typeface="Nunito"/>
                <a:cs typeface="Nunito"/>
                <a:sym typeface="Nunito"/>
              </a:rPr>
              <a:t>CoAP messages are encoded in </a:t>
            </a:r>
            <a:r>
              <a:rPr lang="en" sz="1350" b="1">
                <a:solidFill>
                  <a:srgbClr val="273239"/>
                </a:solidFill>
                <a:highlight>
                  <a:srgbClr val="FFFFFF"/>
                </a:highlight>
                <a:latin typeface="Nunito"/>
                <a:ea typeface="Nunito"/>
                <a:cs typeface="Nunito"/>
                <a:sym typeface="Nunito"/>
              </a:rPr>
              <a:t>binary-format</a:t>
            </a:r>
            <a:r>
              <a:rPr lang="en" sz="1350">
                <a:solidFill>
                  <a:srgbClr val="273239"/>
                </a:solidFill>
                <a:highlight>
                  <a:srgbClr val="FFFFFF"/>
                </a:highlight>
                <a:latin typeface="Nunito"/>
                <a:ea typeface="Nunito"/>
                <a:cs typeface="Nunito"/>
                <a:sym typeface="Nunito"/>
              </a:rPr>
              <a:t> or 0/1 format. Like other message formats, CoAP message has a header and a payload section along with an optional section. The size of CoAP header is</a:t>
            </a:r>
            <a:r>
              <a:rPr lang="en" sz="1350" b="1">
                <a:solidFill>
                  <a:srgbClr val="273239"/>
                </a:solidFill>
                <a:highlight>
                  <a:srgbClr val="FFFFFF"/>
                </a:highlight>
                <a:latin typeface="Nunito"/>
                <a:ea typeface="Nunito"/>
                <a:cs typeface="Nunito"/>
                <a:sym typeface="Nunito"/>
              </a:rPr>
              <a:t> 4 bytes</a:t>
            </a:r>
            <a:r>
              <a:rPr lang="en" sz="1350">
                <a:solidFill>
                  <a:srgbClr val="273239"/>
                </a:solidFill>
                <a:highlight>
                  <a:srgbClr val="FFFFFF"/>
                </a:highlight>
                <a:latin typeface="Nunito"/>
                <a:ea typeface="Nunito"/>
                <a:cs typeface="Nunito"/>
                <a:sym typeface="Nunito"/>
              </a:rPr>
              <a:t> or 32 bits. This size is fixed for every CoAP message. Whereas the other part of message is the optional part which includes payload and tokens of variable size ranging from </a:t>
            </a:r>
            <a:r>
              <a:rPr lang="en" sz="1350" b="1">
                <a:solidFill>
                  <a:srgbClr val="273239"/>
                </a:solidFill>
                <a:highlight>
                  <a:srgbClr val="FFFFFF"/>
                </a:highlight>
                <a:latin typeface="Nunito"/>
                <a:ea typeface="Nunito"/>
                <a:cs typeface="Nunito"/>
                <a:sym typeface="Nunito"/>
              </a:rPr>
              <a:t>0-8 bytes</a:t>
            </a:r>
            <a:r>
              <a:rPr lang="en" sz="1350">
                <a:solidFill>
                  <a:srgbClr val="273239"/>
                </a:solidFill>
                <a:highlight>
                  <a:srgbClr val="FFFFFF"/>
                </a:highlight>
                <a:latin typeface="Nunito"/>
                <a:ea typeface="Nunito"/>
                <a:cs typeface="Nunito"/>
                <a:sym typeface="Nunito"/>
              </a:rPr>
              <a:t>. The message format of CoAP contains the following fields:</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80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Version</a:t>
            </a:r>
            <a:r>
              <a:rPr lang="en" sz="1350">
                <a:solidFill>
                  <a:srgbClr val="273239"/>
                </a:solidFill>
                <a:highlight>
                  <a:srgbClr val="FFFFFF"/>
                </a:highlight>
                <a:latin typeface="Nunito"/>
                <a:ea typeface="Nunito"/>
                <a:cs typeface="Nunito"/>
                <a:sym typeface="Nunito"/>
              </a:rPr>
              <a:t> - The size of version field is 2 bits. It represents the version of the CoAP protocol.</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Type Code </a:t>
            </a:r>
            <a:r>
              <a:rPr lang="en" sz="1350">
                <a:solidFill>
                  <a:srgbClr val="273239"/>
                </a:solidFill>
                <a:highlight>
                  <a:srgbClr val="FFFFFF"/>
                </a:highlight>
                <a:latin typeface="Nunito"/>
                <a:ea typeface="Nunito"/>
                <a:cs typeface="Nunito"/>
                <a:sym typeface="Nunito"/>
              </a:rPr>
              <a:t>- The size of type field is 2 bits. There are four types of messages namely confirmable, non-confirmable, acknowledgement and reset represented by the bit patterns 00, 01, 10, 11 respectively.</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Option</a:t>
            </a:r>
            <a:r>
              <a:rPr lang="en" sz="1350">
                <a:solidFill>
                  <a:srgbClr val="273239"/>
                </a:solidFill>
                <a:highlight>
                  <a:srgbClr val="FFFFFF"/>
                </a:highlight>
                <a:latin typeface="Nunito"/>
                <a:ea typeface="Nunito"/>
                <a:cs typeface="Nunito"/>
                <a:sym typeface="Nunito"/>
              </a:rPr>
              <a:t> </a:t>
            </a:r>
            <a:r>
              <a:rPr lang="en" sz="1350" b="1">
                <a:solidFill>
                  <a:srgbClr val="273239"/>
                </a:solidFill>
                <a:highlight>
                  <a:srgbClr val="FFFFFF"/>
                </a:highlight>
                <a:latin typeface="Nunito"/>
                <a:ea typeface="Nunito"/>
                <a:cs typeface="Nunito"/>
                <a:sym typeface="Nunito"/>
              </a:rPr>
              <a:t>Count </a:t>
            </a:r>
            <a:r>
              <a:rPr lang="en" sz="1350">
                <a:solidFill>
                  <a:srgbClr val="273239"/>
                </a:solidFill>
                <a:highlight>
                  <a:srgbClr val="FFFFFF"/>
                </a:highlight>
                <a:latin typeface="Nunito"/>
                <a:ea typeface="Nunito"/>
                <a:cs typeface="Nunito"/>
                <a:sym typeface="Nunito"/>
              </a:rPr>
              <a:t>- The size of option count field is 4 bits. These 4 bits, means there could be a total of 16 possible options in header.</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Code </a:t>
            </a:r>
            <a:r>
              <a:rPr lang="en" sz="1350">
                <a:solidFill>
                  <a:srgbClr val="273239"/>
                </a:solidFill>
                <a:highlight>
                  <a:srgbClr val="FFFFFF"/>
                </a:highlight>
                <a:latin typeface="Nunito"/>
                <a:ea typeface="Nunito"/>
                <a:cs typeface="Nunito"/>
                <a:sym typeface="Nunito"/>
              </a:rPr>
              <a:t>- The size of code field is 8 bits. This indicates whether message is empty, request message or response message.</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Message ID</a:t>
            </a:r>
            <a:r>
              <a:rPr lang="en" sz="1350">
                <a:solidFill>
                  <a:srgbClr val="273239"/>
                </a:solidFill>
                <a:highlight>
                  <a:srgbClr val="FFFFFF"/>
                </a:highlight>
                <a:latin typeface="Nunito"/>
                <a:ea typeface="Nunito"/>
                <a:cs typeface="Nunito"/>
                <a:sym typeface="Nunito"/>
              </a:rPr>
              <a:t> - The size of message ID field is 16 bits. It is used to detect the message duplication and types of messages.</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Tokens </a:t>
            </a:r>
            <a:r>
              <a:rPr lang="en" sz="1350">
                <a:solidFill>
                  <a:srgbClr val="273239"/>
                </a:solidFill>
                <a:highlight>
                  <a:srgbClr val="FFFFFF"/>
                </a:highlight>
                <a:latin typeface="Nunito"/>
                <a:ea typeface="Nunito"/>
                <a:cs typeface="Nunito"/>
                <a:sym typeface="Nunito"/>
              </a:rPr>
              <a:t>[Optional] - The size of tokens field is variable which ranges from 0-8 bytes. It's used to match a response with request.</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Options </a:t>
            </a:r>
            <a:r>
              <a:rPr lang="en" sz="1350">
                <a:solidFill>
                  <a:srgbClr val="273239"/>
                </a:solidFill>
                <a:highlight>
                  <a:srgbClr val="FFFFFF"/>
                </a:highlight>
                <a:latin typeface="Nunito"/>
                <a:ea typeface="Nunito"/>
                <a:cs typeface="Nunito"/>
                <a:sym typeface="Nunito"/>
              </a:rPr>
              <a:t>[Optional] - The options field in CoAP message has a variable size. It defines the type of payload message.</a:t>
            </a:r>
            <a:endParaRPr sz="1350">
              <a:solidFill>
                <a:srgbClr val="273239"/>
              </a:solidFill>
              <a:highlight>
                <a:srgbClr val="FFFFFF"/>
              </a:highlight>
              <a:latin typeface="Nunito"/>
              <a:ea typeface="Nunito"/>
              <a:cs typeface="Nunito"/>
              <a:sym typeface="Nunito"/>
            </a:endParaRPr>
          </a:p>
          <a:p>
            <a:pPr marL="685800" lvl="0" indent="-295036" algn="l" rtl="0">
              <a:lnSpc>
                <a:spcPct val="158000"/>
              </a:lnSpc>
              <a:spcBef>
                <a:spcPts val="0"/>
              </a:spcBef>
              <a:spcAft>
                <a:spcPts val="0"/>
              </a:spcAft>
              <a:buClr>
                <a:srgbClr val="273239"/>
              </a:buClr>
              <a:buSzPct val="100000"/>
              <a:buFont typeface="Nunito"/>
              <a:buChar char="●"/>
            </a:pPr>
            <a:r>
              <a:rPr lang="en" sz="1350" b="1">
                <a:solidFill>
                  <a:srgbClr val="273239"/>
                </a:solidFill>
                <a:highlight>
                  <a:srgbClr val="FFFFFF"/>
                </a:highlight>
                <a:latin typeface="Nunito"/>
                <a:ea typeface="Nunito"/>
                <a:cs typeface="Nunito"/>
                <a:sym typeface="Nunito"/>
              </a:rPr>
              <a:t>Payload </a:t>
            </a:r>
            <a:r>
              <a:rPr lang="en" sz="1350">
                <a:solidFill>
                  <a:srgbClr val="273239"/>
                </a:solidFill>
                <a:highlight>
                  <a:srgbClr val="FFFFFF"/>
                </a:highlight>
                <a:latin typeface="Nunito"/>
                <a:ea typeface="Nunito"/>
                <a:cs typeface="Nunito"/>
                <a:sym typeface="Nunito"/>
              </a:rPr>
              <a:t>[Optional] - Similar to options field, the payload field has a variable size. The payload of requests or of responses is typically a representation of the requested resource or the result of the requested action.</a:t>
            </a:r>
            <a:endParaRPr sz="135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56</a:t>
            </a:fld>
            <a:endParaRPr lang="e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7" name="Google Shape;397;p69"/>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8" name="Google Shape;398;p69"/>
          <p:cNvPicPr preferRelativeResize="0"/>
          <p:nvPr/>
        </p:nvPicPr>
        <p:blipFill>
          <a:blip r:embed="rId3">
            <a:alphaModFix/>
          </a:blip>
          <a:stretch>
            <a:fillRect/>
          </a:stretch>
        </p:blipFill>
        <p:spPr>
          <a:xfrm>
            <a:off x="0" y="49719"/>
            <a:ext cx="9144001" cy="5044062"/>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57</a:t>
            </a:fld>
            <a:endParaRPr lang="e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4" name="Google Shape;404;p70"/>
          <p:cNvSpPr txBox="1">
            <a:spLocks noGrp="1"/>
          </p:cNvSpPr>
          <p:nvPr>
            <p:ph type="body" idx="1"/>
          </p:nvPr>
        </p:nvSpPr>
        <p:spPr>
          <a:xfrm>
            <a:off x="330750" y="523825"/>
            <a:ext cx="8520600" cy="3416400"/>
          </a:xfrm>
          <a:prstGeom prst="rect">
            <a:avLst/>
          </a:prstGeom>
        </p:spPr>
        <p:txBody>
          <a:bodyPr spcFirstLastPara="1" wrap="square" lIns="91425" tIns="91425" rIns="91425" bIns="91425" anchor="t" anchorCtr="0">
            <a:noAutofit/>
          </a:bodyPr>
          <a:lstStyle/>
          <a:p>
            <a:pPr marL="0" lvl="0" indent="0" algn="l" rtl="0">
              <a:lnSpc>
                <a:spcPct val="116666"/>
              </a:lnSpc>
              <a:spcBef>
                <a:spcPts val="0"/>
              </a:spcBef>
              <a:spcAft>
                <a:spcPts val="0"/>
              </a:spcAft>
              <a:buClr>
                <a:schemeClr val="dk1"/>
              </a:buClr>
              <a:buSzPct val="61111"/>
              <a:buFont typeface="Arial"/>
              <a:buNone/>
            </a:pPr>
            <a:r>
              <a:rPr lang="en" sz="1400" b="1" dirty="0">
                <a:solidFill>
                  <a:srgbClr val="273239"/>
                </a:solidFill>
                <a:highlight>
                  <a:srgbClr val="FFFFFF"/>
                </a:highlight>
                <a:latin typeface="Nunito"/>
                <a:ea typeface="Nunito"/>
                <a:cs typeface="Nunito"/>
                <a:sym typeface="Nunito"/>
              </a:rPr>
              <a:t>CoAP Features</a:t>
            </a:r>
            <a:endParaRPr sz="1400" b="1"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dirty="0">
                <a:solidFill>
                  <a:srgbClr val="273239"/>
                </a:solidFill>
                <a:highlight>
                  <a:srgbClr val="FFFFFF"/>
                </a:highlight>
                <a:latin typeface="Nunito"/>
                <a:ea typeface="Nunito"/>
                <a:cs typeface="Nunito"/>
                <a:sym typeface="Nunito"/>
              </a:rPr>
              <a:t>Lightweight and Simple</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dirty="0">
                <a:solidFill>
                  <a:srgbClr val="273239"/>
                </a:solidFill>
                <a:highlight>
                  <a:srgbClr val="FFFFFF"/>
                </a:highlight>
                <a:latin typeface="Nunito"/>
                <a:ea typeface="Nunito"/>
                <a:cs typeface="Nunito"/>
                <a:sym typeface="Nunito"/>
              </a:rPr>
              <a:t>RESTful Architecture</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dirty="0">
                <a:solidFill>
                  <a:srgbClr val="273239"/>
                </a:solidFill>
                <a:highlight>
                  <a:srgbClr val="FFFFFF"/>
                </a:highlight>
                <a:latin typeface="Nunito"/>
                <a:ea typeface="Nunito"/>
                <a:cs typeface="Nunito"/>
                <a:sym typeface="Nunito"/>
              </a:rPr>
              <a:t>UDP-Based</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dirty="0">
                <a:solidFill>
                  <a:srgbClr val="273239"/>
                </a:solidFill>
                <a:highlight>
                  <a:srgbClr val="FFFFFF"/>
                </a:highlight>
                <a:latin typeface="Nunito"/>
                <a:ea typeface="Nunito"/>
                <a:cs typeface="Nunito"/>
                <a:sym typeface="Nunito"/>
              </a:rPr>
              <a:t>Asynchronous Communication</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dirty="0">
                <a:solidFill>
                  <a:srgbClr val="273239"/>
                </a:solidFill>
                <a:highlight>
                  <a:srgbClr val="FFFFFF"/>
                </a:highlight>
                <a:latin typeface="Nunito"/>
                <a:ea typeface="Nunito"/>
                <a:cs typeface="Nunito"/>
                <a:sym typeface="Nunito"/>
              </a:rPr>
              <a:t>Low Header Overhead</a:t>
            </a:r>
            <a:endParaRPr sz="1000" dirty="0">
              <a:solidFill>
                <a:srgbClr val="273239"/>
              </a:solidFill>
              <a:highlight>
                <a:srgbClr val="FFFFFF"/>
              </a:highlight>
              <a:latin typeface="Nunito"/>
              <a:ea typeface="Nunito"/>
              <a:cs typeface="Nunito"/>
              <a:sym typeface="Nunito"/>
            </a:endParaRPr>
          </a:p>
          <a:p>
            <a:pPr marL="685800" lvl="0" indent="-282178" algn="l" rtl="0">
              <a:lnSpc>
                <a:spcPct val="120000"/>
              </a:lnSpc>
              <a:spcBef>
                <a:spcPts val="0"/>
              </a:spcBef>
              <a:spcAft>
                <a:spcPts val="0"/>
              </a:spcAft>
              <a:buClr>
                <a:srgbClr val="273239"/>
              </a:buClr>
              <a:buSzPct val="100000"/>
              <a:buFont typeface="Nunito"/>
              <a:buChar char="●"/>
            </a:pPr>
            <a:r>
              <a:rPr lang="en" sz="1000" u="sng" dirty="0">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Multicast Communication</a:t>
            </a:r>
            <a:endParaRPr sz="1000" u="sng" dirty="0">
              <a:solidFill>
                <a:srgbClr val="357960"/>
              </a:solidFill>
              <a:highlight>
                <a:srgbClr val="FFFFFF"/>
              </a:highlight>
              <a:latin typeface="Nunito"/>
              <a:ea typeface="Nunito"/>
              <a:cs typeface="Nunito"/>
              <a:sym typeface="Nunito"/>
            </a:endParaRPr>
          </a:p>
          <a:p>
            <a:pPr marL="685800" lvl="0" indent="-282178" algn="l" rtl="0">
              <a:lnSpc>
                <a:spcPct val="120000"/>
              </a:lnSpc>
              <a:spcBef>
                <a:spcPts val="0"/>
              </a:spcBef>
              <a:spcAft>
                <a:spcPts val="0"/>
              </a:spcAft>
              <a:buClr>
                <a:srgbClr val="273239"/>
              </a:buClr>
              <a:buSzPct val="100000"/>
              <a:buFont typeface="Nunito"/>
              <a:buChar char="●"/>
            </a:pPr>
            <a:r>
              <a:rPr lang="en" sz="1000" u="sng" dirty="0">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Proxy</a:t>
            </a:r>
            <a:r>
              <a:rPr lang="en" sz="1000" dirty="0">
                <a:solidFill>
                  <a:srgbClr val="273239"/>
                </a:solidFill>
                <a:highlight>
                  <a:srgbClr val="FFFFFF"/>
                </a:highlight>
                <a:latin typeface="Nunito"/>
                <a:ea typeface="Nunito"/>
                <a:cs typeface="Nunito"/>
                <a:sym typeface="Nunito"/>
              </a:rPr>
              <a:t> and Caching</a:t>
            </a:r>
            <a:endParaRPr sz="1000" dirty="0">
              <a:solidFill>
                <a:srgbClr val="273239"/>
              </a:solidFill>
              <a:highlight>
                <a:srgbClr val="FFFFFF"/>
              </a:highlight>
              <a:latin typeface="Nunito"/>
              <a:ea typeface="Nunito"/>
              <a:cs typeface="Nunito"/>
              <a:sym typeface="Nunito"/>
            </a:endParaRPr>
          </a:p>
          <a:p>
            <a:pPr marL="0" lvl="0" indent="0" algn="l" rtl="0">
              <a:lnSpc>
                <a:spcPct val="116666"/>
              </a:lnSpc>
              <a:spcBef>
                <a:spcPts val="1800"/>
              </a:spcBef>
              <a:spcAft>
                <a:spcPts val="0"/>
              </a:spcAft>
              <a:buClr>
                <a:schemeClr val="dk1"/>
              </a:buClr>
              <a:buSzPct val="61111"/>
              <a:buFont typeface="Arial"/>
              <a:buNone/>
            </a:pPr>
            <a:r>
              <a:rPr lang="en" sz="1400" b="1" dirty="0">
                <a:solidFill>
                  <a:srgbClr val="273239"/>
                </a:solidFill>
                <a:highlight>
                  <a:srgbClr val="FFFFFF"/>
                </a:highlight>
                <a:latin typeface="Nunito"/>
                <a:ea typeface="Nunito"/>
                <a:cs typeface="Nunito"/>
                <a:sym typeface="Nunito"/>
              </a:rPr>
              <a:t>Applications of CoAP</a:t>
            </a:r>
            <a:endParaRPr sz="1400" b="1"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Real Time Monitoring in Grid - </a:t>
            </a:r>
            <a:r>
              <a:rPr lang="en" sz="1000" dirty="0">
                <a:solidFill>
                  <a:srgbClr val="273239"/>
                </a:solidFill>
                <a:highlight>
                  <a:srgbClr val="FFFFFF"/>
                </a:highlight>
                <a:latin typeface="Nunito"/>
                <a:ea typeface="Nunito"/>
                <a:cs typeface="Nunito"/>
                <a:sym typeface="Nunito"/>
              </a:rPr>
              <a:t>Smart cities can monitor the distribution and generation of power remotely. The CoAP sensors could be embedded inside the transformers and the data could be transferred over GPRS or 6LowPAN.</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Defense utilities - </a:t>
            </a:r>
            <a:r>
              <a:rPr lang="en" sz="1000" dirty="0">
                <a:solidFill>
                  <a:srgbClr val="273239"/>
                </a:solidFill>
                <a:highlight>
                  <a:srgbClr val="FFFFFF"/>
                </a:highlight>
                <a:latin typeface="Nunito"/>
                <a:ea typeface="Nunito"/>
                <a:cs typeface="Nunito"/>
                <a:sym typeface="Nunito"/>
              </a:rPr>
              <a:t>The armory and tanks are now-a-days fitted with sensors so that information could be communicated remotely without any interference. The CoAP sensors could detect any intrusion. This makes them capable to transfer more data even under low bandwidth network.</a:t>
            </a:r>
            <a:endParaRPr sz="1000" dirty="0">
              <a:solidFill>
                <a:srgbClr val="273239"/>
              </a:solidFill>
              <a:highlight>
                <a:srgbClr val="FFFFFF"/>
              </a:highlight>
              <a:latin typeface="Nunito"/>
              <a:ea typeface="Nunito"/>
              <a:cs typeface="Nunito"/>
              <a:sym typeface="Nunito"/>
            </a:endParaRPr>
          </a:p>
          <a:p>
            <a:pPr marL="685800" lvl="0" indent="-282178" algn="l" rtl="0">
              <a:lnSpc>
                <a:spcPct val="158000"/>
              </a:lnSpc>
              <a:spcBef>
                <a:spcPts val="0"/>
              </a:spcBef>
              <a:spcAft>
                <a:spcPts val="0"/>
              </a:spcAft>
              <a:buClr>
                <a:srgbClr val="273239"/>
              </a:buClr>
              <a:buSzPct val="100000"/>
              <a:buFont typeface="Nunito"/>
              <a:buChar char="●"/>
            </a:pPr>
            <a:r>
              <a:rPr lang="en" sz="1000" b="1" dirty="0">
                <a:solidFill>
                  <a:srgbClr val="273239"/>
                </a:solidFill>
                <a:highlight>
                  <a:srgbClr val="FFFFFF"/>
                </a:highlight>
                <a:latin typeface="Nunito"/>
                <a:ea typeface="Nunito"/>
                <a:cs typeface="Nunito"/>
                <a:sym typeface="Nunito"/>
              </a:rPr>
              <a:t>Aircraft utilities - </a:t>
            </a:r>
            <a:r>
              <a:rPr lang="en" sz="1000" dirty="0">
                <a:solidFill>
                  <a:srgbClr val="273239"/>
                </a:solidFill>
                <a:highlight>
                  <a:srgbClr val="FFFFFF"/>
                </a:highlight>
                <a:latin typeface="Nunito"/>
                <a:ea typeface="Nunito"/>
                <a:cs typeface="Nunito"/>
                <a:sym typeface="Nunito"/>
              </a:rPr>
              <a:t>The Aircraft sensors and actuators could be connected with other sensors and communication can take place using smart CoAP based sensors and actuators.</a:t>
            </a:r>
            <a:endParaRPr sz="1000" dirty="0">
              <a:solidFill>
                <a:srgbClr val="273239"/>
              </a:solidFill>
              <a:highlight>
                <a:srgbClr val="FFFFFF"/>
              </a:highlight>
              <a:latin typeface="Nunito"/>
              <a:ea typeface="Nunito"/>
              <a:cs typeface="Nunito"/>
              <a:sym typeface="Nunito"/>
            </a:endParaRPr>
          </a:p>
          <a:p>
            <a:pPr marL="0" lvl="0" indent="0" algn="l" rtl="0">
              <a:spcBef>
                <a:spcPts val="1800"/>
              </a:spcBef>
              <a:spcAft>
                <a:spcPts val="1200"/>
              </a:spcAft>
              <a:buNone/>
            </a:pPr>
            <a:endParaRPr sz="14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58</a:t>
            </a:fld>
            <a:endParaRPr lang="en"/>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23</TotalTime>
  <Words>8278</Words>
  <Application>Microsoft Office PowerPoint</Application>
  <PresentationFormat>On-screen Show (16:9)</PresentationFormat>
  <Paragraphs>555</Paragraphs>
  <Slides>58</Slides>
  <Notes>58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Libre Franklin Medium</vt:lpstr>
      <vt:lpstr>Roboto</vt:lpstr>
      <vt:lpstr>Arial</vt:lpstr>
      <vt:lpstr>Calibri</vt:lpstr>
      <vt:lpstr>Times New Roman</vt:lpstr>
      <vt:lpstr>Verdana</vt:lpstr>
      <vt:lpstr>Libre Franklin</vt:lpstr>
      <vt:lpstr>Calibri Light</vt:lpstr>
      <vt:lpstr>Nunito</vt:lpstr>
      <vt:lpstr>Courier New</vt:lpstr>
      <vt:lpstr>Retrospect</vt:lpstr>
      <vt:lpstr>Protocols for Internet of Things</vt:lpstr>
      <vt:lpstr> </vt:lpstr>
      <vt:lpstr>IoT Protocols Part - 1</vt:lpstr>
      <vt:lpstr>CO-PO Mapping</vt:lpstr>
      <vt:lpstr>CONTENTS  PHY/MAC Layer: Wireless HART, ZWave, Bluetooth Low Energy, Zigbee Smart Energy.  Network Layer: IPv4, IPv6, 6LoWPAN, ICMP,RPL, COAP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1.Bluetooth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another short-range communication standard</vt:lpstr>
      <vt:lpstr>PowerPoint Presentation</vt:lpstr>
      <vt:lpstr>PowerPoint Presentation</vt:lpstr>
      <vt:lpstr>PowerPoint Presentation</vt:lpstr>
      <vt:lpstr>PowerPoint Presentation</vt:lpstr>
      <vt:lpstr>Wireless HART -Highway Addressable Remote Transducer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Modes of RPL: This protocol defines two modes: 1. Storing mode All modes contain the entire routing table of the RPL domain. Every node knows how to reach every other node directly. 2. Non-Storing mode Only the border router(s) of the RPL domain contain(s) the full routing table. All other nodes in the domain maintain their list of parents only and use this as a list of default routes towards the border router. The abbreviated routing table saves memory space and CPU. When communicating in non-storing mode, a node always forwards its packet to the border router, which knows how to ultimately reach the final destination. RPL is based on the concept of a Directed Acyclic Graph (DAG). A DAG is Directed Graph where no cycle exists. This means that from any vertex or point in the graph, we cannot follow an edge or a line back to this same point. All of the edges are arranged in a path oriented toward and terminating at one or more root nodes. A basic RPL process involves building a Destination Oriented Directed Acyclic Graph (DODAG). A DODAG is a DAG rooted in one destination. In RPL this destination occurs at a border router known as the DODAG root. In a DODAG,  three parents maximum are maintained by each node that provides a path to the root. Typically one of these parents is the preferred parent, which means it is the preferred next hop for upward roots towards the root. The routing graph created by the set of DODAG parents across all nodes defines the full set of upwards roots. RPL protocol information should ensure that routes are loop-free by disallowing nodes from selected DODAG parents positioned further away from a border router.</vt:lpstr>
      <vt:lpstr>Main Features and Advantages of RPL The IPv6 Routing Protocol for RPL, is an efficient and effective protocol for data routing in resource-constrained scenarios, such Internet of Things devices as per requirement. Its many essential features include the below points: Scalability: The protocol can accommodate such type of big networks with low power and lossy connectivity, which makes it appropriate for a range of Internet of Things applications. Multipoint-to-point traffic generation: RPL offers a way to send data to a single destination point from several devices within the LLN as per requirement. Quality of Service (QoS) - The protocol guarantees QoS by offering various types of methods for reliable packet delivery system and congestion control systetm. Adaptive – RPL modifies the required routes in response to link quality and energy availability changes in the network environment or system. Security system: To guarantee various types of secure communication within the LLN as per requirement, RPL incorporates techniques for integrity protection, authentication, confidentiality, and encryption for better performance.</vt:lpstr>
      <vt:lpstr>Application Layer</vt:lpstr>
      <vt:lpstr>The Constrained Application Protocol (CoAP) is a special web transfer protocol that operates with constrained nodes and networks. These networks are commonly used for applications such as the Internet of Things (IoT), where devices may have limited processor, memory, and power resources. CoAP is intended to be simple, low-overhead, and efficient, making it ideal for machine-to-machine communication.  What is CoAP? CoAP or Constrained Application Protocol, as the name suggests, is an application layer protocol that was introduced by the Internet Engineering Task Force in the year 2014. CoAP is designed for the constrained environment. It is a web-based protocol that resembles HTTP. It is also based on the request-response model. Based on the REST-style architecture, this protocol considers the various objects in the network as resources. These resources are uniquely assigned a URI or Uniform Resource Identifier. The data from one resource to another resource is transferred in the form of CoAP message packets whose format is briefly described later. The Client requests for some resources and in response to that, the server sends some response over which the client sends an acknowledgement. Although, some types of CoAP do not involve the receiver sending acknowledgments for the information received.</vt:lpstr>
      <vt:lpstr>How Does CoAP Works? Constrained Application Protocol (CoAP) is an application layer protocol designed for resource-constrained devices and networks, particularly in the context of the Internet of Things (IoT).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Protocols for Internet of Things</dc:title>
  <dc:creator>Sayali</dc:creator>
  <cp:lastModifiedBy>sayali mane</cp:lastModifiedBy>
  <cp:revision>9</cp:revision>
  <dcterms:modified xsi:type="dcterms:W3CDTF">2026-03-10T15:38:30Z</dcterms:modified>
</cp:coreProperties>
</file>