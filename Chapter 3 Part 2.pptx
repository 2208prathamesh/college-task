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sldIdLst>
    <p:sldId id="256" r:id="rId2"/>
    <p:sldId id="275" r:id="rId3"/>
    <p:sldId id="257" r:id="rId4"/>
    <p:sldId id="258" r:id="rId5"/>
    <p:sldId id="269" r:id="rId6"/>
    <p:sldId id="270" r:id="rId7"/>
    <p:sldId id="271" r:id="rId8"/>
    <p:sldId id="259" r:id="rId9"/>
    <p:sldId id="272" r:id="rId10"/>
    <p:sldId id="273" r:id="rId11"/>
    <p:sldId id="274" r:id="rId12"/>
    <p:sldId id="278" r:id="rId13"/>
    <p:sldId id="279" r:id="rId14"/>
    <p:sldId id="280" r:id="rId15"/>
    <p:sldId id="281" r:id="rId16"/>
    <p:sldId id="276" r:id="rId17"/>
    <p:sldId id="277" r:id="rId18"/>
    <p:sldId id="282" r:id="rId19"/>
    <p:sldId id="283" r:id="rId20"/>
    <p:sldId id="284" r:id="rId21"/>
    <p:sldId id="285" r:id="rId22"/>
    <p:sldId id="260" r:id="rId23"/>
    <p:sldId id="261" r:id="rId24"/>
    <p:sldId id="262" r:id="rId25"/>
    <p:sldId id="263" r:id="rId26"/>
    <p:sldId id="264" r:id="rId27"/>
    <p:sldId id="265" r:id="rId28"/>
    <p:sldId id="266" r:id="rId29"/>
    <p:sldId id="267" r:id="rId30"/>
    <p:sldId id="268"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6" d="100"/>
          <a:sy n="76" d="100"/>
        </p:scale>
        <p:origin x="-1194" y="21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5BCAD085-E8A6-8845-BD4E-CB4CCA059FC4}" type="datetimeFigureOut">
              <a:rPr lang="en-US" smtClean="0"/>
              <a:t>8/12/2025</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C1FF6DA9-008F-8B48-92A6-B652298478BF}"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5BCAD085-E8A6-8845-BD4E-CB4CCA059FC4}" type="datetimeFigureOut">
              <a:rPr lang="en-US" smtClean="0"/>
              <a:t>8/12/2025</a:t>
            </a:fld>
            <a:endParaRPr lang="en-US"/>
          </a:p>
        </p:txBody>
      </p:sp>
      <p:sp>
        <p:nvSpPr>
          <p:cNvPr id="9" name="Slide Number Placeholder 8"/>
          <p:cNvSpPr>
            <a:spLocks noGrp="1"/>
          </p:cNvSpPr>
          <p:nvPr>
            <p:ph type="sldNum" sz="quarter" idx="15"/>
          </p:nvPr>
        </p:nvSpPr>
        <p:spPr/>
        <p:txBody>
          <a:bodyPr rtlCol="0"/>
          <a:lstStyle/>
          <a:p>
            <a:fld id="{C1FF6DA9-008F-8B48-92A6-B652298478BF}"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5BCAD085-E8A6-8845-BD4E-CB4CCA059FC4}" type="datetimeFigureOut">
              <a:rPr lang="en-US" smtClean="0"/>
              <a:t>8/12/2025</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C1FF6DA9-008F-8B48-92A6-B652298478BF}"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5BCAD085-E8A6-8845-BD4E-CB4CCA059FC4}" type="datetimeFigureOut">
              <a:rPr lang="en-US" smtClean="0"/>
              <a:t>8/12/2025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5BCAD085-E8A6-8845-BD4E-CB4CCA059FC4}" type="datetimeFigureOut">
              <a:rPr lang="en-US" smtClean="0"/>
              <a:t>8/12/2025</a:t>
            </a:fld>
            <a:endParaRPr lang="en-US"/>
          </a:p>
        </p:txBody>
      </p:sp>
      <p:sp>
        <p:nvSpPr>
          <p:cNvPr id="7" name="Slide Number Placeholder 6"/>
          <p:cNvSpPr>
            <a:spLocks noGrp="1"/>
          </p:cNvSpPr>
          <p:nvPr>
            <p:ph type="sldNum" sz="quarter" idx="11"/>
          </p:nvPr>
        </p:nvSpPr>
        <p:spPr/>
        <p:txBody>
          <a:bodyPr rtlCol="0"/>
          <a:lstStyle/>
          <a:p>
            <a:fld id="{C1FF6DA9-008F-8B48-92A6-B652298478BF}"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5BCAD085-E8A6-8845-BD4E-CB4CCA059FC4}" type="datetimeFigureOut">
              <a:rPr lang="en-US" smtClean="0"/>
              <a:t>8/12/2025</a:t>
            </a:fld>
            <a:endParaRPr lang="en-US"/>
          </a:p>
        </p:txBody>
      </p:sp>
      <p:sp>
        <p:nvSpPr>
          <p:cNvPr id="22" name="Slide Number Placeholder 21"/>
          <p:cNvSpPr>
            <a:spLocks noGrp="1"/>
          </p:cNvSpPr>
          <p:nvPr>
            <p:ph type="sldNum" sz="quarter" idx="15"/>
          </p:nvPr>
        </p:nvSpPr>
        <p:spPr/>
        <p:txBody>
          <a:bodyPr rtlCol="0"/>
          <a:lstStyle/>
          <a:p>
            <a:fld id="{C1FF6DA9-008F-8B48-92A6-B652298478BF}"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5BCAD085-E8A6-8845-BD4E-CB4CCA059FC4}" type="datetimeFigureOut">
              <a:rPr lang="en-US" smtClean="0"/>
              <a:t>8/12/2025</a:t>
            </a:fld>
            <a:endParaRPr lang="en-US"/>
          </a:p>
        </p:txBody>
      </p:sp>
      <p:sp>
        <p:nvSpPr>
          <p:cNvPr id="18" name="Slide Number Placeholder 17"/>
          <p:cNvSpPr>
            <a:spLocks noGrp="1"/>
          </p:cNvSpPr>
          <p:nvPr>
            <p:ph type="sldNum" sz="quarter" idx="11"/>
          </p:nvPr>
        </p:nvSpPr>
        <p:spPr/>
        <p:txBody>
          <a:bodyPr rtlCol="0"/>
          <a:lstStyle/>
          <a:p>
            <a:fld id="{C1FF6DA9-008F-8B48-92A6-B652298478BF}"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5BCAD085-E8A6-8845-BD4E-CB4CCA059FC4}" type="datetimeFigureOut">
              <a:rPr lang="en-US" smtClean="0"/>
              <a:t>8/12/2025</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geeksforgeeks.org/software-engineering/difference-between-corporate-communication-and-marketing-communication/"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geeksforgeeks.org/marketing/new-product-concept-importance-and-challenges/" TargetMode="External"/><Relationship Id="rId2" Type="http://schemas.openxmlformats.org/officeDocument/2006/relationships/hyperlink" Target="https://www.geeksforgeeks.org/marketing/promotional-codes-meaning-working-types-and-benefits/" TargetMode="External"/><Relationship Id="rId1" Type="http://schemas.openxmlformats.org/officeDocument/2006/relationships/slideLayout" Target="../slideLayouts/slideLayout2.xml"/><Relationship Id="rId4" Type="http://schemas.openxmlformats.org/officeDocument/2006/relationships/hyperlink" Target="https://www.geeksforgeeks.org/marketing/online-stores-meaning-features-advantages-and-disadvantages/"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accountancy/inventory-meaning-importance-types-and-example/" TargetMode="External"/><Relationship Id="rId2" Type="http://schemas.openxmlformats.org/officeDocument/2006/relationships/hyperlink" Target="https://www.geeksforgeeks.org/marketing/promotional-codes-meaning-working-types-and-benefit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geeksforgeeks.org/hr/kpi-full-form-importance-and-type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geeksforgeeks.org/marketing/marketing-channels-concept-importance-levels-and-types/" TargetMode="External"/><Relationship Id="rId2" Type="http://schemas.openxmlformats.org/officeDocument/2006/relationships/hyperlink" Target="https://www.geeksforgeeks.org/marketing/brand-awareness-meaning-importance-examples-and-strategy/" TargetMode="External"/><Relationship Id="rId1" Type="http://schemas.openxmlformats.org/officeDocument/2006/relationships/slideLayout" Target="../slideLayouts/slideLayout2.xml"/><Relationship Id="rId4" Type="http://schemas.openxmlformats.org/officeDocument/2006/relationships/hyperlink" Target="https://www.geeksforgeeks.org/accountancy/return-on-investment-roi-meaning-formula-significance-and-illustrations/"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geeksforgeeks.org/hr/employee-loyalty-meaning-importance-measurement-and-faqs/" TargetMode="External"/><Relationship Id="rId2" Type="http://schemas.openxmlformats.org/officeDocument/2006/relationships/hyperlink" Target="https://www.geeksforgeeks.org/marketing/customer-retention-importance-calculation-and-stages/" TargetMode="External"/><Relationship Id="rId1" Type="http://schemas.openxmlformats.org/officeDocument/2006/relationships/slideLayout" Target="../slideLayouts/slideLayout2.xml"/><Relationship Id="rId4" Type="http://schemas.openxmlformats.org/officeDocument/2006/relationships/hyperlink" Target="https://www.geeksforgeeks.org/marketing/marketing-channels-concept-importance-levels-and-type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sendpulse.com/support/glossary/opt-in" TargetMode="External"/><Relationship Id="rId2" Type="http://schemas.openxmlformats.org/officeDocument/2006/relationships/hyperlink" Target="https://sendpulse.com/support/glossary/prospective-customer"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google.com/search?sca_esv=0de3656c54fa3244&amp;rlz=1C1YTUH_enIN1104IN1104&amp;cs=0&amp;q=drip+campaigns&amp;sa=X&amp;ved=2ahUKEwic5oHL2oSPAxVRcGwGHV1qK6YQxccNegQIKBAB&amp;mstk=AUtExfBwomPg-YCC1eQrDXOaBL7YrT4rJ1tMecQvix8YFePj4Cp_jGQhmim6qsqXjGWW6VY8_fPxGmQzZ89cTMlmkHeemYDiNAym9TTDoN8q315EV4H93zo-bsovyhq-fkx8ZK0moB4q4WW2Vlkr4L0DZDvTYSYLHq0iSUMOVomVjOvjTk335vYdajXwH2tQYKjXM2Oq&amp;csui=3" TargetMode="External"/><Relationship Id="rId2" Type="http://schemas.openxmlformats.org/officeDocument/2006/relationships/hyperlink" Target="https://mailchimp.com/resources/email-marketing-design/" TargetMode="External"/><Relationship Id="rId1" Type="http://schemas.openxmlformats.org/officeDocument/2006/relationships/slideLayout" Target="../slideLayouts/slideLayout2.xml"/><Relationship Id="rId5" Type="http://schemas.openxmlformats.org/officeDocument/2006/relationships/hyperlink" Target="https://www.google.com/search?sca_esv=0de3656c54fa3244&amp;rlz=1C1YTUH_enIN1104IN1104&amp;cs=0&amp;q=abandoned+cart+sequences&amp;sa=X&amp;ved=2ahUKEwic5oHL2oSPAxVRcGwGHV1qK6YQxccNegQIKBAD&amp;mstk=AUtExfBwomPg-YCC1eQrDXOaBL7YrT4rJ1tMecQvix8YFePj4Cp_jGQhmim6qsqXjGWW6VY8_fPxGmQzZ89cTMlmkHeemYDiNAym9TTDoN8q315EV4H93zo-bsovyhq-fkx8ZK0moB4q4WW2Vlkr4L0DZDvTYSYLHq0iSUMOVomVjOvjTk335vYdajXwH2tQYKjXM2Oq&amp;csui=3" TargetMode="External"/><Relationship Id="rId4" Type="http://schemas.openxmlformats.org/officeDocument/2006/relationships/hyperlink" Target="https://www.google.com/search?sca_esv=0de3656c54fa3244&amp;rlz=1C1YTUH_enIN1104IN1104&amp;cs=0&amp;q=welcome+emails&amp;sa=X&amp;ved=2ahUKEwic5oHL2oSPAxVRcGwGHV1qK6YQxccNegQIKBAC&amp;mstk=AUtExfBwomPg-YCC1eQrDXOaBL7YrT4rJ1tMecQvix8YFePj4Cp_jGQhmim6qsqXjGWW6VY8_fPxGmQzZ89cTMlmkHeemYDiNAym9TTDoN8q315EV4H93zo-bsovyhq-fkx8ZK0moB4q4WW2Vlkr4L0DZDvTYSYLHq0iSUMOVomVjOvjTk335vYdajXwH2tQYKjXM2Oq&amp;csui=3" TargetMode="External"/></Relationships>
</file>

<file path=ppt/slides/_rels/slide20.xml.rels><?xml version="1.0" encoding="UTF-8" standalone="yes"?>
<Relationships xmlns="http://schemas.openxmlformats.org/package/2006/relationships"><Relationship Id="rId2" Type="http://schemas.openxmlformats.org/officeDocument/2006/relationships/hyperlink" Target="https://mailchimp.com/solutions/marketing-automation-tools/"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Email Marketing</a:t>
            </a:r>
          </a:p>
        </p:txBody>
      </p:sp>
      <p:sp>
        <p:nvSpPr>
          <p:cNvPr id="3" name="Content Placeholder 2"/>
          <p:cNvSpPr>
            <a:spLocks noGrp="1"/>
          </p:cNvSpPr>
          <p:nvPr>
            <p:ph sz="quarter" idx="1"/>
          </p:nvPr>
        </p:nvSpPr>
        <p:spPr/>
        <p:txBody>
          <a:bodyPr>
            <a:normAutofit/>
          </a:bodyPr>
          <a:lstStyle/>
          <a:p>
            <a:r>
              <a:rPr dirty="0"/>
              <a:t>An overview of strategies, benefits, and best practices in using email for digital marketing</a:t>
            </a:r>
            <a:r>
              <a:rPr dirty="0" smtClean="0"/>
              <a:t>.</a:t>
            </a:r>
            <a:endParaRPr lang="en-IN" dirty="0" smtClean="0"/>
          </a:p>
          <a:p>
            <a:r>
              <a:rPr lang="en-IN" dirty="0"/>
              <a:t>Email marketing involves sending commercial emails to promote business offerings to existing and potential customers. It is a digital marketing strategy used to engage existing customers and attract new ones. Effective emails have compelling subject lines, personalized content, visuals, clear calls-to-action, and mobile optimization. Campaigns promote updates, offers, events, and content to communicate the brand story</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tretch>
            <a:fillRect/>
          </a:stretch>
        </p:blipFill>
        <p:spPr bwMode="auto">
          <a:xfrm>
            <a:off x="781050" y="2274887"/>
            <a:ext cx="6819900" cy="352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2300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Email Marketing?</a:t>
            </a:r>
          </a:p>
        </p:txBody>
      </p:sp>
      <p:sp>
        <p:nvSpPr>
          <p:cNvPr id="3" name="Content Placeholder 2"/>
          <p:cNvSpPr>
            <a:spLocks noGrp="1"/>
          </p:cNvSpPr>
          <p:nvPr>
            <p:ph sz="quarter" idx="1"/>
          </p:nvPr>
        </p:nvSpPr>
        <p:spPr/>
        <p:txBody>
          <a:bodyPr>
            <a:normAutofit/>
          </a:bodyPr>
          <a:lstStyle/>
          <a:p>
            <a:r>
              <a:rPr dirty="0"/>
              <a:t>A direct form of digital marketing using email to promote products, build customer loyalty, and communicate with audiences</a:t>
            </a:r>
            <a:r>
              <a:rPr dirty="0" smtClean="0"/>
              <a:t>.</a:t>
            </a:r>
            <a:endParaRPr lang="en-IN" dirty="0" smtClean="0"/>
          </a:p>
          <a:p>
            <a:r>
              <a:rPr lang="en-IN" dirty="0"/>
              <a:t>Email marketing refers to a digital marketing strategy that uses email to promote business offerings and build relationships with potential or existing customers. </a:t>
            </a:r>
            <a:endParaRPr lang="en-IN" dirty="0" smtClean="0"/>
          </a:p>
          <a:p>
            <a:r>
              <a:rPr lang="en-IN" dirty="0" smtClean="0"/>
              <a:t>The </a:t>
            </a:r>
            <a:r>
              <a:rPr lang="en-IN" dirty="0"/>
              <a:t>core goal is driving sales revenue through email </a:t>
            </a:r>
            <a:r>
              <a:rPr lang="en-IN" u="sng" dirty="0">
                <a:hlinkClick r:id="rId2"/>
              </a:rPr>
              <a:t>communications</a:t>
            </a:r>
            <a:r>
              <a:rPr lang="en-IN" dirty="0"/>
              <a:t>. In email marketing, businesses create customized email campaigns targeted at certain subscriber lists.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Email Campaigns</a:t>
            </a:r>
          </a:p>
        </p:txBody>
      </p:sp>
      <p:sp>
        <p:nvSpPr>
          <p:cNvPr id="3" name="Content Placeholder 2"/>
          <p:cNvSpPr>
            <a:spLocks noGrp="1"/>
          </p:cNvSpPr>
          <p:nvPr>
            <p:ph sz="quarter" idx="1"/>
          </p:nvPr>
        </p:nvSpPr>
        <p:spPr/>
        <p:txBody>
          <a:bodyPr>
            <a:normAutofit fontScale="62500" lnSpcReduction="20000"/>
          </a:bodyPr>
          <a:lstStyle/>
          <a:p>
            <a:pPr fontAlgn="base"/>
            <a:r>
              <a:rPr lang="en-IN" dirty="0"/>
              <a:t>Marketers have lots of choices for how to contact customers by email. But some kinds of emails work better than others to help your company, which are as follows:</a:t>
            </a:r>
          </a:p>
          <a:p>
            <a:pPr fontAlgn="base"/>
            <a:r>
              <a:rPr lang="en-IN" b="1" dirty="0"/>
              <a:t>1. </a:t>
            </a:r>
            <a:r>
              <a:rPr lang="en-IN" b="1" u="sng" dirty="0">
                <a:hlinkClick r:id="rId2"/>
              </a:rPr>
              <a:t>Promotional</a:t>
            </a:r>
            <a:r>
              <a:rPr lang="en-IN" b="1" dirty="0"/>
              <a:t> Emails: </a:t>
            </a:r>
            <a:r>
              <a:rPr lang="en-IN" dirty="0"/>
              <a:t>These are emails focused on promoting special offers, sales, </a:t>
            </a:r>
            <a:r>
              <a:rPr lang="en-IN" u="sng" dirty="0">
                <a:hlinkClick r:id="rId3"/>
              </a:rPr>
              <a:t>new products,</a:t>
            </a:r>
            <a:r>
              <a:rPr lang="en-IN" dirty="0"/>
              <a:t> or other commercial announcements to drive purchases and transactions. </a:t>
            </a:r>
            <a:r>
              <a:rPr lang="en-IN" b="1" dirty="0"/>
              <a:t>For example,</a:t>
            </a:r>
            <a:r>
              <a:rPr lang="en-IN" dirty="0"/>
              <a:t> coupon emails, sale announcement emails, or new product launch emails. They advertise the business's latest deals.</a:t>
            </a:r>
          </a:p>
          <a:p>
            <a:pPr fontAlgn="base"/>
            <a:r>
              <a:rPr lang="en-IN" b="1" dirty="0"/>
              <a:t>2. Newsletters:</a:t>
            </a:r>
            <a:r>
              <a:rPr lang="en-IN" dirty="0"/>
              <a:t> Newsletters are regular, recurring emails that provide new and updated content like articles, company news, blog summaries, tips, or other useful information to subscribers. Rather than directly promoting products, they aim to build engagement.</a:t>
            </a:r>
          </a:p>
          <a:p>
            <a:pPr fontAlgn="base"/>
            <a:r>
              <a:rPr lang="en-IN" b="1" dirty="0"/>
              <a:t>3. Welcome Emails: </a:t>
            </a:r>
            <a:r>
              <a:rPr lang="en-IN" dirty="0"/>
              <a:t>Welcome emails are some of the most important emails sent. They are the first email contact when a person signs up and sets the tone of the subscriber relationship. Well-crafted welcome emails introduce the business, highlight subscription benefits, and start subscriber engagement.</a:t>
            </a:r>
          </a:p>
          <a:p>
            <a:pPr fontAlgn="base"/>
            <a:r>
              <a:rPr lang="en-IN" b="1" dirty="0"/>
              <a:t>4. Cart Abandonment Emails: </a:t>
            </a:r>
            <a:r>
              <a:rPr lang="en-IN" dirty="0"/>
              <a:t>When customers add items to an </a:t>
            </a:r>
            <a:r>
              <a:rPr lang="en-IN" u="sng" dirty="0">
                <a:hlinkClick r:id="rId4"/>
              </a:rPr>
              <a:t>online shopping</a:t>
            </a:r>
            <a:r>
              <a:rPr lang="en-IN" dirty="0"/>
              <a:t> cart but don't complete the purchase, cart abandonment emails remind them to return and check out. These transactional emails recover lost sales from shoppers needing an extra prompt to buy</a:t>
            </a:r>
            <a:r>
              <a:rPr lang="en-IN" dirty="0" smtClean="0"/>
              <a:t>.</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Continue</a:t>
            </a:r>
            <a:endParaRPr lang="en-IN" dirty="0"/>
          </a:p>
        </p:txBody>
      </p:sp>
      <p:sp>
        <p:nvSpPr>
          <p:cNvPr id="3" name="Content Placeholder 2"/>
          <p:cNvSpPr>
            <a:spLocks noGrp="1"/>
          </p:cNvSpPr>
          <p:nvPr>
            <p:ph sz="quarter" idx="1"/>
          </p:nvPr>
        </p:nvSpPr>
        <p:spPr/>
        <p:txBody>
          <a:bodyPr>
            <a:normAutofit fontScale="70000" lnSpcReduction="20000"/>
          </a:bodyPr>
          <a:lstStyle/>
          <a:p>
            <a:pPr fontAlgn="base"/>
            <a:r>
              <a:rPr lang="en-IN" b="1" dirty="0"/>
              <a:t>5. Customer Re-engagement Emails: </a:t>
            </a:r>
            <a:r>
              <a:rPr lang="en-IN" dirty="0"/>
              <a:t>These emails target subscribers who have been inactive for some time by re-engaging with them in an attempt to bring them back for repeat business. Tactics may include sending </a:t>
            </a:r>
            <a:r>
              <a:rPr lang="en-IN" u="sng" dirty="0">
                <a:hlinkClick r:id="rId2"/>
              </a:rPr>
              <a:t>promo codes</a:t>
            </a:r>
            <a:r>
              <a:rPr lang="en-IN" dirty="0"/>
              <a:t>, linking to the newest content, or showcasing recently added </a:t>
            </a:r>
            <a:r>
              <a:rPr lang="en-IN" u="sng" dirty="0">
                <a:hlinkClick r:id="rId3"/>
              </a:rPr>
              <a:t>inventory</a:t>
            </a:r>
            <a:r>
              <a:rPr lang="en-IN" dirty="0"/>
              <a:t>.</a:t>
            </a:r>
          </a:p>
          <a:p>
            <a:pPr fontAlgn="base"/>
            <a:r>
              <a:rPr lang="en-IN" b="1" dirty="0"/>
              <a:t>6. </a:t>
            </a:r>
            <a:r>
              <a:rPr lang="en-IN" b="1" dirty="0" err="1"/>
              <a:t>Onboarding</a:t>
            </a:r>
            <a:r>
              <a:rPr lang="en-IN" b="1" dirty="0"/>
              <a:t> Drip Campaigns: </a:t>
            </a:r>
            <a:r>
              <a:rPr lang="en-IN" dirty="0"/>
              <a:t>These nurture new subscribers by sending helpful orientation content over their first thirty, sixty, or ninety days. The </a:t>
            </a:r>
            <a:r>
              <a:rPr lang="en-IN" dirty="0" err="1"/>
              <a:t>onboarding</a:t>
            </a:r>
            <a:r>
              <a:rPr lang="en-IN" dirty="0"/>
              <a:t> series covers topics, like frequently asked questions, product tutorials, sizing guides, user community details, or member benefits to aid in getting started.</a:t>
            </a:r>
          </a:p>
          <a:p>
            <a:pPr fontAlgn="base"/>
            <a:r>
              <a:rPr lang="en-IN" b="1" dirty="0"/>
              <a:t>7. Holiday or Event Emails: </a:t>
            </a:r>
            <a:r>
              <a:rPr lang="en-IN" dirty="0"/>
              <a:t>These capitalize on major holidays, events, or cultural moments to send relevant communications. </a:t>
            </a:r>
            <a:r>
              <a:rPr lang="en-IN" b="1" dirty="0"/>
              <a:t>For example,</a:t>
            </a:r>
            <a:r>
              <a:rPr lang="en-IN" dirty="0"/>
              <a:t> Independence Day sales emails, Mother's Day gift ideas emails, or event promotion emails around occasions like music festivals or industry tradeshows. They tie into seasonal moments.</a:t>
            </a:r>
          </a:p>
          <a:p>
            <a:pPr fontAlgn="base"/>
            <a:r>
              <a:rPr lang="en-IN" b="1" dirty="0"/>
              <a:t>8. Ratings and Reviews Emails:</a:t>
            </a:r>
            <a:r>
              <a:rPr lang="en-IN" dirty="0"/>
              <a:t> These requests satisfy customer reviews or star ratings post-purchase. The feedback allows businesses to monitor satisfaction and improve products. Review emails tend to see high open rates as customers want to share evaluative input.</a:t>
            </a:r>
          </a:p>
          <a:p>
            <a:pPr marL="1828800" lvl="4" indent="0">
              <a:buNone/>
            </a:pPr>
            <a:endParaRPr lang="en-IN" dirty="0"/>
          </a:p>
        </p:txBody>
      </p:sp>
    </p:spTree>
    <p:extLst>
      <p:ext uri="{BB962C8B-B14F-4D97-AF65-F5344CB8AC3E}">
        <p14:creationId xmlns:p14="http://schemas.microsoft.com/office/powerpoint/2010/main" val="3968682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Process of Email Marketing</a:t>
            </a:r>
            <a:br>
              <a:rPr lang="en-IN" b="1" dirty="0"/>
            </a:br>
            <a:endParaRPr lang="en-IN" dirty="0"/>
          </a:p>
        </p:txBody>
      </p:sp>
      <p:sp>
        <p:nvSpPr>
          <p:cNvPr id="3" name="Content Placeholder 2"/>
          <p:cNvSpPr>
            <a:spLocks noGrp="1"/>
          </p:cNvSpPr>
          <p:nvPr>
            <p:ph sz="quarter" idx="1"/>
          </p:nvPr>
        </p:nvSpPr>
        <p:spPr/>
        <p:txBody>
          <a:bodyPr>
            <a:normAutofit fontScale="77500" lnSpcReduction="20000"/>
          </a:bodyPr>
          <a:lstStyle/>
          <a:p>
            <a:pPr fontAlgn="base"/>
            <a:r>
              <a:rPr lang="en-IN" b="1" dirty="0" smtClean="0"/>
              <a:t>1</a:t>
            </a:r>
            <a:r>
              <a:rPr lang="en-IN" b="1" dirty="0"/>
              <a:t>. Define your Audience:</a:t>
            </a:r>
            <a:r>
              <a:rPr lang="en-IN" dirty="0"/>
              <a:t> Clearly define your target audience by developing customer personas. </a:t>
            </a:r>
            <a:r>
              <a:rPr lang="en-IN" dirty="0" err="1"/>
              <a:t>Analyze</a:t>
            </a:r>
            <a:r>
              <a:rPr lang="en-IN" dirty="0"/>
              <a:t> your current customer base to determine key demographics like location, age, income level, gender, occupation, etc. Group them by common interests and </a:t>
            </a:r>
            <a:r>
              <a:rPr lang="en-IN" dirty="0" err="1"/>
              <a:t>behaviors</a:t>
            </a:r>
            <a:r>
              <a:rPr lang="en-IN" dirty="0"/>
              <a:t>. Get very specific in terms of their unique preferences and needs to shape content that resonates with them.</a:t>
            </a:r>
          </a:p>
          <a:p>
            <a:pPr fontAlgn="base"/>
            <a:r>
              <a:rPr lang="en-IN" b="1" dirty="0"/>
              <a:t>2. Establish your Goals:</a:t>
            </a:r>
            <a:r>
              <a:rPr lang="en-IN" dirty="0"/>
              <a:t> Decide on the purpose and goals of your email campaigns. Are you aiming to drive traffic, generate leads, increase sales, boost customer engagement, and promote brand awareness? Set specific </a:t>
            </a:r>
            <a:r>
              <a:rPr lang="en-IN" u="sng" dirty="0">
                <a:hlinkClick r:id="rId2"/>
              </a:rPr>
              <a:t>KPIs </a:t>
            </a:r>
            <a:r>
              <a:rPr lang="en-IN" dirty="0"/>
              <a:t>related to your objectives, such as email open rates, click-through rates, conversion rates, revenue metrics, or subscribers gained.</a:t>
            </a:r>
          </a:p>
          <a:p>
            <a:pPr fontAlgn="base"/>
            <a:r>
              <a:rPr lang="en-IN" b="1" dirty="0"/>
              <a:t>3. Create your Email List:</a:t>
            </a:r>
            <a:r>
              <a:rPr lang="en-IN" dirty="0"/>
              <a:t> Build your list through methods like offering opt-in forms on your website, blog, or social channels, capturing leads at in-person events and promotions, and through strategic list acquisition and partnerships. Focus on acquiring email contacts within your target personas. Incentivize subscribers.</a:t>
            </a:r>
          </a:p>
          <a:p>
            <a:endParaRPr lang="en-IN" dirty="0"/>
          </a:p>
        </p:txBody>
      </p:sp>
    </p:spTree>
    <p:extLst>
      <p:ext uri="{BB962C8B-B14F-4D97-AF65-F5344CB8AC3E}">
        <p14:creationId xmlns:p14="http://schemas.microsoft.com/office/powerpoint/2010/main" val="2631159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Continue</a:t>
            </a:r>
            <a:endParaRPr lang="en-IN" dirty="0"/>
          </a:p>
        </p:txBody>
      </p:sp>
      <p:sp>
        <p:nvSpPr>
          <p:cNvPr id="3" name="Content Placeholder 2"/>
          <p:cNvSpPr>
            <a:spLocks noGrp="1"/>
          </p:cNvSpPr>
          <p:nvPr>
            <p:ph sz="quarter" idx="1"/>
          </p:nvPr>
        </p:nvSpPr>
        <p:spPr/>
        <p:txBody>
          <a:bodyPr>
            <a:normAutofit fontScale="85000" lnSpcReduction="20000"/>
          </a:bodyPr>
          <a:lstStyle/>
          <a:p>
            <a:pPr fontAlgn="base"/>
            <a:r>
              <a:rPr lang="en-IN" b="1" dirty="0"/>
              <a:t>4. Pick an Email Campaign Type: </a:t>
            </a:r>
            <a:r>
              <a:rPr lang="en-IN" dirty="0"/>
              <a:t>Select campaign categories that align with audience preferences and business goals. Campaign types include promo emails, content newsletters, win-back offers, post-purchase follow-ups, holiday themes, and more. Map a campaign calendar to your KPIs with campaigns scheduled.</a:t>
            </a:r>
          </a:p>
          <a:p>
            <a:pPr fontAlgn="base"/>
            <a:r>
              <a:rPr lang="en-IN" b="1" dirty="0"/>
              <a:t>5. Make a schedule: </a:t>
            </a:r>
            <a:r>
              <a:rPr lang="en-IN" dirty="0"/>
              <a:t>Build an email cadence and systematic schedule for how often to send emails to each segment—weekly, monthly, etc. Welcome new subscribers with an </a:t>
            </a:r>
            <a:r>
              <a:rPr lang="en-IN" dirty="0" err="1"/>
              <a:t>onboarding</a:t>
            </a:r>
            <a:r>
              <a:rPr lang="en-IN" dirty="0"/>
              <a:t> drip series. Leverage automation tools to schedule recurring campaigns like win-back offers. Maintain a sense of exclusivity and anticipation without fatigue.</a:t>
            </a:r>
          </a:p>
          <a:p>
            <a:pPr fontAlgn="base"/>
            <a:r>
              <a:rPr lang="en-IN" b="1" dirty="0"/>
              <a:t>6. Measure your Results: </a:t>
            </a:r>
            <a:r>
              <a:rPr lang="en-IN" dirty="0"/>
              <a:t>Link the email platform to Google Analytics and add campaign UTM tracking to monitor performance. See what emails drove the most website traffic, subscriber growth, and sales to double down on those while reworking laggards.</a:t>
            </a:r>
          </a:p>
          <a:p>
            <a:endParaRPr lang="en-IN" dirty="0"/>
          </a:p>
        </p:txBody>
      </p:sp>
    </p:spTree>
    <p:extLst>
      <p:ext uri="{BB962C8B-B14F-4D97-AF65-F5344CB8AC3E}">
        <p14:creationId xmlns:p14="http://schemas.microsoft.com/office/powerpoint/2010/main" val="1797527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Benefits of Email Marketing</a:t>
            </a:r>
          </a:p>
        </p:txBody>
      </p:sp>
      <p:sp>
        <p:nvSpPr>
          <p:cNvPr id="3" name="Content Placeholder 2"/>
          <p:cNvSpPr>
            <a:spLocks noGrp="1"/>
          </p:cNvSpPr>
          <p:nvPr>
            <p:ph sz="quarter" idx="1"/>
          </p:nvPr>
        </p:nvSpPr>
        <p:spPr/>
        <p:txBody>
          <a:bodyPr>
            <a:normAutofit fontScale="85000" lnSpcReduction="20000"/>
          </a:bodyPr>
          <a:lstStyle/>
          <a:p>
            <a:pPr fontAlgn="base"/>
            <a:r>
              <a:rPr lang="en-IN" b="1" dirty="0"/>
              <a:t>1. Boosted </a:t>
            </a:r>
            <a:r>
              <a:rPr lang="en-IN" b="1" u="sng" dirty="0">
                <a:hlinkClick r:id="rId2"/>
              </a:rPr>
              <a:t>Brand Awareness</a:t>
            </a:r>
            <a:r>
              <a:rPr lang="en-IN" b="1" dirty="0"/>
              <a:t>: </a:t>
            </a:r>
            <a:r>
              <a:rPr lang="en-IN" dirty="0"/>
              <a:t>Regularly connecting with subscribers through value-driven email campaigns is a proven way to grow meaningful awareness of your brand, offerings, and what sets you apart. Emails that resonate with audiences in a cluttered inbox successfully gain mindshare.</a:t>
            </a:r>
          </a:p>
          <a:p>
            <a:pPr fontAlgn="base"/>
            <a:r>
              <a:rPr lang="en-IN" b="1" dirty="0"/>
              <a:t>2. Cost-Effective Reach: </a:t>
            </a:r>
            <a:r>
              <a:rPr lang="en-IN" dirty="0"/>
              <a:t>Email is considered an extremely cost-effective </a:t>
            </a:r>
            <a:r>
              <a:rPr lang="en-IN" u="sng" dirty="0">
                <a:hlinkClick r:id="rId3"/>
              </a:rPr>
              <a:t>marketing channel</a:t>
            </a:r>
            <a:r>
              <a:rPr lang="en-IN" dirty="0"/>
              <a:t>, often with higher </a:t>
            </a:r>
            <a:r>
              <a:rPr lang="en-IN" u="sng" dirty="0">
                <a:hlinkClick r:id="rId4"/>
              </a:rPr>
              <a:t>ROI</a:t>
            </a:r>
            <a:r>
              <a:rPr lang="en-IN" dirty="0"/>
              <a:t> than traditional print or direct mail campaigns. When using email service provider tools, there is very little incremental spending associated with adding more contacts and limited variable costs involved in scaling campaigns.</a:t>
            </a:r>
          </a:p>
          <a:p>
            <a:pPr fontAlgn="base"/>
            <a:r>
              <a:rPr lang="en-IN" b="1" dirty="0"/>
              <a:t>3. Driving Website Traffic: </a:t>
            </a:r>
            <a:r>
              <a:rPr lang="en-IN" dirty="0"/>
              <a:t>Calls-to-action within email campaigns can effectively direct engaged subscribers to targeted pages on your website or online store. Things like promotional offers, gated content previews, and newsletter highlights convert existing awareness into tangible website visits.</a:t>
            </a:r>
          </a:p>
          <a:p>
            <a:pPr marL="0" indent="0">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Continue</a:t>
            </a:r>
            <a:endParaRPr lang="en-IN" dirty="0"/>
          </a:p>
        </p:txBody>
      </p:sp>
      <p:sp>
        <p:nvSpPr>
          <p:cNvPr id="3" name="Content Placeholder 2"/>
          <p:cNvSpPr>
            <a:spLocks noGrp="1"/>
          </p:cNvSpPr>
          <p:nvPr>
            <p:ph sz="quarter" idx="1"/>
          </p:nvPr>
        </p:nvSpPr>
        <p:spPr/>
        <p:txBody>
          <a:bodyPr>
            <a:normAutofit fontScale="85000" lnSpcReduction="20000"/>
          </a:bodyPr>
          <a:lstStyle/>
          <a:p>
            <a:pPr fontAlgn="base"/>
            <a:r>
              <a:rPr lang="en-IN" b="1" dirty="0"/>
              <a:t>4. Lead Generation:</a:t>
            </a:r>
            <a:r>
              <a:rPr lang="en-IN" dirty="0"/>
              <a:t> Email often sits at the top of the purchase funnel, moving subscribers from awareness into consideration. Asking for a lead-generating action within emails, such as downloading an educational whitepaper or eBook, subscribing to a service trial, registering for a demo, etc., can capture key contact information on hot prospects.</a:t>
            </a:r>
          </a:p>
          <a:p>
            <a:pPr fontAlgn="base"/>
            <a:r>
              <a:rPr lang="en-IN" b="1" dirty="0"/>
              <a:t>5. Enhanced </a:t>
            </a:r>
            <a:r>
              <a:rPr lang="en-IN" b="1" u="sng" dirty="0">
                <a:hlinkClick r:id="rId2"/>
              </a:rPr>
              <a:t>Customer Retention</a:t>
            </a:r>
            <a:r>
              <a:rPr lang="en-IN" b="1" dirty="0"/>
              <a:t>:</a:t>
            </a:r>
            <a:r>
              <a:rPr lang="en-IN" dirty="0"/>
              <a:t> </a:t>
            </a:r>
            <a:r>
              <a:rPr lang="en-IN" dirty="0" err="1"/>
              <a:t>Ongoing</a:t>
            </a:r>
            <a:r>
              <a:rPr lang="en-IN" dirty="0"/>
              <a:t> email nurturing beyond the initial sale or sign-up helps retain customers longer. Transactional and promotional emails focused squarely on existing purchasers or</a:t>
            </a:r>
            <a:r>
              <a:rPr lang="en-IN" u="sng" dirty="0">
                <a:hlinkClick r:id="rId3"/>
              </a:rPr>
              <a:t> loyal members</a:t>
            </a:r>
            <a:r>
              <a:rPr lang="en-IN" dirty="0"/>
              <a:t> build satisfaction and brand affinity, improving customer lifetime value.</a:t>
            </a:r>
          </a:p>
          <a:p>
            <a:pPr fontAlgn="base"/>
            <a:r>
              <a:rPr lang="en-IN" b="1" dirty="0"/>
              <a:t>6. Sales Growth:</a:t>
            </a:r>
            <a:r>
              <a:rPr lang="en-IN" dirty="0"/>
              <a:t> Calls-to-action that directly elicit desired conversion events—be it a purchase, account sign-up, or service </a:t>
            </a:r>
            <a:r>
              <a:rPr lang="en-IN" dirty="0" err="1"/>
              <a:t>enrollment</a:t>
            </a:r>
            <a:r>
              <a:rPr lang="en-IN" dirty="0"/>
              <a:t>—directly generate incremental revenue and pipeline velocity. Of all </a:t>
            </a:r>
            <a:r>
              <a:rPr lang="en-IN" u="sng" dirty="0">
                <a:hlinkClick r:id="rId4"/>
              </a:rPr>
              <a:t>marketing channels</a:t>
            </a:r>
            <a:r>
              <a:rPr lang="en-IN" dirty="0"/>
              <a:t>, properly executed email marketing fuels some of the highest customer conversion rates over time.</a:t>
            </a:r>
          </a:p>
          <a:p>
            <a:endParaRPr lang="en-IN" dirty="0"/>
          </a:p>
        </p:txBody>
      </p:sp>
    </p:spTree>
    <p:extLst>
      <p:ext uri="{BB962C8B-B14F-4D97-AF65-F5344CB8AC3E}">
        <p14:creationId xmlns:p14="http://schemas.microsoft.com/office/powerpoint/2010/main" val="3609369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Drawbacks of Email Marketing</a:t>
            </a:r>
            <a:br>
              <a:rPr lang="en-IN" b="1" dirty="0"/>
            </a:br>
            <a:endParaRPr lang="en-IN" dirty="0"/>
          </a:p>
        </p:txBody>
      </p:sp>
      <p:sp>
        <p:nvSpPr>
          <p:cNvPr id="3" name="Content Placeholder 2"/>
          <p:cNvSpPr>
            <a:spLocks noGrp="1"/>
          </p:cNvSpPr>
          <p:nvPr>
            <p:ph sz="quarter" idx="1"/>
          </p:nvPr>
        </p:nvSpPr>
        <p:spPr/>
        <p:txBody>
          <a:bodyPr>
            <a:normAutofit fontScale="92500" lnSpcReduction="10000"/>
          </a:bodyPr>
          <a:lstStyle/>
          <a:p>
            <a:pPr fontAlgn="base"/>
            <a:r>
              <a:rPr lang="en-IN" b="1" dirty="0" smtClean="0"/>
              <a:t>1</a:t>
            </a:r>
            <a:r>
              <a:rPr lang="en-IN" b="1" dirty="0"/>
              <a:t>. Reaching Inboxes is Hard: </a:t>
            </a:r>
            <a:r>
              <a:rPr lang="en-IN" dirty="0"/>
              <a:t>With so many emails sent, it can be difficult to have your emails make it into subscriber inboxes instead of getting marked as spam or promotions. Standing out will be a challenge.</a:t>
            </a:r>
          </a:p>
          <a:p>
            <a:pPr fontAlgn="base"/>
            <a:r>
              <a:rPr lang="en-IN" b="1" dirty="0"/>
              <a:t>2. Audience Burnout:</a:t>
            </a:r>
            <a:r>
              <a:rPr lang="en-IN" dirty="0"/>
              <a:t> If you send too many emails or emails that are not relevant or valuable, subscribers will disengage, open fewer emails, and may even unsubscribe from your list altogether. Preventing this requires continual optimization.</a:t>
            </a:r>
          </a:p>
          <a:p>
            <a:pPr fontAlgn="base"/>
            <a:r>
              <a:rPr lang="en-IN" b="1" dirty="0"/>
              <a:t>3. Time-Consuming to Create:</a:t>
            </a:r>
            <a:r>
              <a:rPr lang="en-IN" dirty="0"/>
              <a:t> Designing great-looking email templates with compelling content takes extensive time and creative effort. For best results, dedicated staff may be needed, which is an added expense</a:t>
            </a:r>
            <a:r>
              <a:rPr lang="en-IN" dirty="0" smtClean="0"/>
              <a:t>.</a:t>
            </a:r>
            <a:endParaRPr lang="en-IN" dirty="0"/>
          </a:p>
        </p:txBody>
      </p:sp>
    </p:spTree>
    <p:extLst>
      <p:ext uri="{BB962C8B-B14F-4D97-AF65-F5344CB8AC3E}">
        <p14:creationId xmlns:p14="http://schemas.microsoft.com/office/powerpoint/2010/main" val="1913789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Continue</a:t>
            </a:r>
            <a:endParaRPr lang="en-IN" dirty="0"/>
          </a:p>
        </p:txBody>
      </p:sp>
      <p:sp>
        <p:nvSpPr>
          <p:cNvPr id="3" name="Content Placeholder 2"/>
          <p:cNvSpPr>
            <a:spLocks noGrp="1"/>
          </p:cNvSpPr>
          <p:nvPr>
            <p:ph sz="quarter" idx="1"/>
          </p:nvPr>
        </p:nvSpPr>
        <p:spPr/>
        <p:txBody>
          <a:bodyPr>
            <a:normAutofit/>
          </a:bodyPr>
          <a:lstStyle/>
          <a:p>
            <a:pPr fontAlgn="base"/>
            <a:r>
              <a:rPr lang="en-IN" b="1" dirty="0"/>
              <a:t>4. Advanced Analytics requires Work: </a:t>
            </a:r>
            <a:r>
              <a:rPr lang="en-IN" dirty="0"/>
              <a:t>While email providers offer basic reporting, integrating deeper web and customer analytics requires manually implementing additional tracking tools that may be outside of their core capabilities.</a:t>
            </a:r>
          </a:p>
          <a:p>
            <a:pPr fontAlgn="base"/>
            <a:r>
              <a:rPr lang="en-IN" b="1" dirty="0"/>
              <a:t>5. Reliance on Tech Platforms:</a:t>
            </a:r>
            <a:r>
              <a:rPr lang="en-IN" dirty="0"/>
              <a:t> Executing email campaigns relies on third-party email service providers. If their deliverability or functionality faces technical issues, your email reliability may suffer through no direct fault of your own.</a:t>
            </a:r>
          </a:p>
          <a:p>
            <a:endParaRPr lang="en-IN" dirty="0"/>
          </a:p>
          <a:p>
            <a:endParaRPr lang="en-IN" dirty="0"/>
          </a:p>
        </p:txBody>
      </p:sp>
    </p:spTree>
    <p:extLst>
      <p:ext uri="{BB962C8B-B14F-4D97-AF65-F5344CB8AC3E}">
        <p14:creationId xmlns:p14="http://schemas.microsoft.com/office/powerpoint/2010/main" val="1131006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options in Email advertising</a:t>
            </a:r>
          </a:p>
        </p:txBody>
      </p:sp>
      <p:sp>
        <p:nvSpPr>
          <p:cNvPr id="3" name="Content Placeholder 2"/>
          <p:cNvSpPr>
            <a:spLocks noGrp="1"/>
          </p:cNvSpPr>
          <p:nvPr>
            <p:ph sz="quarter" idx="1"/>
          </p:nvPr>
        </p:nvSpPr>
        <p:spPr/>
        <p:txBody>
          <a:bodyPr>
            <a:normAutofit fontScale="85000" lnSpcReduction="10000"/>
          </a:bodyPr>
          <a:lstStyle/>
          <a:p>
            <a:pPr fontAlgn="ctr"/>
            <a:r>
              <a:rPr lang="en-IN" dirty="0"/>
              <a:t>1. Promotional Emails: These are designed to drive sales and encourage purchases by promoting special offers, discounts, or new product announcements. </a:t>
            </a:r>
          </a:p>
          <a:p>
            <a:pPr fontAlgn="ctr"/>
            <a:r>
              <a:rPr lang="en-IN" dirty="0"/>
              <a:t>2. Newsletters: Regularly delivered emails that provide valuable content, industry news, or updates to subscribers, building a relationship and establishing expertise. </a:t>
            </a:r>
          </a:p>
          <a:p>
            <a:pPr fontAlgn="ctr"/>
            <a:r>
              <a:rPr lang="en-IN" dirty="0"/>
              <a:t>3. Welcome Emails: Sent immediately after a user subscribes, these introduce your brand, set expectations, and can include a special offer or welcome message. </a:t>
            </a:r>
          </a:p>
          <a:p>
            <a:pPr fontAlgn="ctr"/>
            <a:r>
              <a:rPr lang="en-IN" dirty="0"/>
              <a:t>4. Abandoned Cart Emails: Triggered when a customer adds items to their cart but doesn't complete the purchase, these encourage them to return and finalize their order. </a:t>
            </a:r>
          </a:p>
          <a:p>
            <a:pPr fontAlgn="ctr"/>
            <a:r>
              <a:rPr lang="en-IN" dirty="0"/>
              <a:t>5. Transactional Emails: These are automated emails related to a specific action, such as order confirmations, shipping updates, password resets, or account activity notifications. </a:t>
            </a:r>
          </a:p>
        </p:txBody>
      </p:sp>
    </p:spTree>
    <p:extLst>
      <p:ext uri="{BB962C8B-B14F-4D97-AF65-F5344CB8AC3E}">
        <p14:creationId xmlns:p14="http://schemas.microsoft.com/office/powerpoint/2010/main" val="2530948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Continue</a:t>
            </a:r>
            <a:endParaRPr lang="en-IN" dirty="0"/>
          </a:p>
        </p:txBody>
      </p:sp>
      <p:sp>
        <p:nvSpPr>
          <p:cNvPr id="3" name="Content Placeholder 2"/>
          <p:cNvSpPr>
            <a:spLocks noGrp="1"/>
          </p:cNvSpPr>
          <p:nvPr>
            <p:ph sz="quarter" idx="1"/>
          </p:nvPr>
        </p:nvSpPr>
        <p:spPr/>
        <p:txBody>
          <a:bodyPr>
            <a:normAutofit fontScale="85000" lnSpcReduction="20000"/>
          </a:bodyPr>
          <a:lstStyle/>
          <a:p>
            <a:pPr fontAlgn="ctr"/>
            <a:r>
              <a:rPr lang="en-IN" dirty="0"/>
              <a:t>6. Lead Nurturing Emails: These emails guide potential customers through the sales funnel by providing relevant information and building trust, ultimately leading to a purchase. </a:t>
            </a:r>
          </a:p>
          <a:p>
            <a:pPr fontAlgn="ctr"/>
            <a:r>
              <a:rPr lang="en-IN" dirty="0"/>
              <a:t>7. Re-engagement Emails: Targeted at inactive subscribers, these aim to re-ignite their interest in your brand and encourage them to interact with your content or offers. </a:t>
            </a:r>
          </a:p>
          <a:p>
            <a:pPr fontAlgn="ctr"/>
            <a:r>
              <a:rPr lang="en-IN" dirty="0"/>
              <a:t>8. Feedback and Survey Emails: These emails collect valuable feedback from customers to improve products, services, or customer experience. </a:t>
            </a:r>
          </a:p>
          <a:p>
            <a:pPr fontAlgn="ctr"/>
            <a:r>
              <a:rPr lang="en-IN" dirty="0"/>
              <a:t>9. Milestone Emails: Celebrate important dates for customers, such as birthdays or anniversaries, to show appreciation and build loyalty. </a:t>
            </a:r>
          </a:p>
          <a:p>
            <a:pPr fontAlgn="ctr"/>
            <a:r>
              <a:rPr lang="en-IN" dirty="0"/>
              <a:t>10. Seasonal and Event-Based Emails: Capitalize on holidays or special events to send relevant promotions or messages, often with a sense of urgency or limited-time offers. </a:t>
            </a:r>
            <a:br>
              <a:rPr lang="en-IN" dirty="0"/>
            </a:br>
            <a:endParaRPr lang="en-IN" dirty="0"/>
          </a:p>
          <a:p>
            <a:endParaRPr lang="en-IN" dirty="0"/>
          </a:p>
        </p:txBody>
      </p:sp>
    </p:spTree>
    <p:extLst>
      <p:ext uri="{BB962C8B-B14F-4D97-AF65-F5344CB8AC3E}">
        <p14:creationId xmlns:p14="http://schemas.microsoft.com/office/powerpoint/2010/main" val="3217737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i="1" dirty="0"/>
              <a:t>Email advertising</a:t>
            </a:r>
            <a:endParaRPr lang="en-IN" dirty="0"/>
          </a:p>
        </p:txBody>
      </p:sp>
      <p:sp>
        <p:nvSpPr>
          <p:cNvPr id="3" name="Content Placeholder 2"/>
          <p:cNvSpPr>
            <a:spLocks noGrp="1"/>
          </p:cNvSpPr>
          <p:nvPr>
            <p:ph sz="quarter" idx="1"/>
          </p:nvPr>
        </p:nvSpPr>
        <p:spPr/>
        <p:txBody>
          <a:bodyPr/>
          <a:lstStyle/>
          <a:p>
            <a:r>
              <a:rPr lang="en-IN" b="1" i="1" dirty="0"/>
              <a:t>Email advertising is a type of marketing performed via email whereby the recipient has consented to receive promotional messages from a brand. In this form of advertising, marketers seek to gain permission from their </a:t>
            </a:r>
            <a:r>
              <a:rPr lang="en-IN" b="1" i="1" dirty="0">
                <a:hlinkClick r:id="rId2"/>
              </a:rPr>
              <a:t>prospective customers</a:t>
            </a:r>
            <a:r>
              <a:rPr lang="en-IN" b="1" i="1" dirty="0"/>
              <a:t> by giving them an option to </a:t>
            </a:r>
            <a:r>
              <a:rPr lang="en-IN" b="1" i="1" dirty="0">
                <a:hlinkClick r:id="rId3"/>
              </a:rPr>
              <a:t>opt-in</a:t>
            </a:r>
            <a:r>
              <a:rPr lang="en-IN" b="1" i="1" dirty="0"/>
              <a:t> before sending emails.</a:t>
            </a:r>
            <a:endParaRPr lang="en-IN" dirty="0"/>
          </a:p>
        </p:txBody>
      </p:sp>
    </p:spTree>
    <p:extLst>
      <p:ext uri="{BB962C8B-B14F-4D97-AF65-F5344CB8AC3E}">
        <p14:creationId xmlns:p14="http://schemas.microsoft.com/office/powerpoint/2010/main" val="2156461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Why is email advertising essential?</a:t>
            </a:r>
            <a:br>
              <a:rPr lang="en-IN" b="1" dirty="0"/>
            </a:br>
            <a:endParaRPr lang="en-IN" dirty="0"/>
          </a:p>
        </p:txBody>
      </p:sp>
      <p:sp>
        <p:nvSpPr>
          <p:cNvPr id="3" name="Content Placeholder 2"/>
          <p:cNvSpPr>
            <a:spLocks noGrp="1"/>
          </p:cNvSpPr>
          <p:nvPr>
            <p:ph sz="quarter" idx="1"/>
          </p:nvPr>
        </p:nvSpPr>
        <p:spPr/>
        <p:txBody>
          <a:bodyPr>
            <a:normAutofit/>
          </a:bodyPr>
          <a:lstStyle/>
          <a:p>
            <a:r>
              <a:rPr lang="en-IN" dirty="0" smtClean="0"/>
              <a:t>It </a:t>
            </a:r>
            <a:r>
              <a:rPr lang="en-IN" dirty="0"/>
              <a:t>is cost-effective and fast</a:t>
            </a:r>
          </a:p>
          <a:p>
            <a:r>
              <a:rPr lang="en-IN" dirty="0"/>
              <a:t>It allows to reach targeted audiences through segmentation</a:t>
            </a:r>
          </a:p>
          <a:p>
            <a:r>
              <a:rPr lang="en-IN" dirty="0"/>
              <a:t>It is permission-based</a:t>
            </a:r>
          </a:p>
          <a:p>
            <a:r>
              <a:rPr lang="en-IN" dirty="0"/>
              <a:t>It shows higher ROI</a:t>
            </a:r>
          </a:p>
          <a:p>
            <a:r>
              <a:rPr lang="en-IN" dirty="0"/>
              <a:t>It is easy to measure and compare</a:t>
            </a:r>
          </a:p>
          <a:p>
            <a:r>
              <a:rPr lang="en-IN" dirty="0"/>
              <a:t>It is instant and shareable</a:t>
            </a:r>
          </a:p>
          <a:p>
            <a:endParaRPr lang="en-IN" dirty="0"/>
          </a:p>
        </p:txBody>
      </p:sp>
    </p:spTree>
    <p:extLst>
      <p:ext uri="{BB962C8B-B14F-4D97-AF65-F5344CB8AC3E}">
        <p14:creationId xmlns:p14="http://schemas.microsoft.com/office/powerpoint/2010/main" val="2577081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Do's of Email Marketing:</a:t>
            </a:r>
            <a:br>
              <a:rPr lang="en-IN" dirty="0"/>
            </a:br>
            <a:endParaRPr lang="en-IN" dirty="0"/>
          </a:p>
        </p:txBody>
      </p:sp>
      <p:sp>
        <p:nvSpPr>
          <p:cNvPr id="3" name="Content Placeholder 2"/>
          <p:cNvSpPr>
            <a:spLocks noGrp="1"/>
          </p:cNvSpPr>
          <p:nvPr>
            <p:ph sz="quarter" idx="1"/>
          </p:nvPr>
        </p:nvSpPr>
        <p:spPr>
          <a:xfrm>
            <a:off x="457200" y="1161789"/>
            <a:ext cx="7467600" cy="4873752"/>
          </a:xfrm>
        </p:spPr>
        <p:txBody>
          <a:bodyPr>
            <a:noAutofit/>
          </a:bodyPr>
          <a:lstStyle/>
          <a:p>
            <a:pPr fontAlgn="ctr"/>
            <a:r>
              <a:rPr lang="en-IN" sz="1600" b="1" dirty="0" smtClean="0"/>
              <a:t>Build </a:t>
            </a:r>
            <a:r>
              <a:rPr lang="en-IN" sz="1600" b="1" dirty="0"/>
              <a:t>a high-quality email list:</a:t>
            </a:r>
            <a:r>
              <a:rPr lang="en-IN" sz="1600" dirty="0"/>
              <a:t> Focus on acquiring subscribers who are genuinely interested in your content. </a:t>
            </a:r>
          </a:p>
          <a:p>
            <a:pPr fontAlgn="ctr"/>
            <a:r>
              <a:rPr lang="en-IN" sz="1600" b="1" dirty="0"/>
              <a:t>Personalize emails:</a:t>
            </a:r>
            <a:r>
              <a:rPr lang="en-IN" sz="1600" dirty="0"/>
              <a:t> Tailor your messages to specific segments of your audience based on their interests or </a:t>
            </a:r>
            <a:r>
              <a:rPr lang="en-IN" sz="1600" dirty="0" err="1"/>
              <a:t>behavior</a:t>
            </a:r>
            <a:r>
              <a:rPr lang="en-IN" sz="1600" dirty="0"/>
              <a:t>. </a:t>
            </a:r>
          </a:p>
          <a:p>
            <a:pPr fontAlgn="ctr"/>
            <a:r>
              <a:rPr lang="en-IN" sz="1600" b="1" dirty="0"/>
              <a:t>Craft engaging subject lines:</a:t>
            </a:r>
            <a:r>
              <a:rPr lang="en-IN" sz="1600" dirty="0"/>
              <a:t> Make them concise, relevant, and compelling to encourage opens. </a:t>
            </a:r>
          </a:p>
          <a:p>
            <a:pPr fontAlgn="ctr"/>
            <a:r>
              <a:rPr lang="en-IN" sz="1600" b="1" dirty="0"/>
              <a:t>Include clear calls-to-action (CTAs):</a:t>
            </a:r>
            <a:r>
              <a:rPr lang="en-IN" sz="1600" dirty="0"/>
              <a:t> Guide recipients on what you want them to do next. </a:t>
            </a:r>
          </a:p>
          <a:p>
            <a:pPr fontAlgn="ctr"/>
            <a:r>
              <a:rPr lang="en-IN" sz="1600" b="1" dirty="0"/>
              <a:t>Make your emails mobile-friendly:</a:t>
            </a:r>
            <a:r>
              <a:rPr lang="en-IN" sz="1600" dirty="0"/>
              <a:t> Ensure they display correctly on all devices. </a:t>
            </a:r>
          </a:p>
          <a:p>
            <a:pPr fontAlgn="ctr"/>
            <a:r>
              <a:rPr lang="en-IN" sz="1600" b="1" dirty="0"/>
              <a:t>Test and optimize your emails:</a:t>
            </a:r>
            <a:r>
              <a:rPr lang="en-IN" sz="1600" dirty="0"/>
              <a:t> Use A/B testing to see what works best. </a:t>
            </a:r>
          </a:p>
          <a:p>
            <a:pPr fontAlgn="ctr"/>
            <a:r>
              <a:rPr lang="en-IN" sz="1600" b="1" dirty="0"/>
              <a:t>Provide valuable content:</a:t>
            </a:r>
            <a:r>
              <a:rPr lang="en-IN" sz="1600" dirty="0"/>
              <a:t> Offer something of interest or benefit to your subscribers. </a:t>
            </a:r>
          </a:p>
          <a:p>
            <a:pPr fontAlgn="ctr"/>
            <a:r>
              <a:rPr lang="en-IN" sz="1600" b="1" dirty="0"/>
              <a:t>Respect subscribers' privacy:</a:t>
            </a:r>
            <a:r>
              <a:rPr lang="en-IN" sz="1600" dirty="0"/>
              <a:t> Get explicit consent before sending emails and allow for easy unsubscribes. </a:t>
            </a:r>
          </a:p>
          <a:p>
            <a:pPr fontAlgn="ctr"/>
            <a:r>
              <a:rPr lang="en-IN" sz="1600" b="1" dirty="0"/>
              <a:t>Use a branded email address:</a:t>
            </a:r>
            <a:r>
              <a:rPr lang="en-IN" sz="1600" dirty="0"/>
              <a:t> Establish credibility and trust. </a:t>
            </a:r>
          </a:p>
          <a:p>
            <a:r>
              <a:rPr lang="en-IN" sz="1600" b="1" dirty="0"/>
              <a:t>Keep your emails concise and focused:</a:t>
            </a:r>
            <a:r>
              <a:rPr lang="en-IN" sz="1600" dirty="0"/>
              <a:t> Get to the point and highlight key information. </a:t>
            </a:r>
          </a:p>
          <a:p>
            <a:endParaRPr lang="en-IN" sz="1600" dirty="0"/>
          </a:p>
        </p:txBody>
      </p:sp>
    </p:spTree>
    <p:extLst>
      <p:ext uri="{BB962C8B-B14F-4D97-AF65-F5344CB8AC3E}">
        <p14:creationId xmlns:p14="http://schemas.microsoft.com/office/powerpoint/2010/main" val="905186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Don'ts of Email Marketing:</a:t>
            </a:r>
            <a:br>
              <a:rPr lang="en-IN" dirty="0"/>
            </a:br>
            <a:endParaRPr lang="en-IN" dirty="0"/>
          </a:p>
        </p:txBody>
      </p:sp>
      <p:sp>
        <p:nvSpPr>
          <p:cNvPr id="3" name="Content Placeholder 2"/>
          <p:cNvSpPr>
            <a:spLocks noGrp="1"/>
          </p:cNvSpPr>
          <p:nvPr>
            <p:ph sz="quarter" idx="1"/>
          </p:nvPr>
        </p:nvSpPr>
        <p:spPr/>
        <p:txBody>
          <a:bodyPr>
            <a:normAutofit fontScale="70000" lnSpcReduction="20000"/>
          </a:bodyPr>
          <a:lstStyle/>
          <a:p>
            <a:pPr fontAlgn="ctr"/>
            <a:r>
              <a:rPr lang="en-IN" b="1" dirty="0" smtClean="0"/>
              <a:t>Buy </a:t>
            </a:r>
            <a:r>
              <a:rPr lang="en-IN" b="1" dirty="0"/>
              <a:t>email lists:</a:t>
            </a:r>
            <a:r>
              <a:rPr lang="en-IN" dirty="0"/>
              <a:t> This can lead to low engagement and deliverability issues. </a:t>
            </a:r>
          </a:p>
          <a:p>
            <a:pPr fontAlgn="ctr"/>
            <a:r>
              <a:rPr lang="en-IN" b="1" dirty="0"/>
              <a:t>Overwhelm subscribers with too many emails:</a:t>
            </a:r>
            <a:r>
              <a:rPr lang="en-IN" dirty="0"/>
              <a:t> Find a balance to avoid fatigue and unsubscribes. </a:t>
            </a:r>
          </a:p>
          <a:p>
            <a:pPr fontAlgn="ctr"/>
            <a:r>
              <a:rPr lang="en-IN" b="1" dirty="0"/>
              <a:t>Use </a:t>
            </a:r>
            <a:r>
              <a:rPr lang="en-IN" b="1" dirty="0" err="1"/>
              <a:t>clickbait</a:t>
            </a:r>
            <a:r>
              <a:rPr lang="en-IN" b="1" dirty="0"/>
              <a:t> or deceptive subject lines:</a:t>
            </a:r>
            <a:r>
              <a:rPr lang="en-IN" dirty="0"/>
              <a:t> This can damage your reputation. </a:t>
            </a:r>
          </a:p>
          <a:p>
            <a:pPr fontAlgn="ctr"/>
            <a:r>
              <a:rPr lang="en-IN" b="1" dirty="0"/>
              <a:t>Neglect list hygiene:</a:t>
            </a:r>
            <a:r>
              <a:rPr lang="en-IN" dirty="0"/>
              <a:t> Regularly clean your list to remove inactive or invalid addresses. </a:t>
            </a:r>
          </a:p>
          <a:p>
            <a:pPr fontAlgn="ctr"/>
            <a:r>
              <a:rPr lang="en-IN" b="1" dirty="0"/>
              <a:t>Use </a:t>
            </a:r>
            <a:r>
              <a:rPr lang="en-IN" b="1" dirty="0" err="1"/>
              <a:t>spammy</a:t>
            </a:r>
            <a:r>
              <a:rPr lang="en-IN" b="1" dirty="0"/>
              <a:t> language:</a:t>
            </a:r>
            <a:r>
              <a:rPr lang="en-IN" dirty="0"/>
              <a:t> Avoid words and phrases that trigger spam filters. </a:t>
            </a:r>
          </a:p>
          <a:p>
            <a:pPr fontAlgn="ctr"/>
            <a:r>
              <a:rPr lang="en-IN" b="1" dirty="0"/>
              <a:t>Ignore email analytics:</a:t>
            </a:r>
            <a:r>
              <a:rPr lang="en-IN" dirty="0"/>
              <a:t> Track your results to see what's working and what needs improvement. </a:t>
            </a:r>
          </a:p>
          <a:p>
            <a:pPr fontAlgn="ctr"/>
            <a:r>
              <a:rPr lang="en-IN" b="1" dirty="0"/>
              <a:t>Send emails without permission:</a:t>
            </a:r>
            <a:r>
              <a:rPr lang="en-IN" dirty="0"/>
              <a:t> Always get consent before adding someone to your list. </a:t>
            </a:r>
          </a:p>
          <a:p>
            <a:pPr fontAlgn="ctr"/>
            <a:r>
              <a:rPr lang="en-IN" b="1" dirty="0"/>
              <a:t>Forget to optimize for mobile devices:</a:t>
            </a:r>
            <a:r>
              <a:rPr lang="en-IN" dirty="0"/>
              <a:t> Many people read emails on their phones. </a:t>
            </a:r>
          </a:p>
          <a:p>
            <a:pPr fontAlgn="ctr"/>
            <a:r>
              <a:rPr lang="en-IN" b="1" dirty="0"/>
              <a:t>Include too many CTAs:</a:t>
            </a:r>
            <a:r>
              <a:rPr lang="en-IN" dirty="0"/>
              <a:t> Keep it focused and clear. </a:t>
            </a:r>
          </a:p>
          <a:p>
            <a:r>
              <a:rPr lang="en-IN" b="1" dirty="0"/>
              <a:t>Make every email a sales pitch:</a:t>
            </a:r>
            <a:r>
              <a:rPr lang="en-IN" dirty="0"/>
              <a:t> Vary your content to keep subscribers engaged. </a:t>
            </a:r>
          </a:p>
          <a:p>
            <a:endParaRPr lang="en-IN" dirty="0"/>
          </a:p>
        </p:txBody>
      </p:sp>
    </p:spTree>
    <p:extLst>
      <p:ext uri="{BB962C8B-B14F-4D97-AF65-F5344CB8AC3E}">
        <p14:creationId xmlns:p14="http://schemas.microsoft.com/office/powerpoint/2010/main" val="3430775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Introduction to E-mail marketing tool-</a:t>
            </a:r>
            <a:br>
              <a:rPr lang="en-IN" dirty="0"/>
            </a:br>
            <a:r>
              <a:rPr lang="en-IN" dirty="0"/>
              <a:t>Mail chimp.</a:t>
            </a:r>
          </a:p>
        </p:txBody>
      </p:sp>
      <p:sp>
        <p:nvSpPr>
          <p:cNvPr id="3" name="Content Placeholder 2"/>
          <p:cNvSpPr>
            <a:spLocks noGrp="1"/>
          </p:cNvSpPr>
          <p:nvPr>
            <p:ph sz="quarter" idx="1"/>
          </p:nvPr>
        </p:nvSpPr>
        <p:spPr/>
        <p:txBody>
          <a:bodyPr>
            <a:normAutofit/>
          </a:bodyPr>
          <a:lstStyle/>
          <a:p>
            <a:r>
              <a:rPr lang="en-IN" dirty="0" err="1"/>
              <a:t>Mailchimp</a:t>
            </a:r>
            <a:r>
              <a:rPr lang="en-IN" dirty="0"/>
              <a:t> is a popular, user-friendly email marketing platform used by businesses to design, send, and track email campaigns</a:t>
            </a:r>
            <a:r>
              <a:rPr lang="en-IN" dirty="0" smtClean="0"/>
              <a:t>.</a:t>
            </a:r>
          </a:p>
          <a:p>
            <a:r>
              <a:rPr lang="en-IN" dirty="0"/>
              <a:t> It offers a wide array of features, including customizable templates, automation workflows, and detailed analytics, making it a valuable tool for reaching target audiences and building customer relationships. </a:t>
            </a:r>
            <a:endParaRPr lang="en-IN" dirty="0" smtClean="0"/>
          </a:p>
          <a:p>
            <a:r>
              <a:rPr lang="en-IN" dirty="0" err="1" smtClean="0"/>
              <a:t>Mailchimp</a:t>
            </a:r>
            <a:r>
              <a:rPr lang="en-IN" dirty="0" smtClean="0"/>
              <a:t> </a:t>
            </a:r>
            <a:r>
              <a:rPr lang="en-IN" dirty="0"/>
              <a:t>is web-based, eliminating the need for software downloads, and offers both free and paid plans to suit different needs. </a:t>
            </a:r>
          </a:p>
        </p:txBody>
      </p:sp>
    </p:spTree>
    <p:extLst>
      <p:ext uri="{BB962C8B-B14F-4D97-AF65-F5344CB8AC3E}">
        <p14:creationId xmlns:p14="http://schemas.microsoft.com/office/powerpoint/2010/main" val="23715745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Key Features and Benefits</a:t>
            </a:r>
            <a:r>
              <a:rPr lang="en-IN" dirty="0" smtClean="0"/>
              <a:t>:</a:t>
            </a:r>
            <a:endParaRPr lang="en-IN" dirty="0"/>
          </a:p>
        </p:txBody>
      </p:sp>
      <p:sp>
        <p:nvSpPr>
          <p:cNvPr id="3" name="Content Placeholder 2"/>
          <p:cNvSpPr>
            <a:spLocks noGrp="1"/>
          </p:cNvSpPr>
          <p:nvPr>
            <p:ph sz="quarter" idx="1"/>
          </p:nvPr>
        </p:nvSpPr>
        <p:spPr/>
        <p:txBody>
          <a:bodyPr>
            <a:normAutofit fontScale="92500" lnSpcReduction="10000"/>
          </a:bodyPr>
          <a:lstStyle/>
          <a:p>
            <a:r>
              <a:rPr lang="en-IN" b="1" dirty="0" smtClean="0"/>
              <a:t>Email </a:t>
            </a:r>
            <a:r>
              <a:rPr lang="en-IN" b="1" dirty="0"/>
              <a:t>Creation:</a:t>
            </a:r>
            <a:endParaRPr lang="en-IN" dirty="0"/>
          </a:p>
          <a:p>
            <a:pPr fontAlgn="ctr"/>
            <a:r>
              <a:rPr lang="en-IN" dirty="0" err="1"/>
              <a:t>Mailchimp</a:t>
            </a:r>
            <a:r>
              <a:rPr lang="en-IN" dirty="0"/>
              <a:t> provides a variety of templates and a drag-and-drop editor, allowing users to create visually appealing and engaging emails without needing coding skills, </a:t>
            </a:r>
            <a:r>
              <a:rPr lang="en-IN" dirty="0">
                <a:hlinkClick r:id="rId2"/>
              </a:rPr>
              <a:t>according to </a:t>
            </a:r>
            <a:r>
              <a:rPr lang="en-IN" dirty="0" err="1">
                <a:hlinkClick r:id="rId2"/>
              </a:rPr>
              <a:t>Mailchimp</a:t>
            </a:r>
            <a:r>
              <a:rPr lang="en-IN" dirty="0"/>
              <a:t>. </a:t>
            </a:r>
          </a:p>
          <a:p>
            <a:r>
              <a:rPr lang="en-IN" b="1" dirty="0"/>
              <a:t>Audience Management:</a:t>
            </a:r>
            <a:endParaRPr lang="en-IN" dirty="0"/>
          </a:p>
          <a:p>
            <a:pPr fontAlgn="ctr"/>
            <a:r>
              <a:rPr lang="en-IN" dirty="0"/>
              <a:t>Users can build and manage email lists, import contacts from various sources, and segment audiences based on demographics, </a:t>
            </a:r>
            <a:r>
              <a:rPr lang="en-IN" dirty="0" err="1"/>
              <a:t>behaviors</a:t>
            </a:r>
            <a:r>
              <a:rPr lang="en-IN" dirty="0"/>
              <a:t>, and other criteria. </a:t>
            </a:r>
          </a:p>
          <a:p>
            <a:r>
              <a:rPr lang="en-IN" b="1" dirty="0"/>
              <a:t>Automation:</a:t>
            </a:r>
            <a:endParaRPr lang="en-IN" dirty="0"/>
          </a:p>
          <a:p>
            <a:pPr fontAlgn="ctr"/>
            <a:r>
              <a:rPr lang="en-IN" dirty="0" err="1"/>
              <a:t>Mailchimp</a:t>
            </a:r>
            <a:r>
              <a:rPr lang="en-IN" dirty="0"/>
              <a:t> offers automation features like </a:t>
            </a:r>
            <a:r>
              <a:rPr lang="en-IN" dirty="0">
                <a:hlinkClick r:id="rId3"/>
              </a:rPr>
              <a:t>drip campaigns</a:t>
            </a:r>
            <a:r>
              <a:rPr lang="en-IN" dirty="0"/>
              <a:t>, </a:t>
            </a:r>
            <a:r>
              <a:rPr lang="en-IN" dirty="0">
                <a:hlinkClick r:id="rId4"/>
              </a:rPr>
              <a:t>welcome emails</a:t>
            </a:r>
            <a:r>
              <a:rPr lang="en-IN" dirty="0"/>
              <a:t>, and </a:t>
            </a:r>
            <a:r>
              <a:rPr lang="en-IN" dirty="0">
                <a:hlinkClick r:id="rId5"/>
              </a:rPr>
              <a:t>abandoned cart sequences</a:t>
            </a:r>
            <a:r>
              <a:rPr lang="en-IN" dirty="0"/>
              <a:t>, allowing for personalized and timely communication with customers. </a:t>
            </a:r>
          </a:p>
        </p:txBody>
      </p:sp>
    </p:spTree>
    <p:extLst>
      <p:ext uri="{BB962C8B-B14F-4D97-AF65-F5344CB8AC3E}">
        <p14:creationId xmlns:p14="http://schemas.microsoft.com/office/powerpoint/2010/main" val="5226591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Continue</a:t>
            </a:r>
            <a:endParaRPr lang="en-IN" dirty="0"/>
          </a:p>
        </p:txBody>
      </p:sp>
      <p:sp>
        <p:nvSpPr>
          <p:cNvPr id="3" name="Content Placeholder 2"/>
          <p:cNvSpPr>
            <a:spLocks noGrp="1"/>
          </p:cNvSpPr>
          <p:nvPr>
            <p:ph sz="quarter" idx="1"/>
          </p:nvPr>
        </p:nvSpPr>
        <p:spPr/>
        <p:txBody>
          <a:bodyPr>
            <a:normAutofit fontScale="92500" lnSpcReduction="10000"/>
          </a:bodyPr>
          <a:lstStyle/>
          <a:p>
            <a:r>
              <a:rPr lang="en-IN" b="1" dirty="0"/>
              <a:t>Analytics and Reporting:</a:t>
            </a:r>
            <a:endParaRPr lang="en-IN" dirty="0"/>
          </a:p>
          <a:p>
            <a:pPr fontAlgn="ctr"/>
            <a:r>
              <a:rPr lang="en-IN" dirty="0" err="1"/>
              <a:t>Mailchimp</a:t>
            </a:r>
            <a:r>
              <a:rPr lang="en-IN" dirty="0"/>
              <a:t> provides detailed reports on email campaign performance, including open rates, click-through rates, and conversions, helping users optimize their campaigns. </a:t>
            </a:r>
          </a:p>
          <a:p>
            <a:r>
              <a:rPr lang="en-IN" b="1" dirty="0"/>
              <a:t>Integrations:</a:t>
            </a:r>
            <a:endParaRPr lang="en-IN" dirty="0"/>
          </a:p>
          <a:p>
            <a:pPr fontAlgn="ctr"/>
            <a:r>
              <a:rPr lang="en-IN" dirty="0" err="1"/>
              <a:t>Mailchimp</a:t>
            </a:r>
            <a:r>
              <a:rPr lang="en-IN" dirty="0"/>
              <a:t> integrates with various platforms, including e-commerce systems, social media, and other marketing tools, allowing for a seamless marketing experience, </a:t>
            </a:r>
            <a:r>
              <a:rPr lang="en-IN" dirty="0">
                <a:hlinkClick r:id="rId2"/>
              </a:rPr>
              <a:t>says </a:t>
            </a:r>
            <a:r>
              <a:rPr lang="en-IN" dirty="0" err="1">
                <a:hlinkClick r:id="rId2"/>
              </a:rPr>
              <a:t>Mailchimp</a:t>
            </a:r>
            <a:r>
              <a:rPr lang="en-IN" dirty="0"/>
              <a:t>. </a:t>
            </a:r>
          </a:p>
          <a:p>
            <a:r>
              <a:rPr lang="en-IN" b="1" dirty="0"/>
              <a:t>Free Plan:</a:t>
            </a:r>
            <a:endParaRPr lang="en-IN" dirty="0"/>
          </a:p>
          <a:p>
            <a:r>
              <a:rPr lang="en-IN" dirty="0" err="1"/>
              <a:t>Mailchimp</a:t>
            </a:r>
            <a:r>
              <a:rPr lang="en-IN" dirty="0"/>
              <a:t> offers a free plan that includes up to 2,000 contacts and 10,000 email sends per month, making it accessible to small businesses and </a:t>
            </a:r>
            <a:r>
              <a:rPr lang="en-IN" dirty="0" err="1"/>
              <a:t>startups</a:t>
            </a:r>
            <a:r>
              <a:rPr lang="en-IN" dirty="0"/>
              <a:t>. </a:t>
            </a:r>
          </a:p>
          <a:p>
            <a:endParaRPr lang="en-IN" dirty="0"/>
          </a:p>
          <a:p>
            <a:endParaRPr lang="en-IN" dirty="0"/>
          </a:p>
        </p:txBody>
      </p:sp>
    </p:spTree>
    <p:extLst>
      <p:ext uri="{BB962C8B-B14F-4D97-AF65-F5344CB8AC3E}">
        <p14:creationId xmlns:p14="http://schemas.microsoft.com/office/powerpoint/2010/main" val="21255901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How it Works</a:t>
            </a:r>
            <a:r>
              <a:rPr lang="en-IN" dirty="0" smtClean="0"/>
              <a:t>:</a:t>
            </a:r>
            <a:endParaRPr lang="en-IN" dirty="0"/>
          </a:p>
        </p:txBody>
      </p:sp>
      <p:sp>
        <p:nvSpPr>
          <p:cNvPr id="3" name="Content Placeholder 2"/>
          <p:cNvSpPr>
            <a:spLocks noGrp="1"/>
          </p:cNvSpPr>
          <p:nvPr>
            <p:ph sz="quarter" idx="1"/>
          </p:nvPr>
        </p:nvSpPr>
        <p:spPr/>
        <p:txBody>
          <a:bodyPr>
            <a:noAutofit/>
          </a:bodyPr>
          <a:lstStyle/>
          <a:p>
            <a:r>
              <a:rPr lang="en-IN" sz="1800" b="1" dirty="0" smtClean="0"/>
              <a:t>1</a:t>
            </a:r>
            <a:r>
              <a:rPr lang="en-IN" sz="1800" b="1" dirty="0"/>
              <a:t>. Account Setup:</a:t>
            </a:r>
            <a:endParaRPr lang="en-IN" sz="1800" dirty="0"/>
          </a:p>
          <a:p>
            <a:pPr fontAlgn="ctr"/>
            <a:r>
              <a:rPr lang="en-IN" sz="1800" dirty="0"/>
              <a:t>Users create a </a:t>
            </a:r>
            <a:r>
              <a:rPr lang="en-IN" sz="1800" dirty="0" err="1"/>
              <a:t>Mailchimp</a:t>
            </a:r>
            <a:r>
              <a:rPr lang="en-IN" sz="1800" dirty="0"/>
              <a:t> account, providing basic information like name, business details, and optionally a website URL. </a:t>
            </a:r>
          </a:p>
          <a:p>
            <a:r>
              <a:rPr lang="en-IN" sz="1800" b="1" dirty="0"/>
              <a:t>2. Audience Creation:</a:t>
            </a:r>
            <a:endParaRPr lang="en-IN" sz="1800" dirty="0"/>
          </a:p>
          <a:p>
            <a:pPr fontAlgn="ctr"/>
            <a:r>
              <a:rPr lang="en-IN" sz="1800" dirty="0"/>
              <a:t>Users build their email list by importing contacts or creating signup forms. </a:t>
            </a:r>
          </a:p>
          <a:p>
            <a:r>
              <a:rPr lang="en-IN" sz="1800" b="1" dirty="0"/>
              <a:t>3. Email Design:</a:t>
            </a:r>
            <a:endParaRPr lang="en-IN" sz="1800" dirty="0"/>
          </a:p>
          <a:p>
            <a:pPr fontAlgn="ctr"/>
            <a:r>
              <a:rPr lang="en-IN" sz="1800" dirty="0"/>
              <a:t>Users design emails using templates or the drag-and-drop editor, adding content, images, and calls to action. </a:t>
            </a:r>
          </a:p>
          <a:p>
            <a:r>
              <a:rPr lang="en-IN" sz="1800" b="1" dirty="0"/>
              <a:t>4. Campaign Launch:</a:t>
            </a:r>
            <a:endParaRPr lang="en-IN" sz="1800" dirty="0"/>
          </a:p>
          <a:p>
            <a:pPr fontAlgn="ctr"/>
            <a:r>
              <a:rPr lang="en-IN" sz="1800" dirty="0"/>
              <a:t>Users schedule or send emails to their chosen audience segments. </a:t>
            </a:r>
          </a:p>
          <a:p>
            <a:r>
              <a:rPr lang="en-IN" sz="1800" b="1" dirty="0"/>
              <a:t>5. Performance Tracking:</a:t>
            </a:r>
            <a:endParaRPr lang="en-IN" sz="1800" dirty="0"/>
          </a:p>
          <a:p>
            <a:r>
              <a:rPr lang="en-IN" sz="1800" dirty="0" err="1"/>
              <a:t>Mailchimp</a:t>
            </a:r>
            <a:r>
              <a:rPr lang="en-IN" sz="1800" dirty="0"/>
              <a:t> provides detailed reports on campaign performance, allowing users to track engagement and optimize future campaigns. </a:t>
            </a:r>
          </a:p>
          <a:p>
            <a:endParaRPr lang="en-IN" sz="1800" dirty="0"/>
          </a:p>
        </p:txBody>
      </p:sp>
    </p:spTree>
    <p:extLst>
      <p:ext uri="{BB962C8B-B14F-4D97-AF65-F5344CB8AC3E}">
        <p14:creationId xmlns:p14="http://schemas.microsoft.com/office/powerpoint/2010/main" val="24342578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Best Practices</a:t>
            </a:r>
          </a:p>
        </p:txBody>
      </p:sp>
      <p:sp>
        <p:nvSpPr>
          <p:cNvPr id="3" name="Content Placeholder 2"/>
          <p:cNvSpPr>
            <a:spLocks noGrp="1"/>
          </p:cNvSpPr>
          <p:nvPr>
            <p:ph sz="quarter" idx="1"/>
          </p:nvPr>
        </p:nvSpPr>
        <p:spPr/>
        <p:txBody>
          <a:bodyPr/>
          <a:lstStyle/>
          <a:p>
            <a:r>
              <a:t>• Personalization</a:t>
            </a:r>
          </a:p>
          <a:p>
            <a:r>
              <a:t>• Compelling subject lines</a:t>
            </a:r>
          </a:p>
          <a:p>
            <a:r>
              <a:t>• Mobile optimization</a:t>
            </a:r>
          </a:p>
          <a:p>
            <a:r>
              <a:t>• Clear CTAs</a:t>
            </a:r>
          </a:p>
          <a:p>
            <a:r>
              <a:t>• Segmentation</a:t>
            </a:r>
          </a:p>
          <a:p>
            <a:r>
              <a:t>• A/B Testing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Design Tips</a:t>
            </a:r>
          </a:p>
        </p:txBody>
      </p:sp>
      <p:sp>
        <p:nvSpPr>
          <p:cNvPr id="3" name="Content Placeholder 2"/>
          <p:cNvSpPr>
            <a:spLocks noGrp="1"/>
          </p:cNvSpPr>
          <p:nvPr>
            <p:ph sz="quarter" idx="1"/>
          </p:nvPr>
        </p:nvSpPr>
        <p:spPr/>
        <p:txBody>
          <a:bodyPr/>
          <a:lstStyle/>
          <a:p>
            <a:r>
              <a:t>• Use responsive templates</a:t>
            </a:r>
          </a:p>
          <a:p>
            <a:r>
              <a:t>• Keep content concise</a:t>
            </a:r>
          </a:p>
          <a:p>
            <a:r>
              <a:t>• Use visuals sparingly</a:t>
            </a:r>
          </a:p>
          <a:p>
            <a:r>
              <a:t>• Highlight key actions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Email Marketing Metrics</a:t>
            </a:r>
          </a:p>
        </p:txBody>
      </p:sp>
      <p:sp>
        <p:nvSpPr>
          <p:cNvPr id="3" name="Content Placeholder 2"/>
          <p:cNvSpPr>
            <a:spLocks noGrp="1"/>
          </p:cNvSpPr>
          <p:nvPr>
            <p:ph sz="quarter" idx="1"/>
          </p:nvPr>
        </p:nvSpPr>
        <p:spPr/>
        <p:txBody>
          <a:bodyPr/>
          <a:lstStyle/>
          <a:p>
            <a:r>
              <a:t>• Open Rate</a:t>
            </a:r>
          </a:p>
          <a:p>
            <a:r>
              <a:t>• Click-Through Rate (CTR)</a:t>
            </a:r>
          </a:p>
          <a:p>
            <a:r>
              <a:t>• Conversion Rate</a:t>
            </a:r>
          </a:p>
          <a:p>
            <a:r>
              <a:t>• Bounce Rate</a:t>
            </a:r>
          </a:p>
          <a:p>
            <a:r>
              <a:t>• Unsubscribe Rate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Tools &amp; Platforms</a:t>
            </a:r>
          </a:p>
        </p:txBody>
      </p:sp>
      <p:sp>
        <p:nvSpPr>
          <p:cNvPr id="3" name="Content Placeholder 2"/>
          <p:cNvSpPr>
            <a:spLocks noGrp="1"/>
          </p:cNvSpPr>
          <p:nvPr>
            <p:ph sz="quarter" idx="1"/>
          </p:nvPr>
        </p:nvSpPr>
        <p:spPr/>
        <p:txBody>
          <a:bodyPr/>
          <a:lstStyle/>
          <a:p>
            <a:r>
              <a:t>Popular tools include:</a:t>
            </a:r>
          </a:p>
          <a:p>
            <a:r>
              <a:t>• Mailchimp</a:t>
            </a:r>
          </a:p>
          <a:p>
            <a:r>
              <a:t>• Constant Contact</a:t>
            </a:r>
          </a:p>
          <a:p>
            <a:r>
              <a:t>• Sendinblue</a:t>
            </a:r>
          </a:p>
          <a:p>
            <a:r>
              <a:t>• HubSpot</a:t>
            </a:r>
          </a:p>
          <a:p>
            <a:r>
              <a:t>• Zoho Campaigns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in Email Marketing</a:t>
            </a:r>
          </a:p>
        </p:txBody>
      </p:sp>
      <p:sp>
        <p:nvSpPr>
          <p:cNvPr id="3" name="Content Placeholder 2"/>
          <p:cNvSpPr>
            <a:spLocks noGrp="1"/>
          </p:cNvSpPr>
          <p:nvPr>
            <p:ph sz="quarter" idx="1"/>
          </p:nvPr>
        </p:nvSpPr>
        <p:spPr/>
        <p:txBody>
          <a:bodyPr/>
          <a:lstStyle/>
          <a:p>
            <a:r>
              <a:t>• Deliverability</a:t>
            </a:r>
          </a:p>
          <a:p>
            <a:r>
              <a:t>• Spam filters</a:t>
            </a:r>
          </a:p>
          <a:p>
            <a:r>
              <a:t>• Unsubscribes</a:t>
            </a:r>
          </a:p>
          <a:p>
            <a:r>
              <a:t>• Legal compliance (CAN-SPAM/GDPR)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Legal Considerations</a:t>
            </a:r>
          </a:p>
        </p:txBody>
      </p:sp>
      <p:sp>
        <p:nvSpPr>
          <p:cNvPr id="3" name="Content Placeholder 2"/>
          <p:cNvSpPr>
            <a:spLocks noGrp="1"/>
          </p:cNvSpPr>
          <p:nvPr>
            <p:ph sz="quarter" idx="1"/>
          </p:nvPr>
        </p:nvSpPr>
        <p:spPr/>
        <p:txBody>
          <a:bodyPr/>
          <a:lstStyle/>
          <a:p>
            <a:r>
              <a:t>• Include unsubscribe links</a:t>
            </a:r>
          </a:p>
          <a:p>
            <a:r>
              <a:t>• Avoid misleading headers</a:t>
            </a:r>
          </a:p>
          <a:p>
            <a:r>
              <a:t>• Honor opt-out requests</a:t>
            </a:r>
          </a:p>
          <a:p>
            <a:r>
              <a:t>• GDPR and CAN-SPAM compliance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Tips for Success</a:t>
            </a:r>
          </a:p>
        </p:txBody>
      </p:sp>
      <p:sp>
        <p:nvSpPr>
          <p:cNvPr id="3" name="Content Placeholder 2"/>
          <p:cNvSpPr>
            <a:spLocks noGrp="1"/>
          </p:cNvSpPr>
          <p:nvPr>
            <p:ph sz="quarter" idx="1"/>
          </p:nvPr>
        </p:nvSpPr>
        <p:spPr/>
        <p:txBody>
          <a:bodyPr/>
          <a:lstStyle/>
          <a:p>
            <a:r>
              <a:t>• Segment your audience</a:t>
            </a:r>
          </a:p>
          <a:p>
            <a:r>
              <a:t>• Test and analyze</a:t>
            </a:r>
          </a:p>
          <a:p>
            <a:r>
              <a:t>• Use automation wisely</a:t>
            </a:r>
          </a:p>
          <a:p>
            <a:r>
              <a:t>• Focus on content value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Study Example</a:t>
            </a:r>
          </a:p>
        </p:txBody>
      </p:sp>
      <p:sp>
        <p:nvSpPr>
          <p:cNvPr id="3" name="Content Placeholder 2"/>
          <p:cNvSpPr>
            <a:spLocks noGrp="1"/>
          </p:cNvSpPr>
          <p:nvPr>
            <p:ph sz="quarter" idx="1"/>
          </p:nvPr>
        </p:nvSpPr>
        <p:spPr/>
        <p:txBody>
          <a:bodyPr/>
          <a:lstStyle/>
          <a:p>
            <a:r>
              <a:t>Company X increased conversions by 25% using targeted email campaigns and A/B testing.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sz="quarter" idx="1"/>
          </p:nvPr>
        </p:nvSpPr>
        <p:spPr/>
        <p:txBody>
          <a:bodyPr/>
          <a:lstStyle/>
          <a:p>
            <a:r>
              <a:t>Email marketing remains a high-impact, measurable, and strategic digital channel for brands of all sizes.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24</TotalTime>
  <Words>633</Words>
  <Application>Microsoft Office PowerPoint</Application>
  <PresentationFormat>On-screen Show (4:3)</PresentationFormat>
  <Paragraphs>157</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Oriel</vt:lpstr>
      <vt:lpstr>Email Marketing</vt:lpstr>
      <vt:lpstr>PowerPoint Presentation</vt:lpstr>
      <vt:lpstr>What is Email Marketing?</vt:lpstr>
      <vt:lpstr>Types of Email Campaigns</vt:lpstr>
      <vt:lpstr>Continue</vt:lpstr>
      <vt:lpstr>Process of Email Marketing </vt:lpstr>
      <vt:lpstr>Continue</vt:lpstr>
      <vt:lpstr>Benefits of Email Marketing</vt:lpstr>
      <vt:lpstr>Continue</vt:lpstr>
      <vt:lpstr>Drawbacks of Email Marketing </vt:lpstr>
      <vt:lpstr>Continue</vt:lpstr>
      <vt:lpstr>options in Email advertising</vt:lpstr>
      <vt:lpstr>Continue</vt:lpstr>
      <vt:lpstr>Email advertising</vt:lpstr>
      <vt:lpstr>Why is email advertising essential? </vt:lpstr>
      <vt:lpstr>Do's of Email Marketing: </vt:lpstr>
      <vt:lpstr>Don'ts of Email Marketing: </vt:lpstr>
      <vt:lpstr>Introduction to E-mail marketing tool- Mail chimp.</vt:lpstr>
      <vt:lpstr>Key Features and Benefits:</vt:lpstr>
      <vt:lpstr>Continue</vt:lpstr>
      <vt:lpstr>How it Works:</vt:lpstr>
      <vt:lpstr>Best Practices</vt:lpstr>
      <vt:lpstr>Design Tips</vt:lpstr>
      <vt:lpstr>Email Marketing Metrics</vt:lpstr>
      <vt:lpstr>Tools &amp; Platforms</vt:lpstr>
      <vt:lpstr>Challenges in Email Marketing</vt:lpstr>
      <vt:lpstr>Legal Considerations</vt:lpstr>
      <vt:lpstr>Tips for Success</vt:lpstr>
      <vt:lpstr>Case Study Example</vt:lpstr>
      <vt:lpstr>Conclusion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Email Marketing</dc:title>
  <dc:subject/>
  <dc:creator/>
  <cp:keywords/>
  <dc:description>generated using python-pptx</dc:description>
  <cp:lastModifiedBy>dypcoe</cp:lastModifiedBy>
  <cp:revision>7</cp:revision>
  <dcterms:created xsi:type="dcterms:W3CDTF">2013-01-27T09:14:16Z</dcterms:created>
  <dcterms:modified xsi:type="dcterms:W3CDTF">2025-08-12T10:35:29Z</dcterms:modified>
  <cp:category/>
</cp:coreProperties>
</file>