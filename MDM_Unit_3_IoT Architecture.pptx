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2" r:id="rId6"/>
    <p:sldId id="260" r:id="rId7"/>
    <p:sldId id="273" r:id="rId8"/>
    <p:sldId id="261" r:id="rId9"/>
    <p:sldId id="274" r:id="rId10"/>
    <p:sldId id="262" r:id="rId11"/>
    <p:sldId id="275" r:id="rId12"/>
    <p:sldId id="263" r:id="rId13"/>
    <p:sldId id="264" r:id="rId14"/>
    <p:sldId id="276" r:id="rId15"/>
    <p:sldId id="265" r:id="rId16"/>
    <p:sldId id="266" r:id="rId17"/>
    <p:sldId id="277" r:id="rId18"/>
    <p:sldId id="287" r:id="rId19"/>
    <p:sldId id="288" r:id="rId20"/>
    <p:sldId id="289" r:id="rId21"/>
    <p:sldId id="290" r:id="rId22"/>
    <p:sldId id="291" r:id="rId23"/>
    <p:sldId id="295" r:id="rId24"/>
    <p:sldId id="296" r:id="rId25"/>
    <p:sldId id="297" r:id="rId26"/>
    <p:sldId id="298" r:id="rId27"/>
    <p:sldId id="26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63795-DC49-4965-A09E-73EC478C7D26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9D45-0E5C-4CA6-8E7F-AA6EB50E9E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937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63795-DC49-4965-A09E-73EC478C7D26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9D45-0E5C-4CA6-8E7F-AA6EB50E9E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922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63795-DC49-4965-A09E-73EC478C7D26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9D45-0E5C-4CA6-8E7F-AA6EB50E9E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1566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63795-DC49-4965-A09E-73EC478C7D26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9D45-0E5C-4CA6-8E7F-AA6EB50E9E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803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63795-DC49-4965-A09E-73EC478C7D26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9D45-0E5C-4CA6-8E7F-AA6EB50E9E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0323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63795-DC49-4965-A09E-73EC478C7D26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9D45-0E5C-4CA6-8E7F-AA6EB50E9E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8877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63795-DC49-4965-A09E-73EC478C7D26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9D45-0E5C-4CA6-8E7F-AA6EB50E9E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015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63795-DC49-4965-A09E-73EC478C7D26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9D45-0E5C-4CA6-8E7F-AA6EB50E9E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410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63795-DC49-4965-A09E-73EC478C7D26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9D45-0E5C-4CA6-8E7F-AA6EB50E9E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8712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63795-DC49-4965-A09E-73EC478C7D26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9D45-0E5C-4CA6-8E7F-AA6EB50E9E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921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63795-DC49-4965-A09E-73EC478C7D26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C9D45-0E5C-4CA6-8E7F-AA6EB50E9E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384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163795-DC49-4965-A09E-73EC478C7D26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EC9D45-0E5C-4CA6-8E7F-AA6EB50E9E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857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18413" t="20900" r="20953" b="187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85757" y="1418474"/>
            <a:ext cx="31004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MDM </a:t>
            </a:r>
            <a:r>
              <a:rPr lang="en-US" sz="2800" b="1" dirty="0" err="1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Unit 3 </a:t>
            </a:r>
            <a:endParaRPr lang="en-IN" sz="28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8698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8016" t="30018" r="21349" b="29203"/>
          <a:stretch/>
        </p:blipFill>
        <p:spPr>
          <a:xfrm>
            <a:off x="251" y="0"/>
            <a:ext cx="121917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453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8096" t="32469" r="25347" b="29013"/>
          <a:stretch/>
        </p:blipFill>
        <p:spPr>
          <a:xfrm>
            <a:off x="0" y="0"/>
            <a:ext cx="121559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892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1079" t="24695" r="36478" b="21007"/>
          <a:stretch/>
        </p:blipFill>
        <p:spPr>
          <a:xfrm>
            <a:off x="17736" y="0"/>
            <a:ext cx="121742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283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33701" y="264528"/>
            <a:ext cx="7162799" cy="6593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000" b="1" kern="0" dirty="0">
                <a:ea typeface="Times New Roman" panose="02020603050405020304" pitchFamily="18" charset="0"/>
                <a:cs typeface="Mangal"/>
              </a:rPr>
              <a:t>|                  Business Layer                     </a:t>
            </a:r>
            <a:r>
              <a:rPr lang="en-IN" sz="2000" b="1" kern="0" dirty="0" smtClean="0">
                <a:ea typeface="Times New Roman" panose="02020603050405020304" pitchFamily="18" charset="0"/>
                <a:cs typeface="Mangal"/>
              </a:rPr>
              <a:t>                                  </a:t>
            </a:r>
            <a:r>
              <a:rPr lang="en-IN" sz="2000" kern="0" dirty="0">
                <a:ea typeface="Times New Roman" panose="02020603050405020304" pitchFamily="18" charset="0"/>
                <a:cs typeface="Mangal"/>
              </a:rPr>
              <a:t>|</a:t>
            </a:r>
            <a:endParaRPr lang="en-IN" sz="2800" kern="100" dirty="0" smtClean="0">
              <a:effectLst/>
              <a:ea typeface="Calibri" panose="020F0502020204030204" pitchFamily="34" charset="0"/>
              <a:cs typeface="Mangal"/>
            </a:endParaRPr>
          </a:p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000" kern="0" dirty="0">
                <a:ea typeface="Times New Roman" panose="02020603050405020304" pitchFamily="18" charset="0"/>
                <a:cs typeface="Mangal"/>
              </a:rPr>
              <a:t>|  - Business models, profit strategies, </a:t>
            </a:r>
            <a:r>
              <a:rPr lang="en-IN" sz="2000" kern="0" dirty="0" smtClean="0">
                <a:ea typeface="Times New Roman" panose="02020603050405020304" pitchFamily="18" charset="0"/>
                <a:cs typeface="Mangal"/>
              </a:rPr>
              <a:t>decision-making   |</a:t>
            </a:r>
            <a:endParaRPr lang="en-IN" sz="2800" kern="100" dirty="0" smtClean="0">
              <a:effectLst/>
              <a:ea typeface="Calibri" panose="020F0502020204030204" pitchFamily="34" charset="0"/>
              <a:cs typeface="Mangal"/>
            </a:endParaRPr>
          </a:p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000" kern="0" dirty="0">
                <a:ea typeface="Times New Roman" panose="02020603050405020304" pitchFamily="18" charset="0"/>
                <a:cs typeface="Mangal"/>
              </a:rPr>
              <a:t>|  - Example: Predictive maintenance in industries      </a:t>
            </a:r>
            <a:r>
              <a:rPr lang="en-IN" sz="2000" kern="0" dirty="0" smtClean="0">
                <a:ea typeface="Times New Roman" panose="02020603050405020304" pitchFamily="18" charset="0"/>
                <a:cs typeface="Mangal"/>
              </a:rPr>
              <a:t>      |</a:t>
            </a:r>
            <a:endParaRPr lang="en-IN" sz="2800" kern="100" dirty="0" smtClean="0">
              <a:effectLst/>
              <a:ea typeface="Calibri" panose="020F0502020204030204" pitchFamily="34" charset="0"/>
              <a:cs typeface="Mangal"/>
            </a:endParaRPr>
          </a:p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000" kern="0" dirty="0" smtClean="0">
                <a:ea typeface="Times New Roman" panose="02020603050405020304" pitchFamily="18" charset="0"/>
                <a:cs typeface="Mangal"/>
              </a:rPr>
              <a:t>+--------------------------------------------------------------------------+</a:t>
            </a:r>
            <a:endParaRPr lang="en-IN" sz="2800" kern="100" dirty="0" smtClean="0">
              <a:effectLst/>
              <a:ea typeface="Calibri" panose="020F0502020204030204" pitchFamily="34" charset="0"/>
              <a:cs typeface="Mangal"/>
            </a:endParaRPr>
          </a:p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000" b="1" kern="0" dirty="0">
                <a:ea typeface="Times New Roman" panose="02020603050405020304" pitchFamily="18" charset="0"/>
                <a:cs typeface="Mangal"/>
              </a:rPr>
              <a:t>|                 Application Layer                 </a:t>
            </a:r>
            <a:r>
              <a:rPr lang="en-IN" sz="2000" b="1" kern="0" dirty="0" smtClean="0">
                <a:ea typeface="Times New Roman" panose="02020603050405020304" pitchFamily="18" charset="0"/>
                <a:cs typeface="Mangal"/>
              </a:rPr>
              <a:t>                                   </a:t>
            </a:r>
            <a:r>
              <a:rPr lang="en-IN" sz="2000" kern="0" dirty="0">
                <a:ea typeface="Times New Roman" panose="02020603050405020304" pitchFamily="18" charset="0"/>
                <a:cs typeface="Mangal"/>
              </a:rPr>
              <a:t>|</a:t>
            </a:r>
            <a:endParaRPr lang="en-IN" sz="2800" kern="100" dirty="0" smtClean="0">
              <a:effectLst/>
              <a:ea typeface="Calibri" panose="020F0502020204030204" pitchFamily="34" charset="0"/>
              <a:cs typeface="Mangal"/>
            </a:endParaRPr>
          </a:p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000" kern="0" dirty="0">
                <a:ea typeface="Times New Roman" panose="02020603050405020304" pitchFamily="18" charset="0"/>
                <a:cs typeface="Mangal"/>
              </a:rPr>
              <a:t>|  - End-user services and applications      </a:t>
            </a:r>
            <a:r>
              <a:rPr lang="en-IN" sz="2000" kern="0" dirty="0" smtClean="0">
                <a:ea typeface="Times New Roman" panose="02020603050405020304" pitchFamily="18" charset="0"/>
                <a:cs typeface="Mangal"/>
              </a:rPr>
              <a:t>                            </a:t>
            </a:r>
            <a:r>
              <a:rPr lang="en-IN" sz="2000" kern="0" dirty="0">
                <a:ea typeface="Times New Roman" panose="02020603050405020304" pitchFamily="18" charset="0"/>
                <a:cs typeface="Mangal"/>
              </a:rPr>
              <a:t>|</a:t>
            </a:r>
            <a:endParaRPr lang="en-IN" sz="2800" kern="100" dirty="0" smtClean="0">
              <a:effectLst/>
              <a:ea typeface="Calibri" panose="020F0502020204030204" pitchFamily="34" charset="0"/>
              <a:cs typeface="Mangal"/>
            </a:endParaRPr>
          </a:p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000" kern="0" dirty="0">
                <a:ea typeface="Times New Roman" panose="02020603050405020304" pitchFamily="18" charset="0"/>
                <a:cs typeface="Mangal"/>
              </a:rPr>
              <a:t>|  - Examples: Smart homes, e-healthcare, smart </a:t>
            </a:r>
            <a:r>
              <a:rPr lang="en-IN" sz="2000" kern="0" dirty="0" smtClean="0">
                <a:ea typeface="Times New Roman" panose="02020603050405020304" pitchFamily="18" charset="0"/>
                <a:cs typeface="Mangal"/>
              </a:rPr>
              <a:t>cities     </a:t>
            </a:r>
            <a:r>
              <a:rPr lang="en-IN" sz="2000" kern="0" dirty="0">
                <a:ea typeface="Times New Roman" panose="02020603050405020304" pitchFamily="18" charset="0"/>
                <a:cs typeface="Mangal"/>
              </a:rPr>
              <a:t>|</a:t>
            </a:r>
            <a:endParaRPr lang="en-IN" sz="2800" kern="100" dirty="0" smtClean="0">
              <a:effectLst/>
              <a:ea typeface="Calibri" panose="020F0502020204030204" pitchFamily="34" charset="0"/>
              <a:cs typeface="Mangal"/>
            </a:endParaRPr>
          </a:p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000" kern="0" dirty="0" smtClean="0">
                <a:ea typeface="Times New Roman" panose="02020603050405020304" pitchFamily="18" charset="0"/>
                <a:cs typeface="Mangal"/>
              </a:rPr>
              <a:t>+--------------------------------------------------------------------------+</a:t>
            </a:r>
            <a:endParaRPr lang="en-IN" sz="2800" kern="100" dirty="0" smtClean="0">
              <a:effectLst/>
              <a:ea typeface="Calibri" panose="020F0502020204030204" pitchFamily="34" charset="0"/>
              <a:cs typeface="Mangal"/>
            </a:endParaRPr>
          </a:p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000" b="1" kern="0" dirty="0">
                <a:ea typeface="Times New Roman" panose="02020603050405020304" pitchFamily="18" charset="0"/>
                <a:cs typeface="Mangal"/>
              </a:rPr>
              <a:t>|             Processing / Middleware Layer           </a:t>
            </a:r>
            <a:r>
              <a:rPr lang="en-IN" sz="2000" b="1" kern="0" dirty="0" smtClean="0">
                <a:ea typeface="Times New Roman" panose="02020603050405020304" pitchFamily="18" charset="0"/>
                <a:cs typeface="Mangal"/>
              </a:rPr>
              <a:t>                     </a:t>
            </a:r>
            <a:r>
              <a:rPr lang="en-IN" sz="2000" kern="0" dirty="0">
                <a:ea typeface="Times New Roman" panose="02020603050405020304" pitchFamily="18" charset="0"/>
                <a:cs typeface="Mangal"/>
              </a:rPr>
              <a:t>|</a:t>
            </a:r>
            <a:endParaRPr lang="en-IN" sz="2800" kern="100" dirty="0" smtClean="0">
              <a:effectLst/>
              <a:ea typeface="Calibri" panose="020F0502020204030204" pitchFamily="34" charset="0"/>
              <a:cs typeface="Mangal"/>
            </a:endParaRPr>
          </a:p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000" kern="0" dirty="0">
                <a:ea typeface="Times New Roman" panose="02020603050405020304" pitchFamily="18" charset="0"/>
                <a:cs typeface="Mangal"/>
              </a:rPr>
              <a:t>|  - Data aggregation, filtering, analytics, edge/cloud </a:t>
            </a:r>
            <a:r>
              <a:rPr lang="en-IN" sz="2000" kern="0" dirty="0" smtClean="0">
                <a:ea typeface="Times New Roman" panose="02020603050405020304" pitchFamily="18" charset="0"/>
                <a:cs typeface="Mangal"/>
              </a:rPr>
              <a:t>        |</a:t>
            </a:r>
            <a:endParaRPr lang="en-IN" sz="2800" kern="100" dirty="0" smtClean="0">
              <a:effectLst/>
              <a:ea typeface="Calibri" panose="020F0502020204030204" pitchFamily="34" charset="0"/>
              <a:cs typeface="Mangal"/>
            </a:endParaRPr>
          </a:p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000" kern="0" dirty="0">
                <a:ea typeface="Times New Roman" panose="02020603050405020304" pitchFamily="18" charset="0"/>
                <a:cs typeface="Mangal"/>
              </a:rPr>
              <a:t>|  - Examples: Cloud servers, </a:t>
            </a:r>
            <a:r>
              <a:rPr lang="en-IN" sz="2000" kern="0" dirty="0" err="1">
                <a:ea typeface="Times New Roman" panose="02020603050405020304" pitchFamily="18" charset="0"/>
                <a:cs typeface="Mangal"/>
              </a:rPr>
              <a:t>IoT</a:t>
            </a:r>
            <a:r>
              <a:rPr lang="en-IN" sz="2000" kern="0" dirty="0">
                <a:ea typeface="Times New Roman" panose="02020603050405020304" pitchFamily="18" charset="0"/>
                <a:cs typeface="Mangal"/>
              </a:rPr>
              <a:t> platforms (AWS </a:t>
            </a:r>
            <a:r>
              <a:rPr lang="en-IN" sz="2000" kern="0" dirty="0" err="1">
                <a:ea typeface="Times New Roman" panose="02020603050405020304" pitchFamily="18" charset="0"/>
                <a:cs typeface="Mangal"/>
              </a:rPr>
              <a:t>IoT</a:t>
            </a:r>
            <a:r>
              <a:rPr lang="en-IN" sz="2000" kern="0" dirty="0" smtClean="0">
                <a:ea typeface="Times New Roman" panose="02020603050405020304" pitchFamily="18" charset="0"/>
                <a:cs typeface="Mangal"/>
              </a:rPr>
              <a:t>)       </a:t>
            </a:r>
            <a:r>
              <a:rPr lang="en-IN" sz="2000" kern="0" dirty="0">
                <a:ea typeface="Times New Roman" panose="02020603050405020304" pitchFamily="18" charset="0"/>
                <a:cs typeface="Mangal"/>
              </a:rPr>
              <a:t>|</a:t>
            </a:r>
            <a:endParaRPr lang="en-IN" sz="2800" kern="100" dirty="0" smtClean="0">
              <a:effectLst/>
              <a:ea typeface="Calibri" panose="020F0502020204030204" pitchFamily="34" charset="0"/>
              <a:cs typeface="Mangal"/>
            </a:endParaRPr>
          </a:p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000" kern="0" dirty="0" smtClean="0">
                <a:ea typeface="Times New Roman" panose="02020603050405020304" pitchFamily="18" charset="0"/>
                <a:cs typeface="Mangal"/>
              </a:rPr>
              <a:t>+--------------------------------------------------------------------------+</a:t>
            </a:r>
            <a:endParaRPr lang="en-IN" sz="2800" kern="100" dirty="0" smtClean="0">
              <a:effectLst/>
              <a:ea typeface="Calibri" panose="020F0502020204030204" pitchFamily="34" charset="0"/>
              <a:cs typeface="Mangal"/>
            </a:endParaRPr>
          </a:p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000" kern="0" dirty="0">
                <a:ea typeface="Times New Roman" panose="02020603050405020304" pitchFamily="18" charset="0"/>
                <a:cs typeface="Mangal"/>
              </a:rPr>
              <a:t>|                   </a:t>
            </a:r>
            <a:r>
              <a:rPr lang="en-IN" sz="2000" b="1" kern="0" dirty="0">
                <a:ea typeface="Times New Roman" panose="02020603050405020304" pitchFamily="18" charset="0"/>
                <a:cs typeface="Mangal"/>
              </a:rPr>
              <a:t>Network Layer                      </a:t>
            </a:r>
            <a:r>
              <a:rPr lang="en-IN" sz="2000" b="1" kern="0" dirty="0" smtClean="0">
                <a:ea typeface="Times New Roman" panose="02020603050405020304" pitchFamily="18" charset="0"/>
                <a:cs typeface="Mangal"/>
              </a:rPr>
              <a:t>                                  </a:t>
            </a:r>
            <a:r>
              <a:rPr lang="en-IN" sz="2000" kern="0" dirty="0">
                <a:ea typeface="Times New Roman" panose="02020603050405020304" pitchFamily="18" charset="0"/>
                <a:cs typeface="Mangal"/>
              </a:rPr>
              <a:t>|</a:t>
            </a:r>
            <a:endParaRPr lang="en-IN" sz="2800" kern="100" dirty="0" smtClean="0">
              <a:effectLst/>
              <a:ea typeface="Calibri" panose="020F0502020204030204" pitchFamily="34" charset="0"/>
              <a:cs typeface="Mangal"/>
            </a:endParaRPr>
          </a:p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000" kern="0" dirty="0">
                <a:ea typeface="Times New Roman" panose="02020603050405020304" pitchFamily="18" charset="0"/>
                <a:cs typeface="Mangal"/>
              </a:rPr>
              <a:t>|  - Data transmission and communication protocols </a:t>
            </a:r>
            <a:r>
              <a:rPr lang="en-IN" sz="2000" kern="0" dirty="0" smtClean="0">
                <a:ea typeface="Times New Roman" panose="02020603050405020304" pitchFamily="18" charset="0"/>
                <a:cs typeface="Mangal"/>
              </a:rPr>
              <a:t>        </a:t>
            </a:r>
            <a:r>
              <a:rPr lang="en-IN" sz="2000" kern="0" dirty="0">
                <a:ea typeface="Times New Roman" panose="02020603050405020304" pitchFamily="18" charset="0"/>
                <a:cs typeface="Mangal"/>
              </a:rPr>
              <a:t>|</a:t>
            </a:r>
            <a:endParaRPr lang="en-IN" sz="2800" kern="100" dirty="0" smtClean="0">
              <a:effectLst/>
              <a:ea typeface="Calibri" panose="020F0502020204030204" pitchFamily="34" charset="0"/>
              <a:cs typeface="Mangal"/>
            </a:endParaRPr>
          </a:p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000" kern="0" dirty="0">
                <a:ea typeface="Times New Roman" panose="02020603050405020304" pitchFamily="18" charset="0"/>
                <a:cs typeface="Mangal"/>
              </a:rPr>
              <a:t>|  - Examples: Wi-Fi, 5G, ZigBee, </a:t>
            </a:r>
            <a:r>
              <a:rPr lang="en-IN" sz="2000" kern="0" dirty="0" err="1">
                <a:ea typeface="Times New Roman" panose="02020603050405020304" pitchFamily="18" charset="0"/>
                <a:cs typeface="Mangal"/>
              </a:rPr>
              <a:t>LoRaWAN</a:t>
            </a:r>
            <a:r>
              <a:rPr lang="en-IN" sz="2000" kern="0" dirty="0">
                <a:ea typeface="Times New Roman" panose="02020603050405020304" pitchFamily="18" charset="0"/>
                <a:cs typeface="Mangal"/>
              </a:rPr>
              <a:t>             </a:t>
            </a:r>
            <a:r>
              <a:rPr lang="en-IN" sz="2000" kern="0" dirty="0" smtClean="0">
                <a:ea typeface="Times New Roman" panose="02020603050405020304" pitchFamily="18" charset="0"/>
                <a:cs typeface="Mangal"/>
              </a:rPr>
              <a:t>             </a:t>
            </a:r>
            <a:r>
              <a:rPr lang="en-IN" sz="2000" kern="0" dirty="0">
                <a:ea typeface="Times New Roman" panose="02020603050405020304" pitchFamily="18" charset="0"/>
                <a:cs typeface="Mangal"/>
              </a:rPr>
              <a:t>|</a:t>
            </a:r>
            <a:endParaRPr lang="en-IN" sz="2800" kern="100" dirty="0" smtClean="0">
              <a:effectLst/>
              <a:ea typeface="Calibri" panose="020F0502020204030204" pitchFamily="34" charset="0"/>
              <a:cs typeface="Mangal"/>
            </a:endParaRPr>
          </a:p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000" kern="0" dirty="0" smtClean="0">
                <a:ea typeface="Times New Roman" panose="02020603050405020304" pitchFamily="18" charset="0"/>
                <a:cs typeface="Mangal"/>
              </a:rPr>
              <a:t>+--------------------------------------------------------------------------+</a:t>
            </a:r>
            <a:endParaRPr lang="en-IN" sz="2800" kern="100" dirty="0" smtClean="0">
              <a:effectLst/>
              <a:ea typeface="Calibri" panose="020F0502020204030204" pitchFamily="34" charset="0"/>
              <a:cs typeface="Mangal"/>
            </a:endParaRPr>
          </a:p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000" b="1" kern="0" dirty="0">
                <a:ea typeface="Times New Roman" panose="02020603050405020304" pitchFamily="18" charset="0"/>
                <a:cs typeface="Mangal"/>
              </a:rPr>
              <a:t>|                  Perception Layer           </a:t>
            </a:r>
            <a:r>
              <a:rPr lang="en-IN" sz="2000" b="1" kern="0" dirty="0" smtClean="0">
                <a:ea typeface="Times New Roman" panose="02020603050405020304" pitchFamily="18" charset="0"/>
                <a:cs typeface="Mangal"/>
              </a:rPr>
              <a:t>                                        </a:t>
            </a:r>
            <a:r>
              <a:rPr lang="en-IN" sz="2000" kern="0" dirty="0">
                <a:ea typeface="Times New Roman" panose="02020603050405020304" pitchFamily="18" charset="0"/>
                <a:cs typeface="Mangal"/>
              </a:rPr>
              <a:t>|</a:t>
            </a:r>
            <a:endParaRPr lang="en-IN" sz="2800" kern="100" dirty="0" smtClean="0">
              <a:effectLst/>
              <a:ea typeface="Calibri" panose="020F0502020204030204" pitchFamily="34" charset="0"/>
              <a:cs typeface="Mangal"/>
            </a:endParaRPr>
          </a:p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000" kern="0" dirty="0">
                <a:ea typeface="Times New Roman" panose="02020603050405020304" pitchFamily="18" charset="0"/>
                <a:cs typeface="Mangal"/>
              </a:rPr>
              <a:t>|  - Sensors, RFID, actuators, cameras, GPS        </a:t>
            </a:r>
            <a:r>
              <a:rPr lang="en-IN" sz="2000" kern="0" dirty="0" smtClean="0">
                <a:ea typeface="Times New Roman" panose="02020603050405020304" pitchFamily="18" charset="0"/>
                <a:cs typeface="Mangal"/>
              </a:rPr>
              <a:t>                 </a:t>
            </a:r>
            <a:r>
              <a:rPr lang="en-IN" sz="2000" kern="0" dirty="0">
                <a:ea typeface="Times New Roman" panose="02020603050405020304" pitchFamily="18" charset="0"/>
                <a:cs typeface="Mangal"/>
              </a:rPr>
              <a:t>|</a:t>
            </a:r>
            <a:endParaRPr lang="en-IN" sz="2800" kern="100" dirty="0" smtClean="0">
              <a:effectLst/>
              <a:ea typeface="Calibri" panose="020F0502020204030204" pitchFamily="34" charset="0"/>
              <a:cs typeface="Mangal"/>
            </a:endParaRPr>
          </a:p>
          <a:p>
            <a:pPr>
              <a:lnSpc>
                <a:spcPct val="107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000" kern="0" dirty="0">
                <a:ea typeface="Times New Roman" panose="02020603050405020304" pitchFamily="18" charset="0"/>
                <a:cs typeface="Mangal"/>
              </a:rPr>
              <a:t>|  - Examples: Heart-rate sensors, smart meters    </a:t>
            </a:r>
            <a:r>
              <a:rPr lang="en-IN" sz="2000" kern="0" dirty="0" smtClean="0">
                <a:ea typeface="Times New Roman" panose="02020603050405020304" pitchFamily="18" charset="0"/>
                <a:cs typeface="Mangal"/>
              </a:rPr>
              <a:t>            </a:t>
            </a:r>
            <a:r>
              <a:rPr lang="en-IN" sz="2000" kern="0" dirty="0">
                <a:ea typeface="Times New Roman" panose="02020603050405020304" pitchFamily="18" charset="0"/>
                <a:cs typeface="Mangal"/>
              </a:rPr>
              <a:t>|</a:t>
            </a:r>
            <a:endParaRPr lang="en-IN" sz="2800" kern="100" dirty="0" smtClean="0">
              <a:effectLst/>
              <a:ea typeface="Calibri" panose="020F0502020204030204" pitchFamily="34" charset="0"/>
              <a:cs typeface="Mangal"/>
            </a:endParaRPr>
          </a:p>
          <a:p>
            <a:r>
              <a:rPr lang="en-IN" sz="2000" kern="0" dirty="0" smtClean="0">
                <a:ea typeface="Times New Roman" panose="02020603050405020304" pitchFamily="18" charset="0"/>
              </a:rPr>
              <a:t>+--------------------------------------------------------------------------+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24413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0833" t="29877" r="23055" b="2678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803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76325" y="752475"/>
            <a:ext cx="9337675" cy="5025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4000" b="1" dirty="0"/>
              <a:t>Perception Layer (Sensing Layer</a:t>
            </a:r>
            <a:r>
              <a:rPr lang="en-IN" sz="4000" b="1" dirty="0" smtClean="0"/>
              <a:t>)</a:t>
            </a:r>
            <a:endParaRPr lang="en-IN" sz="2800" b="1" kern="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Mangal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2800" b="1" kern="0" dirty="0">
              <a:latin typeface="Times New Roman" panose="02020603050405020304" pitchFamily="18" charset="0"/>
              <a:ea typeface="Times New Roman" panose="02020603050405020304" pitchFamily="18" charset="0"/>
              <a:cs typeface="Mangal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kern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Real-World Examples:</a:t>
            </a:r>
            <a:endParaRPr lang="en-IN" sz="2400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800" b="1" kern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Healthcare:</a:t>
            </a:r>
            <a:r>
              <a:rPr lang="en-IN" sz="2800" kern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Wearable ECG monitors measuring heart rate.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IN" sz="2400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800" b="1" kern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Smart Homes:</a:t>
            </a:r>
            <a:r>
              <a:rPr lang="en-IN" sz="2800" kern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Motion detectors for security.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IN" sz="2400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800" b="1" kern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Agriculture:</a:t>
            </a:r>
            <a:r>
              <a:rPr lang="en-IN" sz="2800" kern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Soil moisture sensors to optimize irrigation.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1858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0476" t="28739" r="24158" b="2819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761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Network Layer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/>
              <a:t>Real-World Examples:</a:t>
            </a:r>
            <a:endParaRPr lang="en-IN" sz="2400" dirty="0"/>
          </a:p>
          <a:p>
            <a:pPr lvl="1"/>
            <a:r>
              <a:rPr lang="en-IN" b="1" dirty="0"/>
              <a:t>Healthcare:</a:t>
            </a:r>
            <a:r>
              <a:rPr lang="en-IN" dirty="0"/>
              <a:t> Wearable devices transmitting ECG data via Bluetooth to smartphones</a:t>
            </a:r>
            <a:r>
              <a:rPr lang="en-IN" dirty="0" smtClean="0"/>
              <a:t>.</a:t>
            </a:r>
          </a:p>
          <a:p>
            <a:pPr lvl="1"/>
            <a:endParaRPr lang="en-IN" sz="2000" dirty="0"/>
          </a:p>
          <a:p>
            <a:pPr lvl="1"/>
            <a:r>
              <a:rPr lang="en-IN" b="1" dirty="0"/>
              <a:t>Smart Cities:</a:t>
            </a:r>
            <a:r>
              <a:rPr lang="en-IN" dirty="0"/>
              <a:t> Traffic sensors using 5G to send real-time traffic flow updates</a:t>
            </a:r>
            <a:r>
              <a:rPr lang="en-IN" dirty="0" smtClean="0"/>
              <a:t>.</a:t>
            </a:r>
          </a:p>
          <a:p>
            <a:pPr lvl="1"/>
            <a:endParaRPr lang="en-IN" sz="2000" dirty="0"/>
          </a:p>
          <a:p>
            <a:pPr lvl="1"/>
            <a:r>
              <a:rPr lang="en-IN" b="1" dirty="0"/>
              <a:t>Industry 4.0:</a:t>
            </a:r>
            <a:r>
              <a:rPr lang="en-IN" dirty="0"/>
              <a:t> Wireless sensor networks monitoring machine health.</a:t>
            </a:r>
            <a:endParaRPr lang="en-IN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7601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9652" t="30493" r="23889" b="29260"/>
          <a:stretch/>
        </p:blipFill>
        <p:spPr>
          <a:xfrm>
            <a:off x="50800" y="0"/>
            <a:ext cx="121411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383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Processing / Middleware Layer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/>
              <a:t>Real-World Examples:</a:t>
            </a:r>
            <a:endParaRPr lang="en-IN" sz="2400" dirty="0"/>
          </a:p>
          <a:p>
            <a:pPr lvl="1"/>
            <a:r>
              <a:rPr lang="en-IN" b="1" dirty="0"/>
              <a:t>Healthcare:</a:t>
            </a:r>
            <a:r>
              <a:rPr lang="en-IN" dirty="0"/>
              <a:t> Cloud-based patient health record analysis</a:t>
            </a:r>
            <a:r>
              <a:rPr lang="en-IN" dirty="0" smtClean="0"/>
              <a:t>.</a:t>
            </a:r>
          </a:p>
          <a:p>
            <a:pPr lvl="1"/>
            <a:endParaRPr lang="en-IN" sz="2000" dirty="0"/>
          </a:p>
          <a:p>
            <a:pPr lvl="1"/>
            <a:r>
              <a:rPr lang="en-IN" b="1" dirty="0"/>
              <a:t>Smart Homes:</a:t>
            </a:r>
            <a:r>
              <a:rPr lang="en-IN" dirty="0"/>
              <a:t> Edge processors in smart speakers (e.g., Amazon Alexa) </a:t>
            </a:r>
            <a:r>
              <a:rPr lang="en-IN" dirty="0" smtClean="0"/>
              <a:t>analysing </a:t>
            </a:r>
            <a:r>
              <a:rPr lang="en-IN" dirty="0"/>
              <a:t>voice commands</a:t>
            </a:r>
            <a:r>
              <a:rPr lang="en-IN" dirty="0" smtClean="0"/>
              <a:t>.</a:t>
            </a:r>
          </a:p>
          <a:p>
            <a:pPr lvl="1"/>
            <a:endParaRPr lang="en-IN" sz="2000" dirty="0"/>
          </a:p>
          <a:p>
            <a:pPr lvl="1"/>
            <a:r>
              <a:rPr lang="en-IN" b="1" dirty="0"/>
              <a:t>Agriculture:</a:t>
            </a:r>
            <a:r>
              <a:rPr lang="en-IN" dirty="0"/>
              <a:t> Edge computing nodes predicting crop diseases based on sensor inputs.</a:t>
            </a:r>
            <a:endParaRPr lang="en-IN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4975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0763" t="27654" r="23334" b="23334"/>
          <a:stretch/>
        </p:blipFill>
        <p:spPr>
          <a:xfrm>
            <a:off x="28248" y="0"/>
            <a:ext cx="121637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484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9286" t="27777" r="23958" b="2790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663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9554885"/>
              </p:ext>
            </p:extLst>
          </p:nvPr>
        </p:nvGraphicFramePr>
        <p:xfrm>
          <a:off x="228600" y="721756"/>
          <a:ext cx="11772900" cy="599336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62150">
                  <a:extLst>
                    <a:ext uri="{9D8B030D-6E8A-4147-A177-3AD203B41FA5}">
                      <a16:colId xmlns:a16="http://schemas.microsoft.com/office/drawing/2014/main" val="924109936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2988343169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182565071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1134873877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2176513516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2739177558"/>
                    </a:ext>
                  </a:extLst>
                </a:gridCol>
              </a:tblGrid>
              <a:tr h="86242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0" dirty="0">
                          <a:effectLst/>
                        </a:rPr>
                        <a:t>Domain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0">
                          <a:effectLst/>
                        </a:rPr>
                        <a:t>Perception Layer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0">
                          <a:effectLst/>
                        </a:rPr>
                        <a:t>Network Layer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0">
                          <a:effectLst/>
                        </a:rPr>
                        <a:t>Processing Layer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0">
                          <a:effectLst/>
                        </a:rPr>
                        <a:t>Application Layer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0">
                          <a:effectLst/>
                        </a:rPr>
                        <a:t>Business Layer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97928571"/>
                  </a:ext>
                </a:extLst>
              </a:tr>
              <a:tr h="168126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0" dirty="0">
                          <a:effectLst/>
                        </a:rPr>
                        <a:t>Healthcare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0" dirty="0">
                          <a:effectLst/>
                        </a:rPr>
                        <a:t>ECG sensors, wearables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0">
                          <a:effectLst/>
                        </a:rPr>
                        <a:t>Bluetooth, 5G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0">
                          <a:effectLst/>
                        </a:rPr>
                        <a:t>Cloud/AI patient monitoring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0">
                          <a:effectLst/>
                        </a:rPr>
                        <a:t>Telemedicine apps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0">
                          <a:effectLst/>
                        </a:rPr>
                        <a:t>Insurance, cost reduction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8167430"/>
                  </a:ext>
                </a:extLst>
              </a:tr>
              <a:tr h="8624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0">
                          <a:effectLst/>
                        </a:rPr>
                        <a:t>Smart Homes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0">
                          <a:effectLst/>
                        </a:rPr>
                        <a:t>Cameras, motion sensors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0">
                          <a:effectLst/>
                        </a:rPr>
                        <a:t>Wi-Fi, ZigBee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0">
                          <a:effectLst/>
                        </a:rPr>
                        <a:t>Edge processors (Alexa)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0">
                          <a:effectLst/>
                        </a:rPr>
                        <a:t>Smart home apps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0">
                          <a:effectLst/>
                        </a:rPr>
                        <a:t>Subscription models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34770263"/>
                  </a:ext>
                </a:extLst>
              </a:tr>
              <a:tr h="8624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0">
                          <a:effectLst/>
                        </a:rPr>
                        <a:t>Agriculture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0">
                          <a:effectLst/>
                        </a:rPr>
                        <a:t>Soil/moisture sensors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0">
                          <a:effectLst/>
                        </a:rPr>
                        <a:t>LoRaWAN, NB-IoT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0">
                          <a:effectLst/>
                        </a:rPr>
                        <a:t>Predictive analytics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0">
                          <a:effectLst/>
                        </a:rPr>
                        <a:t>Smart farming platforms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0">
                          <a:effectLst/>
                        </a:rPr>
                        <a:t>Increased crop yield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60359978"/>
                  </a:ext>
                </a:extLst>
              </a:tr>
              <a:tr h="8624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0">
                          <a:effectLst/>
                        </a:rPr>
                        <a:t>Smart Cities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0">
                          <a:effectLst/>
                        </a:rPr>
                        <a:t>Traffic/air sensors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0">
                          <a:effectLst/>
                        </a:rPr>
                        <a:t>5G, LPWAN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0">
                          <a:effectLst/>
                        </a:rPr>
                        <a:t>Big data analytics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0">
                          <a:effectLst/>
                        </a:rPr>
                        <a:t>Smart city dashboards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0">
                          <a:effectLst/>
                        </a:rPr>
                        <a:t>Revenue from smart infra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82991612"/>
                  </a:ext>
                </a:extLst>
              </a:tr>
              <a:tr h="8624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0">
                          <a:effectLst/>
                        </a:rPr>
                        <a:t>Industry 4.0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0">
                          <a:effectLst/>
                        </a:rPr>
                        <a:t>Vibration/temp sensors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0">
                          <a:effectLst/>
                        </a:rPr>
                        <a:t>Industrial IoT (IIoT)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0">
                          <a:effectLst/>
                        </a:rPr>
                        <a:t>Predictive maintenance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0">
                          <a:effectLst/>
                        </a:rPr>
                        <a:t>Monitoring dashboards</a:t>
                      </a:r>
                      <a:endParaRPr lang="en-IN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2000" kern="0" dirty="0">
                          <a:effectLst/>
                        </a:rPr>
                        <a:t>Reduced downtime</a:t>
                      </a:r>
                      <a:endParaRPr lang="en-IN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59330407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57200" y="198537"/>
            <a:ext cx="126337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mr-IN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Mangal"/>
              </a:rPr>
              <a:t>Summary of Real-World Applications Across Layers</a:t>
            </a:r>
            <a:endParaRPr kumimoji="0" lang="mr-IN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440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0278" t="32963" r="23402" b="30001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563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0069" t="24690" r="23681" b="20742"/>
          <a:stretch/>
        </p:blipFill>
        <p:spPr>
          <a:xfrm>
            <a:off x="0" y="0"/>
            <a:ext cx="12192000" cy="687017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1" y="105964"/>
            <a:ext cx="2616200" cy="656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83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600" y="457200"/>
            <a:ext cx="11506200" cy="6070600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sz="4800" b="1" u="sng" dirty="0">
                <a:solidFill>
                  <a:schemeClr val="accent1">
                    <a:lumMod val="75000"/>
                  </a:schemeClr>
                </a:solidFill>
              </a:rPr>
              <a:t>Types of Architecture </a:t>
            </a:r>
            <a:endParaRPr lang="en-IN" sz="4800" u="sng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algn="just">
              <a:buNone/>
            </a:pPr>
            <a:endParaRPr lang="en-IN" dirty="0"/>
          </a:p>
          <a:p>
            <a:pPr algn="just"/>
            <a:r>
              <a:rPr lang="en-IN" dirty="0" err="1"/>
              <a:t>IoT</a:t>
            </a:r>
            <a:r>
              <a:rPr lang="en-IN" dirty="0"/>
              <a:t> (Internet of Things) </a:t>
            </a:r>
            <a:r>
              <a:rPr lang="en-IN" b="1" dirty="0"/>
              <a:t>architecture</a:t>
            </a:r>
            <a:r>
              <a:rPr lang="en-IN" dirty="0"/>
              <a:t> describes how </a:t>
            </a:r>
            <a:r>
              <a:rPr lang="en-IN" dirty="0" err="1"/>
              <a:t>IoT</a:t>
            </a:r>
            <a:r>
              <a:rPr lang="en-IN" dirty="0"/>
              <a:t> devices, networks, data, and applications are organized and interact with each other. Different models exist, but most follow layered structures. Here are the </a:t>
            </a:r>
            <a:r>
              <a:rPr lang="en-IN" b="1" dirty="0"/>
              <a:t>main types of </a:t>
            </a:r>
            <a:r>
              <a:rPr lang="en-IN" b="1" dirty="0" err="1"/>
              <a:t>IoT</a:t>
            </a:r>
            <a:r>
              <a:rPr lang="en-IN" b="1" dirty="0"/>
              <a:t> architectures</a:t>
            </a:r>
            <a:r>
              <a:rPr lang="en-IN" dirty="0"/>
              <a:t>:</a:t>
            </a:r>
          </a:p>
          <a:p>
            <a:pPr marL="0" indent="0" algn="just">
              <a:buNone/>
            </a:pPr>
            <a:endParaRPr lang="en-IN" dirty="0" smtClean="0"/>
          </a:p>
          <a:p>
            <a:pPr lvl="0" algn="just"/>
            <a:r>
              <a:rPr lang="en-IN" dirty="0" smtClean="0"/>
              <a:t>Cloud-Based </a:t>
            </a:r>
            <a:r>
              <a:rPr lang="en-IN" dirty="0"/>
              <a:t>Architecture </a:t>
            </a:r>
          </a:p>
          <a:p>
            <a:pPr lvl="0" algn="just"/>
            <a:r>
              <a:rPr lang="en-IN" dirty="0"/>
              <a:t>Fog Computing Architecture </a:t>
            </a:r>
          </a:p>
          <a:p>
            <a:pPr lvl="0" algn="just"/>
            <a:r>
              <a:rPr lang="en-IN" dirty="0"/>
              <a:t>Service-Oriented Architecture (SOA) </a:t>
            </a:r>
          </a:p>
          <a:p>
            <a:pPr lvl="0" algn="just"/>
            <a:r>
              <a:rPr lang="en-IN" dirty="0"/>
              <a:t>Block chain-Based Architecture) </a:t>
            </a:r>
            <a:endParaRPr lang="en-IN" dirty="0" smtClean="0"/>
          </a:p>
          <a:p>
            <a:pPr lvl="0" algn="just"/>
            <a:endParaRPr lang="en-US" dirty="0"/>
          </a:p>
          <a:p>
            <a:pPr lvl="0" algn="just"/>
            <a:r>
              <a:rPr lang="en-US" b="1" dirty="0" smtClean="0"/>
              <a:t>Other types </a:t>
            </a:r>
            <a:r>
              <a:rPr lang="en-US" dirty="0" smtClean="0"/>
              <a:t>: 3-layer and 5-layer</a:t>
            </a:r>
            <a:endParaRPr lang="en-IN" dirty="0" smtClean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6630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80975" y="195441"/>
            <a:ext cx="7705725" cy="6488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mr-IN" altLang="en-US" sz="3200" b="1" i="0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Mangal" charset="0"/>
              </a:rPr>
              <a:t>Three-Layer Architecture (Traditional Model)</a:t>
            </a:r>
            <a:endParaRPr kumimoji="0" lang="en-US" altLang="en-US" sz="11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mr-IN" altLang="en-US" sz="2000" b="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Mangal" charset="0"/>
              </a:rPr>
              <a:t>This is the most basic IoT architecture, widely used for teaching and simple deployments.</a:t>
            </a:r>
            <a:endParaRPr kumimoji="0" lang="en-US" altLang="en-US" sz="11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mr-IN" altLang="en-US" sz="20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Mangal" charset="0"/>
              </a:rPr>
              <a:t>Layers:</a:t>
            </a:r>
            <a:endParaRPr kumimoji="0" lang="en-US" altLang="en-US" sz="11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mr-IN" altLang="en-US" sz="20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Mangal" charset="0"/>
              </a:rPr>
              <a:t>Perception Layer (Sensing Layer)</a:t>
            </a:r>
            <a:endParaRPr kumimoji="0" lang="en-US" altLang="en-US" sz="11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mr-IN" altLang="en-US" sz="2000" b="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Mangal" charset="0"/>
              </a:rPr>
              <a:t>Includes sensors, actuators, RFID, cameras, GPS, etc.</a:t>
            </a:r>
            <a:endParaRPr kumimoji="0" lang="mr-IN" altLang="en-US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angal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mr-IN" altLang="en-US" sz="2000" b="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Mangal" charset="0"/>
              </a:rPr>
              <a:t>Responsible for collecting physical data (e.g., temperature, pressure, heart rate).</a:t>
            </a:r>
            <a:endParaRPr kumimoji="0" lang="mr-IN" altLang="en-US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angal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mr-IN" altLang="en-US" sz="2000" b="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Mangal" charset="0"/>
              </a:rPr>
              <a:t>Example: A smart home thermostat sensing room temperature.</a:t>
            </a:r>
            <a:endParaRPr kumimoji="0" lang="en-US" altLang="en-US" sz="11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mr-IN" altLang="en-US" sz="20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Mangal" charset="0"/>
              </a:rPr>
              <a:t>Network Layer</a:t>
            </a:r>
            <a:endParaRPr kumimoji="0" lang="en-US" altLang="en-US" sz="11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mr-IN" altLang="en-US" sz="2000" b="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Mangal" charset="0"/>
              </a:rPr>
              <a:t>Transmits data from devices to other devices or servers via communication protocols.</a:t>
            </a:r>
            <a:endParaRPr kumimoji="0" lang="mr-IN" altLang="en-US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angal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mr-IN" altLang="en-US" sz="2000" b="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Mangal" charset="0"/>
              </a:rPr>
              <a:t>Technologies: Wi-Fi, Bluetooth, Zigbee, LoRaWAN, 5G, MQTT, etc.</a:t>
            </a:r>
            <a:endParaRPr kumimoji="0" lang="mr-IN" altLang="en-US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angal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mr-IN" altLang="en-US" sz="2000" b="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Mangal" charset="0"/>
              </a:rPr>
              <a:t>Example: Data from a wearable health band sent to a cloud server via Bluetooth and the Internet.</a:t>
            </a:r>
            <a:endParaRPr kumimoji="0" lang="en-US" altLang="en-US" sz="11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mr-IN" altLang="en-US" sz="2000" b="1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Mangal" charset="0"/>
              </a:rPr>
              <a:t>Application Layer</a:t>
            </a:r>
            <a:endParaRPr kumimoji="0" lang="en-US" altLang="en-US" sz="11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mr-IN" altLang="en-US" sz="2000" b="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Mangal" charset="0"/>
              </a:rPr>
              <a:t>Provides services to end-users (visualization, analytics, decision-making).</a:t>
            </a:r>
            <a:endParaRPr kumimoji="0" lang="mr-IN" altLang="en-US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angal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mr-IN" altLang="en-US" sz="2000" b="0" i="0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Mangal" charset="0"/>
              </a:rPr>
              <a:t>Example: Healthcare dashboard showing patient vitals, or a smart home app controlling lights.</a:t>
            </a:r>
            <a:endParaRPr kumimoji="0" lang="en-US" altLang="en-US" sz="32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700" y="508000"/>
            <a:ext cx="4165600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027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6550" y="145828"/>
            <a:ext cx="6864350" cy="63507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3200" b="1" kern="0" dirty="0">
                <a:solidFill>
                  <a:srgbClr val="7030A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Five-Layer Architecture (Enhanced Model)</a:t>
            </a:r>
            <a:endParaRPr lang="en-IN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kern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This adds more granularity for large-scale </a:t>
            </a:r>
            <a:r>
              <a:rPr lang="en-IN" sz="2000" kern="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IoT</a:t>
            </a:r>
            <a:r>
              <a:rPr lang="en-IN" sz="2000" kern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 systems.</a:t>
            </a:r>
            <a:endParaRPr lang="en-IN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kern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Layers:</a:t>
            </a:r>
            <a:endParaRPr lang="en-IN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000" b="1" kern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Perception Layer</a:t>
            </a:r>
            <a:r>
              <a:rPr lang="en-IN" sz="2000" kern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 – Data collection using sensors/actuators.</a:t>
            </a:r>
            <a:endParaRPr lang="en-IN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000" b="1" kern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Network Layer</a:t>
            </a:r>
            <a:r>
              <a:rPr lang="en-IN" sz="2000" kern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 – Communication (Wi-Fi, 5G, </a:t>
            </a:r>
            <a:r>
              <a:rPr lang="en-IN" sz="2000" kern="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Zigbee</a:t>
            </a:r>
            <a:r>
              <a:rPr lang="en-IN" sz="2000" kern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, etc.).</a:t>
            </a:r>
            <a:endParaRPr lang="en-IN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000" b="1" kern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Edge/Processing Layer (Middleware Layer)</a:t>
            </a:r>
            <a:r>
              <a:rPr lang="en-IN" sz="2000" kern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 – Pre-processing, filtering, and real-time analytics near the source.</a:t>
            </a:r>
            <a:endParaRPr lang="en-IN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000" kern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 Edge gateways in smart factories filtering machine data before sending to the cloud.</a:t>
            </a:r>
            <a:endParaRPr lang="en-IN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000" b="1" kern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Application Layer</a:t>
            </a:r>
            <a:r>
              <a:rPr lang="en-IN" sz="2000" kern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 – User-oriented services.</a:t>
            </a:r>
            <a:endParaRPr lang="en-IN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000" b="1" kern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Business Layer</a:t>
            </a:r>
            <a:r>
              <a:rPr lang="en-IN" sz="2000" kern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 – Defines rules, policies, revenue models, and manages entire </a:t>
            </a:r>
            <a:r>
              <a:rPr lang="en-IN" sz="2000" kern="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IoT</a:t>
            </a:r>
            <a:r>
              <a:rPr lang="en-IN" sz="2000" kern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 system.</a:t>
            </a:r>
            <a:endParaRPr lang="en-IN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2000" kern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 A hospital’s </a:t>
            </a:r>
            <a:r>
              <a:rPr lang="en-IN" sz="2000" kern="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IN" sz="2000" kern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system decides billing, compliance, and reporting policies.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6475" y="482600"/>
            <a:ext cx="4133850" cy="5803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462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7001" y="88900"/>
            <a:ext cx="6756400" cy="6466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4000" b="1" kern="0" dirty="0" smtClean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Cloud-Centric </a:t>
            </a:r>
            <a:r>
              <a:rPr lang="en-IN" sz="4000" b="1" kern="0" dirty="0" err="1" smtClean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IoT</a:t>
            </a:r>
            <a:r>
              <a:rPr lang="en-IN" sz="4000" b="1" kern="0" dirty="0" smtClean="0">
                <a:solidFill>
                  <a:srgbClr val="00B0F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 Architecture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2400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kern="0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Relies heavily on </a:t>
            </a:r>
            <a:r>
              <a:rPr lang="en-IN" sz="2800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cloud platforms</a:t>
            </a:r>
            <a:r>
              <a:rPr lang="en-IN" sz="2800" kern="0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 (AWS </a:t>
            </a:r>
            <a:r>
              <a:rPr lang="en-IN" sz="2800" kern="0" dirty="0" err="1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IoT</a:t>
            </a:r>
            <a:r>
              <a:rPr lang="en-IN" sz="2800" kern="0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, Microsoft Azure </a:t>
            </a:r>
            <a:r>
              <a:rPr lang="en-IN" sz="2800" kern="0" dirty="0" err="1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IoT</a:t>
            </a:r>
            <a:r>
              <a:rPr lang="en-IN" sz="2800" kern="0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, Google Cloud </a:t>
            </a:r>
            <a:r>
              <a:rPr lang="en-IN" sz="2800" kern="0" dirty="0" err="1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IoT</a:t>
            </a:r>
            <a:r>
              <a:rPr lang="en-IN" sz="2800" kern="0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).</a:t>
            </a:r>
            <a:endParaRPr lang="en-IN" sz="2400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kern="0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Devices → Gateway → Cloud → Application.</a:t>
            </a:r>
            <a:endParaRPr lang="en-IN" sz="2400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kern="0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Advantages: Scalability, centralized control, AI/ML integration.</a:t>
            </a:r>
            <a:endParaRPr lang="en-IN" sz="2400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kern="0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Example: Smart city traffic management system using Google Cloud for analytics.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701" y="368300"/>
            <a:ext cx="4444999" cy="595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558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1925" y="0"/>
            <a:ext cx="6784975" cy="6898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4000" b="1" kern="0" dirty="0" smtClean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Edge/Fog Computing-Based Architecture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2400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kern="0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Introduced to solve latency, bandwidth, and privacy issues of cloud-only models</a:t>
            </a:r>
            <a:r>
              <a:rPr lang="en-IN" sz="2800" kern="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2400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Fog Layer (between devices and cloud):</a:t>
            </a:r>
            <a:r>
              <a:rPr lang="en-IN" sz="2800" kern="0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 Performs computation, filtering, and storage near the edge</a:t>
            </a:r>
            <a:r>
              <a:rPr lang="en-IN" sz="2800" kern="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2400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kern="0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Example: Autonomous vehicles use </a:t>
            </a:r>
            <a:r>
              <a:rPr lang="en-IN" sz="2800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edge nodes</a:t>
            </a:r>
            <a:r>
              <a:rPr lang="en-IN" sz="2800" kern="0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 to process sensor data in real time without relying solely on the cloud.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5025" y="516757"/>
            <a:ext cx="4019550" cy="5617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654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7000" y="379412"/>
            <a:ext cx="6807200" cy="64378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4000" b="1" kern="0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Service-Oriented </a:t>
            </a:r>
            <a:r>
              <a:rPr lang="en-IN" sz="4000" b="1" kern="0" dirty="0" err="1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IoT</a:t>
            </a:r>
            <a:r>
              <a:rPr lang="en-IN" sz="4000" b="1" kern="0" dirty="0" smtClean="0">
                <a:solidFill>
                  <a:srgbClr val="00206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 Architecture (SOA-Based)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2400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kern="0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Focuses on </a:t>
            </a:r>
            <a:r>
              <a:rPr lang="en-IN" sz="2800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services</a:t>
            </a:r>
            <a:r>
              <a:rPr lang="en-IN" sz="2800" kern="0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 rather than layers</a:t>
            </a:r>
            <a:r>
              <a:rPr lang="en-IN" sz="2800" kern="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2400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kern="0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Devices, communication, and apps are treated as </a:t>
            </a:r>
            <a:r>
              <a:rPr lang="en-IN" sz="2800" b="1" kern="0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service components</a:t>
            </a:r>
            <a:r>
              <a:rPr lang="en-IN" sz="2800" kern="0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 that can be reused and orchestrated</a:t>
            </a:r>
            <a:r>
              <a:rPr lang="en-IN" sz="2800" kern="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2400" kern="1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kern="0" dirty="0">
                <a:latin typeface="Times New Roman" panose="02020603050405020304" pitchFamily="18" charset="0"/>
                <a:ea typeface="Times New Roman" panose="02020603050405020304" pitchFamily="18" charset="0"/>
                <a:cs typeface="Mangal"/>
              </a:rPr>
              <a:t>Example: A smart healthcare system where monitoring, alerting, and data sharing are modular services.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0" y="379412"/>
            <a:ext cx="4917365" cy="613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755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0694" t="28025" r="23056" b="25309"/>
          <a:stretch/>
        </p:blipFill>
        <p:spPr>
          <a:xfrm>
            <a:off x="29026" y="0"/>
            <a:ext cx="121629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108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0"/>
            <a:ext cx="114681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n-US" sz="4400" b="1" i="0" dirty="0" smtClean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block-chain-based architecture</a:t>
            </a:r>
          </a:p>
          <a:p>
            <a:pPr fontAlgn="ctr"/>
            <a:endParaRPr lang="en-US" sz="3200" b="1" dirty="0">
              <a:solidFill>
                <a:srgbClr val="001D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US" sz="3200" i="0" dirty="0" smtClean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3200" b="1" i="0" dirty="0" smtClean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0" i="0" dirty="0" smtClean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 a system of decentralized computer nodes, each holding a copy of a shared, cryptographically linked ledger of transactions. </a:t>
            </a:r>
          </a:p>
          <a:p>
            <a:pPr marL="457200" indent="-457200" fontAlgn="ctr">
              <a:buFont typeface="Arial" panose="020B0604020202020204" pitchFamily="34" charset="0"/>
              <a:buChar char="•"/>
            </a:pPr>
            <a:endParaRPr lang="en-US" sz="3200" b="0" i="0" dirty="0" smtClean="0">
              <a:solidFill>
                <a:srgbClr val="001D3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US" sz="3200" b="0" i="0" dirty="0" smtClean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 include a network of nodes, cryptographic hashing to link data into immutable blocks, and consensus mechanisms for network-wide agreement on transactions. </a:t>
            </a:r>
          </a:p>
          <a:p>
            <a:pPr marL="457200" indent="-457200" fontAlgn="ctr">
              <a:buFont typeface="Arial" panose="020B0604020202020204" pitchFamily="34" charset="0"/>
              <a:buChar char="•"/>
            </a:pPr>
            <a:endParaRPr lang="en-US" sz="3200" b="0" i="0" dirty="0" smtClean="0">
              <a:solidFill>
                <a:srgbClr val="001D3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fontAlgn="ctr">
              <a:buFont typeface="Arial" panose="020B0604020202020204" pitchFamily="34" charset="0"/>
              <a:buChar char="•"/>
            </a:pPr>
            <a:r>
              <a:rPr lang="en-US" sz="3200" b="0" i="0" dirty="0" smtClean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layered structure typically involves application, protocol, network, data, and hardware layers, forming a secure, transparent, and tamper-proof foundation for decentralized applications.  </a:t>
            </a:r>
            <a:endParaRPr lang="en-US" sz="3200" b="0" i="0" dirty="0" smtClean="0">
              <a:solidFill>
                <a:srgbClr val="0B57D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1705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119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9900" y="1225540"/>
            <a:ext cx="114808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0" i="0" dirty="0" smtClean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</a:p>
          <a:p>
            <a:pPr algn="just"/>
            <a:endParaRPr lang="en-US" sz="2800" b="0" i="0" dirty="0" smtClean="0">
              <a:solidFill>
                <a:srgbClr val="001D3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ctr">
              <a:buFont typeface="+mj-lt"/>
              <a:buAutoNum type="arabicPeriod"/>
            </a:pPr>
            <a:r>
              <a:rPr lang="en-US" sz="2800" b="1" i="0" dirty="0" smtClean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Transaction Request:</a:t>
            </a:r>
            <a:r>
              <a:rPr lang="en-US" sz="2800" b="0" i="0" dirty="0" smtClean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 user initiates a transaction. </a:t>
            </a:r>
            <a:endParaRPr lang="en-US" sz="2800" b="0" i="0" dirty="0" smtClean="0">
              <a:solidFill>
                <a:srgbClr val="0B57D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ctr">
              <a:buFont typeface="+mj-lt"/>
              <a:buAutoNum type="arabicPeriod" startAt="2"/>
            </a:pPr>
            <a:r>
              <a:rPr lang="en-US" sz="2800" b="1" i="0" dirty="0" smtClean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Block Creation:</a:t>
            </a:r>
            <a:r>
              <a:rPr lang="en-US" sz="2800" b="0" i="0" dirty="0" smtClean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This transaction is bundled with others into a new block. </a:t>
            </a:r>
          </a:p>
          <a:p>
            <a:pPr algn="just" fontAlgn="ctr">
              <a:buFont typeface="+mj-lt"/>
              <a:buAutoNum type="arabicPeriod" startAt="2"/>
            </a:pPr>
            <a:endParaRPr lang="en-US" sz="2800" b="0" i="0" dirty="0" smtClean="0">
              <a:solidFill>
                <a:srgbClr val="0B57D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ctr">
              <a:buFont typeface="+mj-lt"/>
              <a:buAutoNum type="arabicPeriod" startAt="3"/>
            </a:pPr>
            <a:r>
              <a:rPr lang="en-US" sz="2800" b="1" i="0" dirty="0" smtClean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Validation:</a:t>
            </a:r>
            <a:r>
              <a:rPr lang="en-US" sz="2800" b="0" i="0" dirty="0" smtClean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The new block is broadcast to all nodes in the network for validation using a consensus mechanism (e.g., Proof of Work, Proof of Stake).</a:t>
            </a:r>
          </a:p>
          <a:p>
            <a:pPr algn="just" fontAlgn="ctr"/>
            <a:r>
              <a:rPr lang="en-US" sz="2800" b="0" i="0" dirty="0" smtClean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b="0" i="0" dirty="0" smtClean="0">
              <a:solidFill>
                <a:srgbClr val="0B57D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fontAlgn="ctr">
              <a:buFont typeface="+mj-lt"/>
              <a:buAutoNum type="arabicPeriod" startAt="4"/>
            </a:pPr>
            <a:r>
              <a:rPr lang="en-US" sz="2800" b="1" i="0" dirty="0" smtClean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Block Addition:</a:t>
            </a:r>
            <a:r>
              <a:rPr lang="en-US" sz="2800" b="0" i="0" dirty="0" smtClean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Once validated by the network, the block is added to the existing chain, linked by cryptographic hash. </a:t>
            </a:r>
            <a:endParaRPr lang="en-US" sz="2800" b="0" i="0" dirty="0" smtClean="0">
              <a:solidFill>
                <a:srgbClr val="0B57D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+mj-lt"/>
              <a:buAutoNum type="arabicPeriod" startAt="5"/>
            </a:pPr>
            <a:r>
              <a:rPr lang="en-US" sz="2800" b="1" i="0" dirty="0" smtClean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Immutability:</a:t>
            </a:r>
            <a:r>
              <a:rPr lang="en-US" sz="2800" b="0" i="0" dirty="0" smtClean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The inclusion of the previous block's hash creates a secure, permanent, and transparent record. </a:t>
            </a:r>
            <a:endParaRPr lang="en-US" sz="2800" b="0" i="0" dirty="0">
              <a:solidFill>
                <a:srgbClr val="001D3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8300" y="348734"/>
            <a:ext cx="1062212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chain based Architecture continue…</a:t>
            </a:r>
            <a:endParaRPr lang="en-IN" sz="4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45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0070" t="40397" r="32369" b="37973"/>
          <a:stretch/>
        </p:blipFill>
        <p:spPr>
          <a:xfrm>
            <a:off x="0" y="973931"/>
            <a:ext cx="12192000" cy="481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600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857</Words>
  <Application>Microsoft Office PowerPoint</Application>
  <PresentationFormat>Widescreen</PresentationFormat>
  <Paragraphs>151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Calibri</vt:lpstr>
      <vt:lpstr>Calibri Light</vt:lpstr>
      <vt:lpstr>Courier New</vt:lpstr>
      <vt:lpstr>Mangal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Network Layer</vt:lpstr>
      <vt:lpstr>PowerPoint Presentation</vt:lpstr>
      <vt:lpstr>Processing / Middleware Layer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54</cp:revision>
  <dcterms:created xsi:type="dcterms:W3CDTF">2025-09-11T05:36:22Z</dcterms:created>
  <dcterms:modified xsi:type="dcterms:W3CDTF">2025-09-11T06:50:12Z</dcterms:modified>
</cp:coreProperties>
</file>