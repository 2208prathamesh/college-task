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2" r:id="rId4"/>
    <p:sldId id="258" r:id="rId5"/>
    <p:sldId id="259" r:id="rId6"/>
    <p:sldId id="271" r:id="rId7"/>
    <p:sldId id="272" r:id="rId8"/>
    <p:sldId id="273" r:id="rId9"/>
    <p:sldId id="275" r:id="rId10"/>
    <p:sldId id="274" r:id="rId11"/>
    <p:sldId id="276" r:id="rId12"/>
    <p:sldId id="277" r:id="rId13"/>
    <p:sldId id="278" r:id="rId14"/>
    <p:sldId id="279" r:id="rId15"/>
    <p:sldId id="280" r:id="rId16"/>
    <p:sldId id="281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19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0400"/>
            <a:ext cx="7772400" cy="1470025"/>
          </a:xfrm>
        </p:spPr>
        <p:txBody>
          <a:bodyPr/>
          <a:lstStyle/>
          <a:p>
            <a:r>
              <a:rPr dirty="0" smtClean="0"/>
              <a:t>Social </a:t>
            </a:r>
            <a:r>
              <a:rPr dirty="0"/>
              <a:t>Media Marketing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866378"/>
            <a:ext cx="6858000" cy="4261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Digital Marketing</a:t>
            </a:r>
          </a:p>
          <a:p>
            <a:r>
              <a:t>Online Marketing Overview</a:t>
            </a:r>
          </a:p>
          <a:p>
            <a:r>
              <a:t>Email Marketing Strategy</a:t>
            </a:r>
          </a:p>
          <a:p>
            <a:r>
              <a:t>Social Media Marketing Essentials</a:t>
            </a:r>
          </a:p>
          <a:p>
            <a:r>
              <a:t>Tools &amp; Best Practices</a:t>
            </a:r>
          </a:p>
          <a:p>
            <a:r>
              <a:t>Case Studies / Examples</a:t>
            </a:r>
          </a:p>
          <a:p>
            <a:r>
              <a:t>Conclusion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Content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961" y="1716066"/>
            <a:ext cx="5398717" cy="388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6173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Digital Marketing?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of digital channels to promote products/services</a:t>
            </a:r>
          </a:p>
          <a:p>
            <a:r>
              <a:t>Key Channels: Websites, Email, Social Media, SEO, PPC</a:t>
            </a:r>
          </a:p>
          <a:p>
            <a:r>
              <a:t>Data-driven and measurable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Marketing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Encompasses all web-based marketing strategies</a:t>
            </a:r>
          </a:p>
          <a:p>
            <a:r>
              <a:rPr dirty="0"/>
              <a:t>Includes SEO, Content Marketing, PPC, and Website </a:t>
            </a:r>
            <a:r>
              <a:rPr dirty="0" smtClean="0"/>
              <a:t>Optimization</a:t>
            </a:r>
            <a:endParaRPr lang="en-IN" dirty="0" smtClean="0"/>
          </a:p>
          <a:p>
            <a:r>
              <a:rPr lang="en-IN" dirty="0"/>
              <a:t>Social media marketing (SMM) involves using social media platforms to connect with an audience, build a brand, increase sales, and drive website traffic. </a:t>
            </a:r>
            <a:endParaRPr lang="en-IN" dirty="0" smtClean="0"/>
          </a:p>
          <a:p>
            <a:r>
              <a:rPr lang="en-IN" dirty="0" smtClean="0"/>
              <a:t>It's </a:t>
            </a:r>
            <a:r>
              <a:rPr lang="en-IN" dirty="0"/>
              <a:t>a form of internet marketing that utilizes social media apps to achieve these goals, including publishing engaging content, interacting with followers, </a:t>
            </a:r>
            <a:r>
              <a:rPr lang="en-IN" dirty="0" err="1"/>
              <a:t>analyzing</a:t>
            </a:r>
            <a:r>
              <a:rPr lang="en-IN" dirty="0"/>
              <a:t> results, and potentially running advertisements. 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Key Components of Social Media Marketing: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sz="4500" b="1" dirty="0" smtClean="0"/>
              <a:t>Platform </a:t>
            </a:r>
            <a:r>
              <a:rPr lang="en-IN" sz="4500" b="1" dirty="0"/>
              <a:t>Selection:</a:t>
            </a:r>
            <a:endParaRPr lang="en-IN" sz="4500" dirty="0"/>
          </a:p>
          <a:p>
            <a:pPr marL="0" indent="0" fontAlgn="ctr">
              <a:buNone/>
            </a:pPr>
            <a:r>
              <a:rPr lang="en-IN" sz="4500" dirty="0"/>
              <a:t>Identifying the most relevant social media platforms for your target audience (e.g., </a:t>
            </a:r>
            <a:r>
              <a:rPr lang="en-IN" sz="4500" dirty="0" err="1"/>
              <a:t>Instagram</a:t>
            </a:r>
            <a:r>
              <a:rPr lang="en-IN" sz="4500" dirty="0"/>
              <a:t>, Facebook, X, LinkedIn, </a:t>
            </a:r>
            <a:r>
              <a:rPr lang="en-IN" sz="4500" dirty="0" err="1"/>
              <a:t>TikTok</a:t>
            </a:r>
            <a:r>
              <a:rPr lang="en-IN" sz="4500" dirty="0"/>
              <a:t>). </a:t>
            </a:r>
          </a:p>
          <a:p>
            <a:r>
              <a:rPr lang="en-IN" sz="4500" b="1" dirty="0"/>
              <a:t>Content Creation and Publishing:</a:t>
            </a:r>
            <a:endParaRPr lang="en-IN" sz="4500" dirty="0"/>
          </a:p>
          <a:p>
            <a:pPr marL="0" indent="0" fontAlgn="ctr">
              <a:buNone/>
            </a:pPr>
            <a:r>
              <a:rPr lang="en-IN" sz="4500" dirty="0"/>
              <a:t>Developing and sharing high-quality, engaging content (text, images, videos, etc.) that aligns with your brand and resonates with your audience. </a:t>
            </a:r>
          </a:p>
          <a:p>
            <a:r>
              <a:rPr lang="en-IN" sz="4500" b="1" dirty="0"/>
              <a:t>Community Engagement:</a:t>
            </a:r>
            <a:endParaRPr lang="en-IN" sz="4500" dirty="0"/>
          </a:p>
          <a:p>
            <a:pPr marL="0" indent="0" fontAlgn="ctr">
              <a:buNone/>
            </a:pPr>
            <a:r>
              <a:rPr lang="en-IN" sz="4500" dirty="0"/>
              <a:t>Interacting with followers, responding to comments and messages, and fostering a sense of community around your brand. </a:t>
            </a:r>
          </a:p>
          <a:p>
            <a:r>
              <a:rPr lang="en-IN" sz="4500" b="1" dirty="0"/>
              <a:t>Social Media Advertising:</a:t>
            </a:r>
            <a:endParaRPr lang="en-IN" sz="4500" dirty="0"/>
          </a:p>
          <a:p>
            <a:pPr marL="0" indent="0" fontAlgn="ctr">
              <a:buNone/>
            </a:pPr>
            <a:r>
              <a:rPr lang="en-IN" sz="4500" dirty="0"/>
              <a:t>Utilizing paid advertising options on social media platforms to reach a wider audience and drive specific actions (e.g., website clicks, conversions). </a:t>
            </a:r>
          </a:p>
          <a:p>
            <a:r>
              <a:rPr lang="en-IN" sz="4500" b="1" dirty="0"/>
              <a:t>Performance Measurement and Analysis:</a:t>
            </a:r>
            <a:endParaRPr lang="en-IN" sz="4500" dirty="0"/>
          </a:p>
          <a:p>
            <a:pPr marL="0" indent="0">
              <a:buNone/>
            </a:pPr>
            <a:r>
              <a:rPr lang="en-IN" sz="4500" dirty="0"/>
              <a:t>Tracking key metrics (e.g., engagement rates, website traffic, sales) to assess the effectiveness of your social media marketing efforts and make data-driven adjustments.</a:t>
            </a:r>
            <a:r>
              <a:rPr lang="en-IN" dirty="0"/>
              <a:t>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5611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Benefits of Social Media Marketing: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882" y="1136737"/>
            <a:ext cx="8229600" cy="4525963"/>
          </a:xfrm>
        </p:spPr>
        <p:txBody>
          <a:bodyPr>
            <a:noAutofit/>
          </a:bodyPr>
          <a:lstStyle/>
          <a:p>
            <a:r>
              <a:rPr lang="en-IN" sz="1400" b="1" dirty="0" smtClean="0"/>
              <a:t>Increased </a:t>
            </a:r>
            <a:r>
              <a:rPr lang="en-IN" sz="1400" b="1" dirty="0"/>
              <a:t>Brand Awareness:</a:t>
            </a:r>
            <a:endParaRPr lang="en-IN" sz="1400" dirty="0"/>
          </a:p>
          <a:p>
            <a:pPr marL="0" indent="0" fontAlgn="ctr">
              <a:buNone/>
            </a:pPr>
            <a:r>
              <a:rPr lang="en-IN" sz="1400" dirty="0"/>
              <a:t>Social media provides a powerful platform to showcase your brand and reach a large and diverse audience. </a:t>
            </a:r>
          </a:p>
          <a:p>
            <a:r>
              <a:rPr lang="en-IN" sz="1400" b="1" dirty="0"/>
              <a:t>Targeted Audience Reach:</a:t>
            </a:r>
            <a:endParaRPr lang="en-IN" sz="1400" dirty="0"/>
          </a:p>
          <a:p>
            <a:pPr marL="0" indent="0" fontAlgn="ctr">
              <a:buNone/>
            </a:pPr>
            <a:r>
              <a:rPr lang="en-IN" sz="1400" dirty="0"/>
              <a:t>Social media algorithms allow for precise targeting, ensuring your message reaches the most relevant potential customers. </a:t>
            </a:r>
          </a:p>
          <a:p>
            <a:r>
              <a:rPr lang="en-IN" sz="1400" b="1" dirty="0"/>
              <a:t>Direct Customer Engagement:</a:t>
            </a:r>
            <a:endParaRPr lang="en-IN" sz="1400" dirty="0"/>
          </a:p>
          <a:p>
            <a:pPr marL="0" indent="0" fontAlgn="ctr">
              <a:buNone/>
            </a:pPr>
            <a:r>
              <a:rPr lang="en-IN" sz="1400" dirty="0"/>
              <a:t>Social media facilitates direct interaction with customers, enabling you to build relationships and address their needs. </a:t>
            </a:r>
          </a:p>
          <a:p>
            <a:r>
              <a:rPr lang="en-IN" sz="1400" b="1" dirty="0"/>
              <a:t>Website Traffic Generation:</a:t>
            </a:r>
            <a:endParaRPr lang="en-IN" sz="1400" dirty="0"/>
          </a:p>
          <a:p>
            <a:pPr marL="0" indent="0" fontAlgn="ctr">
              <a:buNone/>
            </a:pPr>
            <a:r>
              <a:rPr lang="en-IN" sz="1400" dirty="0"/>
              <a:t>Social media can be a significant source of traffic to your website, driving potential customers to learn more about your products or services. </a:t>
            </a:r>
          </a:p>
          <a:p>
            <a:r>
              <a:rPr lang="en-IN" sz="1400" b="1" dirty="0"/>
              <a:t>Cost-Effective Marketing:</a:t>
            </a:r>
            <a:endParaRPr lang="en-IN" sz="1400" dirty="0"/>
          </a:p>
          <a:p>
            <a:pPr marL="0" indent="0" fontAlgn="ctr">
              <a:buNone/>
            </a:pPr>
            <a:r>
              <a:rPr lang="en-IN" sz="1400" dirty="0"/>
              <a:t>Compared to traditional advertising methods, social media marketing can be a more budget-friendly option, especially for small businesses. </a:t>
            </a:r>
          </a:p>
          <a:p>
            <a:r>
              <a:rPr lang="en-IN" sz="1400" b="1" dirty="0"/>
              <a:t>Improved Customer Service:</a:t>
            </a:r>
            <a:endParaRPr lang="en-IN" sz="1400" dirty="0"/>
          </a:p>
          <a:p>
            <a:pPr marL="0" indent="0" fontAlgn="ctr">
              <a:buNone/>
            </a:pPr>
            <a:r>
              <a:rPr lang="en-IN" sz="1400" dirty="0"/>
              <a:t>Social media platforms can be used to provide timely and efficient customer support, resolving issues and answering questions. </a:t>
            </a:r>
          </a:p>
          <a:p>
            <a:r>
              <a:rPr lang="en-IN" sz="1400" b="1" dirty="0"/>
              <a:t>Enhanced SEO:</a:t>
            </a:r>
            <a:endParaRPr lang="en-IN" sz="1400" dirty="0"/>
          </a:p>
          <a:p>
            <a:pPr marL="0" indent="0">
              <a:buNone/>
            </a:pPr>
            <a:r>
              <a:rPr lang="en-IN" sz="1400" dirty="0"/>
              <a:t>Social media activity can indirectly improve your website's search engine ranking, as it signals to search engines that your brand is active and relevant, according to some SEO experts. 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85546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Fundamentals of Social Media Marketing&amp; its significance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02637"/>
            <a:ext cx="8229600" cy="432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674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Fundamentals of Social Media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Social media marketing fundamentals encompass understanding your audience, defining clear objectives, selecting appropriate platforms, creating engaging content, fostering interaction, and tracking performance. </a:t>
            </a:r>
            <a:endParaRPr lang="en-IN" dirty="0" smtClean="0"/>
          </a:p>
          <a:p>
            <a:r>
              <a:rPr lang="en-IN" dirty="0" smtClean="0"/>
              <a:t>These </a:t>
            </a:r>
            <a:r>
              <a:rPr lang="en-IN" dirty="0"/>
              <a:t>core principles are crucial for building brand awareness, driving traffic, and achieving marketing goals. </a:t>
            </a:r>
          </a:p>
        </p:txBody>
      </p:sp>
    </p:spTree>
    <p:extLst>
      <p:ext uri="{BB962C8B-B14F-4D97-AF65-F5344CB8AC3E}">
        <p14:creationId xmlns:p14="http://schemas.microsoft.com/office/powerpoint/2010/main" val="4241816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Fundamentals of Social Media Marketing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64" y="1600200"/>
            <a:ext cx="806187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6525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Fundamentals of Social Media Marketing: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sz="2000" b="1" dirty="0" smtClean="0"/>
              <a:t>Define </a:t>
            </a:r>
            <a:r>
              <a:rPr lang="en-IN" sz="2000" b="1" dirty="0"/>
              <a:t>Objectives:</a:t>
            </a:r>
            <a:endParaRPr lang="en-IN" sz="2000" dirty="0"/>
          </a:p>
          <a:p>
            <a:pPr marL="0" indent="0" fontAlgn="ctr">
              <a:buNone/>
            </a:pPr>
            <a:r>
              <a:rPr lang="en-IN" sz="2000" dirty="0"/>
              <a:t>Start by clearly outlining what you want to achieve with your social media efforts. Are you aiming to increase brand awareness, drive website traffic, generate leads, or boost sales? </a:t>
            </a:r>
          </a:p>
          <a:p>
            <a:r>
              <a:rPr lang="en-IN" sz="2000" b="1" dirty="0"/>
              <a:t>Know Your Audience:</a:t>
            </a:r>
            <a:endParaRPr lang="en-IN" sz="2000" dirty="0"/>
          </a:p>
          <a:p>
            <a:pPr marL="0" indent="0" fontAlgn="ctr">
              <a:buNone/>
            </a:pPr>
            <a:r>
              <a:rPr lang="en-IN" sz="2000" dirty="0"/>
              <a:t>Understanding your target audience's demographics, interests, and online </a:t>
            </a:r>
            <a:r>
              <a:rPr lang="en-IN" sz="2000" dirty="0" err="1"/>
              <a:t>behavior</a:t>
            </a:r>
            <a:r>
              <a:rPr lang="en-IN" sz="2000" dirty="0"/>
              <a:t> is essential for creating relevant and engaging content. </a:t>
            </a:r>
          </a:p>
          <a:p>
            <a:r>
              <a:rPr lang="en-IN" sz="2000" b="1" dirty="0"/>
              <a:t>Choose the Right Platforms:</a:t>
            </a:r>
            <a:endParaRPr lang="en-IN" sz="2000" dirty="0"/>
          </a:p>
          <a:p>
            <a:pPr marL="0" indent="0" fontAlgn="ctr">
              <a:buNone/>
            </a:pPr>
            <a:r>
              <a:rPr lang="en-IN" sz="2000" dirty="0"/>
              <a:t>Different social media platforms cater to different audiences and content formats. Select the platforms where your target audience is most active. </a:t>
            </a:r>
          </a:p>
          <a:p>
            <a:r>
              <a:rPr lang="en-IN" sz="2000" b="1" dirty="0"/>
              <a:t>Content is King:</a:t>
            </a:r>
            <a:endParaRPr lang="en-IN" sz="2000" dirty="0"/>
          </a:p>
          <a:p>
            <a:pPr marL="0" indent="0" fontAlgn="ctr">
              <a:buNone/>
            </a:pPr>
            <a:r>
              <a:rPr lang="en-IN" sz="2000" dirty="0"/>
              <a:t>Create high-quality, valuable, and engaging content that resonates with your audience. This could include text, images, videos, or a combination of formats. </a:t>
            </a:r>
          </a:p>
          <a:p>
            <a:r>
              <a:rPr lang="en-IN" sz="2000" b="1" dirty="0"/>
              <a:t>Engage with Your Audience:</a:t>
            </a:r>
            <a:endParaRPr lang="en-IN" sz="2000" dirty="0"/>
          </a:p>
          <a:p>
            <a:pPr marL="0" indent="0" fontAlgn="ctr">
              <a:buNone/>
            </a:pPr>
            <a:r>
              <a:rPr lang="en-IN" sz="2000" dirty="0"/>
              <a:t>Social media is a two-way communication channel. Respond to comments, messages, and participate in relevant conversations to build relationships and foster a sense of community. </a:t>
            </a:r>
          </a:p>
          <a:p>
            <a:r>
              <a:rPr lang="en-IN" sz="2000" b="1" dirty="0"/>
              <a:t>Track Performance:</a:t>
            </a:r>
            <a:endParaRPr lang="en-IN" sz="2000" dirty="0"/>
          </a:p>
          <a:p>
            <a:pPr marL="0" indent="0" fontAlgn="ctr">
              <a:buNone/>
            </a:pPr>
            <a:r>
              <a:rPr lang="en-IN" sz="2000" dirty="0"/>
              <a:t>Use social media analytics to monitor your progress, identify what's working, and optimize your strategy accordingly. Track metrics like engagement, reach, and website traffic. </a:t>
            </a:r>
            <a:endParaRPr lang="en-IN" sz="2000" dirty="0" smtClean="0"/>
          </a:p>
          <a:p>
            <a:r>
              <a:rPr lang="en-IN" sz="1800" b="1" dirty="0"/>
              <a:t>Be Authentic:</a:t>
            </a:r>
            <a:endParaRPr lang="en-IN" sz="1800" dirty="0"/>
          </a:p>
          <a:p>
            <a:pPr marL="0" indent="0" fontAlgn="ctr">
              <a:buNone/>
            </a:pPr>
            <a:r>
              <a:rPr lang="en-IN" sz="1800" dirty="0"/>
              <a:t>Authenticity is key to building trust and credibility. Be genuine in your interactions and let your brand's personality shine through. </a:t>
            </a:r>
          </a:p>
          <a:p>
            <a:pPr marL="0" indent="0" fontAlgn="ctr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84471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Significance of Social Media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 smtClean="0"/>
              <a:t>Broad </a:t>
            </a:r>
            <a:r>
              <a:rPr lang="en-IN" b="1" dirty="0"/>
              <a:t>Reach:</a:t>
            </a:r>
            <a:endParaRPr lang="en-IN" dirty="0"/>
          </a:p>
          <a:p>
            <a:pPr marL="0" indent="0" fontAlgn="ctr">
              <a:buNone/>
            </a:pPr>
            <a:r>
              <a:rPr lang="en-IN" dirty="0" smtClean="0"/>
              <a:t>Social </a:t>
            </a:r>
            <a:r>
              <a:rPr lang="en-IN" dirty="0"/>
              <a:t>media platforms allow you to reach a vast and diverse audience, including potential customers who may not be easily accessible through traditional marketing methods. </a:t>
            </a:r>
          </a:p>
          <a:p>
            <a:r>
              <a:rPr lang="en-IN" b="1" dirty="0"/>
              <a:t>Targeted Advertising:</a:t>
            </a:r>
            <a:endParaRPr lang="en-IN" dirty="0"/>
          </a:p>
          <a:p>
            <a:pPr marL="0" indent="0" fontAlgn="ctr">
              <a:buNone/>
            </a:pPr>
            <a:r>
              <a:rPr lang="en-IN" dirty="0"/>
              <a:t>Social media platforms offer sophisticated targeting options, allowing you to reach specific demographics, interests, and </a:t>
            </a:r>
            <a:r>
              <a:rPr lang="en-IN" dirty="0" err="1"/>
              <a:t>behaviors</a:t>
            </a:r>
            <a:r>
              <a:rPr lang="en-IN" dirty="0"/>
              <a:t>, maximizing the effectiveness of your advertising campaigns. </a:t>
            </a:r>
          </a:p>
          <a:p>
            <a:r>
              <a:rPr lang="en-IN" b="1" dirty="0"/>
              <a:t>Cost-Effective:</a:t>
            </a:r>
            <a:endParaRPr lang="en-IN" dirty="0"/>
          </a:p>
          <a:p>
            <a:pPr marL="0" indent="0" fontAlgn="ctr">
              <a:buNone/>
            </a:pPr>
            <a:r>
              <a:rPr lang="en-IN" dirty="0"/>
              <a:t>Compared to traditional advertising, social media marketing can be a cost-effective way to reach your target audience, especially for small businesses. </a:t>
            </a:r>
          </a:p>
          <a:p>
            <a:r>
              <a:rPr lang="en-IN" b="1" dirty="0"/>
              <a:t>Enhanced Brand Awareness:</a:t>
            </a:r>
            <a:endParaRPr lang="en-IN" dirty="0"/>
          </a:p>
          <a:p>
            <a:pPr marL="0" indent="0" fontAlgn="ctr">
              <a:buNone/>
            </a:pPr>
            <a:r>
              <a:rPr lang="en-IN" dirty="0"/>
              <a:t>Social media is a powerful tool for building brand awareness and recognition, as it allows you to showcase your brand's personality, values, and offerings. </a:t>
            </a:r>
            <a:endParaRPr lang="en-IN" dirty="0" smtClean="0"/>
          </a:p>
          <a:p>
            <a:r>
              <a:rPr lang="en-IN" b="1" dirty="0"/>
              <a:t>Improved Customer Engagement:</a:t>
            </a:r>
            <a:endParaRPr lang="en-IN" dirty="0"/>
          </a:p>
          <a:p>
            <a:pPr marL="0" indent="0" fontAlgn="ctr">
              <a:buNone/>
            </a:pPr>
            <a:r>
              <a:rPr lang="en-IN" dirty="0"/>
              <a:t>Social media provides a platform for direct interaction with customers, allowing you to build relationships, address concerns, and foster a sense of community. </a:t>
            </a:r>
          </a:p>
          <a:p>
            <a:pPr marL="0" indent="0" fontAlgn="ct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4032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sz="7200" b="1" dirty="0" smtClean="0"/>
              <a:t>Website </a:t>
            </a:r>
            <a:r>
              <a:rPr lang="en-IN" sz="7200" b="1" dirty="0"/>
              <a:t>Traffic and SEO:</a:t>
            </a:r>
            <a:endParaRPr lang="en-IN" sz="7200" dirty="0"/>
          </a:p>
          <a:p>
            <a:pPr marL="0" indent="0" fontAlgn="ctr">
              <a:buNone/>
            </a:pPr>
            <a:r>
              <a:rPr lang="en-IN" sz="7200" dirty="0"/>
              <a:t>Social media activity can drive traffic to your website, and social signals can positively impact your search engine optimization (SEO) efforts. </a:t>
            </a:r>
          </a:p>
          <a:p>
            <a:r>
              <a:rPr lang="en-IN" sz="7200" b="1" dirty="0"/>
              <a:t>Data and Insights:</a:t>
            </a:r>
            <a:endParaRPr lang="en-IN" sz="7200" dirty="0"/>
          </a:p>
          <a:p>
            <a:pPr marL="0" indent="0" fontAlgn="ctr">
              <a:buNone/>
            </a:pPr>
            <a:r>
              <a:rPr lang="en-IN" sz="7200" dirty="0"/>
              <a:t>Social media analytics provide valuable data and insights into your audience's </a:t>
            </a:r>
            <a:r>
              <a:rPr lang="en-IN" sz="7200" dirty="0" err="1"/>
              <a:t>behavior</a:t>
            </a:r>
            <a:r>
              <a:rPr lang="en-IN" sz="7200" dirty="0"/>
              <a:t>, preferences, and engagement patterns, allowing you to refine your marketing strategies. </a:t>
            </a:r>
          </a:p>
          <a:p>
            <a:r>
              <a:rPr lang="en-IN" sz="7200" b="1" dirty="0"/>
              <a:t>Customer Feedback:</a:t>
            </a:r>
            <a:endParaRPr lang="en-IN" sz="7200" dirty="0"/>
          </a:p>
          <a:p>
            <a:pPr marL="0" indent="0" fontAlgn="ctr">
              <a:buNone/>
            </a:pPr>
            <a:r>
              <a:rPr lang="en-IN" sz="7200" dirty="0"/>
              <a:t>Social media provides a direct channel for gathering customer feedback, allowing you to identify areas for improvement and enhance your products or services. </a:t>
            </a:r>
          </a:p>
          <a:p>
            <a:r>
              <a:rPr lang="en-IN" sz="7200" b="1" dirty="0"/>
              <a:t>Building a Community:</a:t>
            </a:r>
            <a:endParaRPr lang="en-IN" sz="7200" dirty="0"/>
          </a:p>
          <a:p>
            <a:pPr marL="0" indent="0" fontAlgn="ctr">
              <a:buNone/>
            </a:pPr>
            <a:r>
              <a:rPr lang="en-IN" sz="7200" dirty="0"/>
              <a:t>Social media allows you to build a loyal community around your brand, fostering a sense of belonging and encouraging customer advocacy. </a:t>
            </a:r>
          </a:p>
          <a:p>
            <a:r>
              <a:rPr lang="en-IN" sz="7200" b="1" dirty="0"/>
              <a:t>Adaptability:</a:t>
            </a:r>
            <a:endParaRPr lang="en-IN" sz="7200" dirty="0"/>
          </a:p>
          <a:p>
            <a:pPr marL="0" indent="0" fontAlgn="ctr">
              <a:buNone/>
            </a:pPr>
            <a:r>
              <a:rPr lang="en-IN" sz="7200" dirty="0"/>
              <a:t>Social media is constantly evolving, with new platforms and trends emerging. This means social media marketers need to be adaptable and willing to learn new strategies and techniques. </a:t>
            </a:r>
          </a:p>
          <a:p>
            <a:pPr marL="0" indent="0">
              <a:buNone/>
            </a:pPr>
            <a:r>
              <a:rPr lang="en-IN" sz="7200" dirty="0"/>
              <a:t>By understanding and implementing these fundamentals, businesses can leverage the power of social media to achieve their marketing goals and build a strong online presence. </a:t>
            </a:r>
          </a:p>
          <a:p>
            <a:endParaRPr lang="en-IN" sz="7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557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Necessity of Social Media Marketing,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/>
              <a:t>1. Enhanced Brand Awareness and Visibility:</a:t>
            </a:r>
          </a:p>
          <a:p>
            <a:pPr marL="0" indent="0" fontAlgn="ctr">
              <a:buNone/>
            </a:pPr>
            <a:r>
              <a:rPr lang="en-IN" dirty="0"/>
              <a:t>Social media platforms offer unparalleled reach, connecting businesses with a vast and diverse audience. </a:t>
            </a:r>
          </a:p>
          <a:p>
            <a:pPr marL="0" indent="0" fontAlgn="ctr">
              <a:buNone/>
            </a:pPr>
            <a:r>
              <a:rPr lang="en-IN" dirty="0"/>
              <a:t>By actively engaging on social media, businesses can increase their visibility and build brand recognition, making it easier for potential customers to discover and learn about their products or services. </a:t>
            </a:r>
          </a:p>
          <a:p>
            <a:pPr marL="0" indent="0" fontAlgn="ctr">
              <a:buNone/>
            </a:pPr>
            <a:r>
              <a:rPr lang="en-IN" dirty="0"/>
              <a:t>Increased visibility leads to more opportunities for customer engagement and potential sales. </a:t>
            </a:r>
          </a:p>
          <a:p>
            <a:r>
              <a:rPr lang="en-IN" b="1" dirty="0"/>
              <a:t>2. Targeted Advertising and Audience Engagement:</a:t>
            </a:r>
          </a:p>
          <a:p>
            <a:pPr marL="0" indent="0" fontAlgn="ctr">
              <a:buNone/>
            </a:pPr>
            <a:r>
              <a:rPr lang="en-IN" dirty="0"/>
              <a:t>Social media platforms allow for precise targeting, enabling businesses to reach specific demographics, interests, and </a:t>
            </a:r>
            <a:r>
              <a:rPr lang="en-IN" dirty="0" err="1"/>
              <a:t>behaviors</a:t>
            </a:r>
            <a:r>
              <a:rPr lang="en-IN" dirty="0"/>
              <a:t>. </a:t>
            </a:r>
          </a:p>
          <a:p>
            <a:pPr marL="0" indent="0" fontAlgn="ctr">
              <a:buNone/>
            </a:pPr>
            <a:r>
              <a:rPr lang="en-IN" dirty="0"/>
              <a:t>This level of targeting ensures that marketing messages are delivered to the most relevant audience, maximizing the effectiveness of advertising campaigns. </a:t>
            </a:r>
          </a:p>
          <a:p>
            <a:pPr marL="0" indent="0" fontAlgn="ctr">
              <a:buNone/>
            </a:pPr>
            <a:r>
              <a:rPr lang="en-IN" dirty="0"/>
              <a:t>Social media also facilitates direct engagement with customers, allowing businesses to respond to questions, comments, and feedback in real-time, fostering stronger relationships and building customer loyalty. </a:t>
            </a:r>
          </a:p>
          <a:p>
            <a:r>
              <a:rPr lang="en-IN" b="1" dirty="0"/>
              <a:t>3. Cost-Effective Marketing Solutions:</a:t>
            </a:r>
          </a:p>
          <a:p>
            <a:pPr marL="0" indent="0">
              <a:buNone/>
            </a:pPr>
            <a:r>
              <a:rPr lang="en-IN" dirty="0"/>
              <a:t>Compared to traditional marketing methods, social media marketing offers a more cost-effective approach, especially for small businesses with limited budgets.</a:t>
            </a:r>
          </a:p>
          <a:p>
            <a:pPr marL="0" indent="0" fontAlgn="ctr">
              <a:buNone/>
            </a:pPr>
            <a:r>
              <a:rPr lang="en-IN" dirty="0"/>
              <a:t>Businesses can reach a large audience with minimal investment, making it an accessible and efficient way to promote their products and services.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416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fontAlgn="ctr"/>
            <a:r>
              <a:rPr lang="en-IN" b="1" dirty="0"/>
              <a:t>4. Driving Website Traffic and Conversions:</a:t>
            </a: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dirty="0"/>
              <a:t>Social media posts with links to a business's website can drive traffic directly to the site, increasing the potential for leads and sales.</a:t>
            </a:r>
          </a:p>
          <a:p>
            <a:pPr marL="0" indent="0" fontAlgn="ctr">
              <a:buNone/>
            </a:pPr>
            <a:r>
              <a:rPr lang="en-IN" dirty="0"/>
              <a:t>By strategically sharing content and engaging with users, businesses can guide them through the sales funnel and encourage conversions. </a:t>
            </a:r>
          </a:p>
          <a:p>
            <a:r>
              <a:rPr lang="en-IN" b="1" dirty="0"/>
              <a:t>5. Competitive Advantage:</a:t>
            </a:r>
          </a:p>
          <a:p>
            <a:pPr marL="0" indent="0">
              <a:buNone/>
            </a:pPr>
            <a:r>
              <a:rPr lang="en-IN" dirty="0"/>
              <a:t>In today's competitive landscape, having a strong social media presence is crucial for staying ahead of the competition.</a:t>
            </a:r>
          </a:p>
          <a:p>
            <a:pPr marL="0" indent="0" fontAlgn="ctr">
              <a:buNone/>
            </a:pPr>
            <a:r>
              <a:rPr lang="en-IN" dirty="0"/>
              <a:t>By actively participating in social media conversations and monitoring competitor activity, businesses can adapt their strategies and maintain a competitive edge. </a:t>
            </a:r>
          </a:p>
          <a:p>
            <a:pPr fontAlgn="ctr"/>
            <a:r>
              <a:rPr lang="en-IN" b="1" dirty="0"/>
              <a:t>6. Improved Customer Service and Relationships: </a:t>
            </a:r>
          </a:p>
          <a:p>
            <a:pPr marL="0" indent="0">
              <a:buNone/>
            </a:pPr>
            <a:r>
              <a:rPr lang="en-IN" dirty="0"/>
              <a:t>Social media provides a platform for direct communication with customers, allowing businesses to address their concerns and provide prompt support.</a:t>
            </a:r>
          </a:p>
          <a:p>
            <a:pPr marL="0" indent="0" fontAlgn="ctr">
              <a:buNone/>
            </a:pPr>
            <a:r>
              <a:rPr lang="en-IN" dirty="0"/>
              <a:t>Responding to customer feedback and inquiries quickly and effectively can improve customer satisfaction and loyalty. </a:t>
            </a:r>
          </a:p>
          <a:p>
            <a:r>
              <a:rPr lang="en-IN" b="1" dirty="0"/>
              <a:t>7. Data-Driven Insights:</a:t>
            </a:r>
          </a:p>
          <a:p>
            <a:pPr marL="0" indent="0">
              <a:buNone/>
            </a:pPr>
            <a:r>
              <a:rPr lang="en-IN" dirty="0"/>
              <a:t>Social media platforms provide valuable data analytics and insights into audience </a:t>
            </a:r>
            <a:r>
              <a:rPr lang="en-IN" dirty="0" err="1"/>
              <a:t>behavior</a:t>
            </a:r>
            <a:r>
              <a:rPr lang="en-IN" dirty="0"/>
              <a:t> and engagement.</a:t>
            </a:r>
          </a:p>
          <a:p>
            <a:pPr marL="0" indent="0">
              <a:buNone/>
            </a:pPr>
            <a:r>
              <a:rPr lang="en-IN" dirty="0"/>
              <a:t>Businesses can use this data to understand what content resonates with their audience, refine their strategies, and optimize their marketing efforts for better results.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19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Building a Successful strategy: Goal Setting, Implementation.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Create marketing goals. ...</a:t>
            </a:r>
          </a:p>
          <a:p>
            <a:r>
              <a:rPr lang="en-IN" dirty="0"/>
              <a:t>Learn about your audience. ...</a:t>
            </a:r>
          </a:p>
          <a:p>
            <a:r>
              <a:rPr lang="en-IN" dirty="0"/>
              <a:t>Choose the right platform. ...</a:t>
            </a:r>
          </a:p>
          <a:p>
            <a:r>
              <a:rPr lang="en-IN" dirty="0"/>
              <a:t>Create content for social media. ...</a:t>
            </a:r>
          </a:p>
          <a:p>
            <a:r>
              <a:rPr lang="en-IN" dirty="0"/>
              <a:t>Check your competition. ...</a:t>
            </a:r>
          </a:p>
          <a:p>
            <a:r>
              <a:rPr lang="en-IN" dirty="0"/>
              <a:t>Create a content calendar. ...</a:t>
            </a:r>
          </a:p>
          <a:p>
            <a:r>
              <a:rPr lang="en-IN" dirty="0"/>
              <a:t>Engage with your audience. ...</a:t>
            </a:r>
          </a:p>
          <a:p>
            <a:r>
              <a:rPr lang="en-IN" dirty="0"/>
              <a:t>Track social media metrics.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4530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Components of Online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Engine Optimization (SEO)</a:t>
            </a:r>
          </a:p>
          <a:p>
            <a:r>
              <a:t>Pay-Per-Click (PPC) Advertising</a:t>
            </a:r>
          </a:p>
          <a:p>
            <a:r>
              <a:t>Content Marketing (blogs, videos, eBooks)</a:t>
            </a:r>
          </a:p>
          <a:p>
            <a:r>
              <a:t>Affiliate &amp; Influencer Marketing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Email Marketing?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communication via email to promote offerings</a:t>
            </a:r>
          </a:p>
          <a:p>
            <a:r>
              <a:t>High ROI: ~$42 for every $1 spent (DMA)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Email Campaigns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Newsletters</a:t>
            </a:r>
          </a:p>
          <a:p>
            <a:r>
              <a:t>Promotional Emails</a:t>
            </a:r>
          </a:p>
          <a:p>
            <a:r>
              <a:t>Drip Campaigns</a:t>
            </a:r>
          </a:p>
          <a:p>
            <a:r>
              <a:t>Transactional Emails</a:t>
            </a:r>
          </a:p>
          <a:p>
            <a:r>
              <a:t>Re-engagement Campaigns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in Email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 your audience</a:t>
            </a:r>
          </a:p>
          <a:p>
            <a:r>
              <a:t>Personalize subject lines and content</a:t>
            </a:r>
          </a:p>
          <a:p>
            <a:r>
              <a:t>Optimize for mobile</a:t>
            </a:r>
          </a:p>
          <a:p>
            <a:r>
              <a:t>A/B testing</a:t>
            </a:r>
          </a:p>
          <a:p>
            <a:r>
              <a:t>Clear CTA (Call-To-Action)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Introduction to Social Media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of platforms to connect with audience, build brand, drive traffic &amp; sales</a:t>
            </a:r>
          </a:p>
          <a:p>
            <a:r>
              <a:t>Major platforms: Facebook, Instagram, LinkedIn, Twitter/X, TikTok, YouTube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Platform-Specific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Facebook &amp; Instagram: Visual storytelling, ads, stories</a:t>
            </a:r>
          </a:p>
          <a:p>
            <a:r>
              <a:t>LinkedIn: B2B networking, thought leadership</a:t>
            </a:r>
          </a:p>
          <a:p>
            <a:r>
              <a:t>Twitter/X: Real-time updates, trends</a:t>
            </a:r>
          </a:p>
          <a:p>
            <a:r>
              <a:t>TikTok &amp; YouTube: Short/long-form video marketing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Media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Engagement Rate</a:t>
            </a:r>
          </a:p>
          <a:p>
            <a:r>
              <a:t>Reach &amp; Impressions</a:t>
            </a:r>
          </a:p>
          <a:p>
            <a:r>
              <a:t>Click-Through Rate (CTR)</a:t>
            </a:r>
          </a:p>
          <a:p>
            <a:r>
              <a:t>Follower Growth</a:t>
            </a:r>
          </a:p>
          <a:p>
            <a:r>
              <a:t>Conversions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Marketing: Google Ads, SEMrush, Ahrefs</a:t>
            </a:r>
          </a:p>
          <a:p>
            <a:r>
              <a:t>Email Marketing: Mailchimp, HubSpot, ConvertKit</a:t>
            </a:r>
          </a:p>
          <a:p>
            <a:r>
              <a:t>Social Media: Hootsuite, Buffer, Canva, Meta Business Suite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Brand: Nike</a:t>
            </a:r>
          </a:p>
          <a:p>
            <a:r>
              <a:t>Channel: Social Media Campaign</a:t>
            </a:r>
          </a:p>
          <a:p>
            <a:r>
              <a:t>Outcome: X% increase in engagement, Y% increase in sales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 online, email, and social media for integrated marketing</a:t>
            </a:r>
          </a:p>
          <a:p>
            <a:r>
              <a:t>Use analytics to refine strategies</a:t>
            </a:r>
          </a:p>
          <a:p>
            <a:r>
              <a:t>Focus on personalization and engagement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610</Words>
  <Application>Microsoft Office PowerPoint</Application>
  <PresentationFormat>On-screen Show (4:3)</PresentationFormat>
  <Paragraphs>171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Social Media Marketing</vt:lpstr>
      <vt:lpstr>Agenda</vt:lpstr>
      <vt:lpstr>Content</vt:lpstr>
      <vt:lpstr>What is Digital Marketing?</vt:lpstr>
      <vt:lpstr>Online Marketing Overview</vt:lpstr>
      <vt:lpstr>Key Components of Social Media Marketing: </vt:lpstr>
      <vt:lpstr>Benefits of Social Media Marketing: </vt:lpstr>
      <vt:lpstr>Fundamentals of Social Media Marketing&amp; its significance</vt:lpstr>
      <vt:lpstr>Fundamentals of Social Media Marketing</vt:lpstr>
      <vt:lpstr>Fundamentals of Social Media Marketing</vt:lpstr>
      <vt:lpstr>Fundamentals of Social Media Marketing: </vt:lpstr>
      <vt:lpstr>Significance of Social Media Marketing</vt:lpstr>
      <vt:lpstr>Continue </vt:lpstr>
      <vt:lpstr>Necessity of Social Media Marketing,</vt:lpstr>
      <vt:lpstr>continue</vt:lpstr>
      <vt:lpstr>Building a Successful strategy: Goal Setting, Implementation.</vt:lpstr>
      <vt:lpstr>Key Components of Online Marketing</vt:lpstr>
      <vt:lpstr>What is Email Marketing?</vt:lpstr>
      <vt:lpstr>Types of Email Campaigns</vt:lpstr>
      <vt:lpstr>Best Practices in Email Marketing</vt:lpstr>
      <vt:lpstr>Introduction to Social Media Marketing</vt:lpstr>
      <vt:lpstr>Platform-Specific Strategies</vt:lpstr>
      <vt:lpstr>Social Media Metrics</vt:lpstr>
      <vt:lpstr>Tools &amp; Platforms</vt:lpstr>
      <vt:lpstr>Case Study Example</vt:lpstr>
      <vt:lpstr>Summary</vt:lpstr>
      <vt:lpstr>Q&amp;A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Marketing</dc:title>
  <dc:creator>dypcoe</dc:creator>
  <dc:description>generated using python-pptx</dc:description>
  <cp:lastModifiedBy>dypcoe</cp:lastModifiedBy>
  <cp:revision>6</cp:revision>
  <dcterms:created xsi:type="dcterms:W3CDTF">2013-01-27T09:14:16Z</dcterms:created>
  <dcterms:modified xsi:type="dcterms:W3CDTF">2025-08-22T08:15:51Z</dcterms:modified>
</cp:coreProperties>
</file>