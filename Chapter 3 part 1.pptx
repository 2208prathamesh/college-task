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2" r:id="rId14"/>
    <p:sldId id="283" r:id="rId15"/>
    <p:sldId id="284" r:id="rId16"/>
    <p:sldId id="285" r:id="rId17"/>
    <p:sldId id="286" r:id="rId18"/>
    <p:sldId id="28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6" d="100"/>
          <a:sy n="76" d="100"/>
        </p:scale>
        <p:origin x="-1194" y="21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5BCAD085-E8A6-8845-BD4E-CB4CCA059FC4}" type="datetimeFigureOut">
              <a:rPr lang="en-US" smtClean="0"/>
              <a:t>8/12/2025</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0.png"/><Relationship Id="rId17" Type="http://schemas.openxmlformats.org/officeDocument/2006/relationships/image" Target="../media/image16.svg"/><Relationship Id="rId2" Type="http://schemas.openxmlformats.org/officeDocument/2006/relationships/image" Target="../media/image5.png"/><Relationship Id="rId16"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8.svg"/><Relationship Id="rId1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engaiodigital.com/what-are-landing-pages/" TargetMode="External"/><Relationship Id="rId2" Type="http://schemas.openxmlformats.org/officeDocument/2006/relationships/hyperlink" Target="https://engaiodigital.com/shopify-benefits/"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hyperlink" Target="https://engaiodigital.com/facebook-ads/" TargetMode="External"/><Relationship Id="rId3" Type="http://schemas.openxmlformats.org/officeDocument/2006/relationships/hyperlink" Target="https://engaiodigital.com/search-engine-optimization-seo/" TargetMode="External"/><Relationship Id="rId7" Type="http://schemas.openxmlformats.org/officeDocument/2006/relationships/hyperlink" Target="https://engaiodigital.com/linkedin-ads/" TargetMode="External"/><Relationship Id="rId2" Type="http://schemas.openxmlformats.org/officeDocument/2006/relationships/hyperlink" Target="https://engaiodigital.com/search-engine-marketing-sem/" TargetMode="External"/><Relationship Id="rId1" Type="http://schemas.openxmlformats.org/officeDocument/2006/relationships/slideLayout" Target="../slideLayouts/slideLayout7.xml"/><Relationship Id="rId6" Type="http://schemas.openxmlformats.org/officeDocument/2006/relationships/hyperlink" Target="https://engaiodigital.com/pinterest-ads/" TargetMode="External"/><Relationship Id="rId11" Type="http://schemas.openxmlformats.org/officeDocument/2006/relationships/hyperlink" Target="https://engaiodigital.com/the-marketing-channels-for-growing-a-business/" TargetMode="External"/><Relationship Id="rId5" Type="http://schemas.openxmlformats.org/officeDocument/2006/relationships/hyperlink" Target="https://engaiodigital.com/youtube-advertising/" TargetMode="External"/><Relationship Id="rId10" Type="http://schemas.openxmlformats.org/officeDocument/2006/relationships/hyperlink" Target="https://engaiodigital.com/find-business-partners-online/" TargetMode="External"/><Relationship Id="rId4" Type="http://schemas.openxmlformats.org/officeDocument/2006/relationships/hyperlink" Target="https://engaiodigital.com/content-marketing/" TargetMode="External"/><Relationship Id="rId9" Type="http://schemas.openxmlformats.org/officeDocument/2006/relationships/hyperlink" Target="https://engaiodigital.com/email-marketing/" TargetMode="External"/></Relationships>
</file>

<file path=ppt/slides/_rels/slide29.xml.rels><?xml version="1.0" encoding="UTF-8" standalone="yes"?>
<Relationships xmlns="http://schemas.openxmlformats.org/package/2006/relationships"><Relationship Id="rId2" Type="http://schemas.openxmlformats.org/officeDocument/2006/relationships/hyperlink" Target="https://engaiodigital.com/google-my-business/"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Online Marketing</a:t>
            </a:r>
          </a:p>
        </p:txBody>
      </p:sp>
      <p:sp>
        <p:nvSpPr>
          <p:cNvPr id="3" name="Content Placeholder 2"/>
          <p:cNvSpPr>
            <a:spLocks noGrp="1"/>
          </p:cNvSpPr>
          <p:nvPr>
            <p:ph idx="1"/>
          </p:nvPr>
        </p:nvSpPr>
        <p:spPr/>
        <p:txBody>
          <a:bodyPr/>
          <a:lstStyle/>
          <a:p>
            <a:r>
              <a:t>An overview of marketing using the Internet and digital technologies.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Digital Channels</a:t>
            </a:r>
          </a:p>
        </p:txBody>
      </p:sp>
      <p:sp>
        <p:nvSpPr>
          <p:cNvPr id="3" name="Content Placeholder 2"/>
          <p:cNvSpPr>
            <a:spLocks noGrp="1"/>
          </p:cNvSpPr>
          <p:nvPr>
            <p:ph idx="1"/>
          </p:nvPr>
        </p:nvSpPr>
        <p:spPr/>
        <p:txBody>
          <a:bodyPr/>
          <a:lstStyle/>
          <a:p>
            <a:r>
              <a:t>• Email Marketing</a:t>
            </a:r>
          </a:p>
          <a:p>
            <a:r>
              <a:t>• Search Engine Marketing (SEM/PPC)</a:t>
            </a:r>
          </a:p>
          <a:p>
            <a:r>
              <a:t>• Display/Banner Ads</a:t>
            </a:r>
          </a:p>
          <a:p>
            <a:r>
              <a:t>• Social Media</a:t>
            </a:r>
          </a:p>
          <a:p>
            <a:r>
              <a:t>• Blogging</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Email &amp; Content Marketing</a:t>
            </a:r>
          </a:p>
        </p:txBody>
      </p:sp>
      <p:sp>
        <p:nvSpPr>
          <p:cNvPr id="3" name="Content Placeholder 2"/>
          <p:cNvSpPr>
            <a:spLocks noGrp="1"/>
          </p:cNvSpPr>
          <p:nvPr>
            <p:ph idx="1"/>
          </p:nvPr>
        </p:nvSpPr>
        <p:spPr/>
        <p:txBody>
          <a:bodyPr/>
          <a:lstStyle/>
          <a:p>
            <a:r>
              <a:t>Email: Personalized, measurable outreach.</a:t>
            </a:r>
          </a:p>
          <a:p>
            <a:r>
              <a:t>Blogging: Builds brand authority, SEO, and user engagement.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Pay-Per-Click (PPC)</a:t>
            </a:r>
          </a:p>
        </p:txBody>
      </p:sp>
      <p:sp>
        <p:nvSpPr>
          <p:cNvPr id="3" name="Content Placeholder 2"/>
          <p:cNvSpPr>
            <a:spLocks noGrp="1"/>
          </p:cNvSpPr>
          <p:nvPr>
            <p:ph idx="1"/>
          </p:nvPr>
        </p:nvSpPr>
        <p:spPr/>
        <p:txBody>
          <a:bodyPr/>
          <a:lstStyle/>
          <a:p>
            <a:r>
              <a:t>Advertisers pay when users click their ads. Highly targeted and measurable but budget-sensitive.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Social Media Marketing</a:t>
            </a:r>
          </a:p>
        </p:txBody>
      </p:sp>
      <p:sp>
        <p:nvSpPr>
          <p:cNvPr id="3" name="Content Placeholder 2"/>
          <p:cNvSpPr>
            <a:spLocks noGrp="1"/>
          </p:cNvSpPr>
          <p:nvPr>
            <p:ph idx="1"/>
          </p:nvPr>
        </p:nvSpPr>
        <p:spPr/>
        <p:txBody>
          <a:bodyPr/>
          <a:lstStyle/>
          <a:p>
            <a:r>
              <a:t>Use of Facebook, Instagram, Twitter to engage audiences, increase traffic, and brand awareness.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Viral &amp; Display Advertising</a:t>
            </a:r>
          </a:p>
        </p:txBody>
      </p:sp>
      <p:sp>
        <p:nvSpPr>
          <p:cNvPr id="3" name="Content Placeholder 2"/>
          <p:cNvSpPr>
            <a:spLocks noGrp="1"/>
          </p:cNvSpPr>
          <p:nvPr>
            <p:ph idx="1"/>
          </p:nvPr>
        </p:nvSpPr>
        <p:spPr/>
        <p:txBody>
          <a:bodyPr/>
          <a:lstStyle/>
          <a:p>
            <a:r>
              <a:t>Campaigns designed to go viral or use visual ads to attract attention across platforms.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Marketing Funnel (AIDA)</a:t>
            </a:r>
          </a:p>
        </p:txBody>
      </p:sp>
      <p:sp>
        <p:nvSpPr>
          <p:cNvPr id="3" name="Content Placeholder 2"/>
          <p:cNvSpPr>
            <a:spLocks noGrp="1"/>
          </p:cNvSpPr>
          <p:nvPr>
            <p:ph idx="1"/>
          </p:nvPr>
        </p:nvSpPr>
        <p:spPr/>
        <p:txBody>
          <a:bodyPr/>
          <a:lstStyle/>
          <a:p>
            <a:r>
              <a:t>A – Awareness</a:t>
            </a:r>
          </a:p>
          <a:p>
            <a:r>
              <a:t>I – Interest</a:t>
            </a:r>
          </a:p>
          <a:p>
            <a:r>
              <a:t>D – Desire</a:t>
            </a:r>
          </a:p>
          <a:p>
            <a:r>
              <a:t>A – Action</a:t>
            </a:r>
          </a:p>
          <a:p>
            <a:r>
              <a:t>Describes customer journey from exposure to conversion.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Push vs Pull Marketing</a:t>
            </a:r>
          </a:p>
        </p:txBody>
      </p:sp>
      <p:sp>
        <p:nvSpPr>
          <p:cNvPr id="3" name="Content Placeholder 2"/>
          <p:cNvSpPr>
            <a:spLocks noGrp="1"/>
          </p:cNvSpPr>
          <p:nvPr>
            <p:ph idx="1"/>
          </p:nvPr>
        </p:nvSpPr>
        <p:spPr/>
        <p:txBody>
          <a:bodyPr/>
          <a:lstStyle/>
          <a:p>
            <a:r>
              <a:t>Push: Direct promotion (emails, ads).</a:t>
            </a:r>
          </a:p>
          <a:p>
            <a:r>
              <a:t>Pull: Inbound (SEO, blogs, social media content).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a:t>
            </a:r>
          </a:p>
        </p:txBody>
      </p:sp>
      <p:sp>
        <p:nvSpPr>
          <p:cNvPr id="3" name="Content Placeholder 2"/>
          <p:cNvSpPr>
            <a:spLocks noGrp="1"/>
          </p:cNvSpPr>
          <p:nvPr>
            <p:ph idx="1"/>
          </p:nvPr>
        </p:nvSpPr>
        <p:spPr/>
        <p:txBody>
          <a:bodyPr/>
          <a:lstStyle/>
          <a:p>
            <a:r>
              <a:t>• One-to-one marketing</a:t>
            </a:r>
          </a:p>
          <a:p>
            <a:r>
              <a:t>• Cost-effective</a:t>
            </a:r>
          </a:p>
          <a:p>
            <a:r>
              <a:t>• Wide reach</a:t>
            </a:r>
          </a:p>
          <a:p>
            <a:r>
              <a:t>• Real-time tracking</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a:t>
            </a:r>
          </a:p>
        </p:txBody>
      </p:sp>
      <p:sp>
        <p:nvSpPr>
          <p:cNvPr id="3" name="Content Placeholder 2"/>
          <p:cNvSpPr>
            <a:spLocks noGrp="1"/>
          </p:cNvSpPr>
          <p:nvPr>
            <p:ph idx="1"/>
          </p:nvPr>
        </p:nvSpPr>
        <p:spPr/>
        <p:txBody>
          <a:bodyPr/>
          <a:lstStyle/>
          <a:p>
            <a:r>
              <a:t>• Spam &amp; fraud</a:t>
            </a:r>
          </a:p>
          <a:p>
            <a:r>
              <a:t>• Infrastructure dependency</a:t>
            </a:r>
          </a:p>
          <a:p>
            <a:r>
              <a:t>• Data privacy concerns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Industry Examples</a:t>
            </a:r>
          </a:p>
        </p:txBody>
      </p:sp>
      <p:sp>
        <p:nvSpPr>
          <p:cNvPr id="3" name="Content Placeholder 2"/>
          <p:cNvSpPr>
            <a:spLocks noGrp="1"/>
          </p:cNvSpPr>
          <p:nvPr>
            <p:ph idx="1"/>
          </p:nvPr>
        </p:nvSpPr>
        <p:spPr/>
        <p:txBody>
          <a:bodyPr/>
          <a:lstStyle/>
          <a:p>
            <a:r>
              <a:t>Brands: Vodafone, Samsung, Coca-Cola</a:t>
            </a:r>
          </a:p>
          <a:p>
            <a:r>
              <a:t>Markets: India, US</a:t>
            </a:r>
          </a:p>
          <a:p>
            <a:r>
              <a:t>Tools: Google Ads, Mailchimp, Facebook Ads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Digital marketing is essential for modern business growth—versatile, data-driven, and scalable.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721" y="228600"/>
            <a:ext cx="6712906" cy="2514600"/>
          </a:xfrm>
        </p:spPr>
        <p:txBody>
          <a:bodyPr>
            <a:noAutofit/>
          </a:bodyPr>
          <a:lstStyle/>
          <a:p>
            <a:pPr algn="ctr"/>
            <a:r>
              <a:rPr lang="en-US" sz="8000" dirty="0" smtClean="0"/>
              <a:t>Marketing </a:t>
            </a:r>
            <a:r>
              <a:rPr lang="en-US" sz="8000" dirty="0"/>
              <a:t>Mix</a:t>
            </a:r>
          </a:p>
        </p:txBody>
      </p:sp>
      <p:pic>
        <p:nvPicPr>
          <p:cNvPr id="1026" name="Picture 2" descr="C:\Users\USER\Pictures\p\unnamed-4.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2743200"/>
            <a:ext cx="2667000" cy="3790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33078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000" dirty="0" smtClean="0"/>
              <a:t>What is Marketing Mix?</a:t>
            </a:r>
            <a:endParaRPr lang="en-US" sz="5000" dirty="0"/>
          </a:p>
        </p:txBody>
      </p:sp>
      <p:sp>
        <p:nvSpPr>
          <p:cNvPr id="3" name="Content Placeholder 2"/>
          <p:cNvSpPr>
            <a:spLocks noGrp="1"/>
          </p:cNvSpPr>
          <p:nvPr>
            <p:ph idx="1"/>
          </p:nvPr>
        </p:nvSpPr>
        <p:spPr/>
        <p:txBody>
          <a:bodyPr>
            <a:normAutofit/>
          </a:bodyPr>
          <a:lstStyle/>
          <a:p>
            <a:r>
              <a:rPr lang="en-US" sz="2500" dirty="0" smtClean="0"/>
              <a:t>It is a widely accepted strategic marketing tool that combines the original 4Ps </a:t>
            </a:r>
            <a:r>
              <a:rPr lang="en-US" sz="2500" smtClean="0"/>
              <a:t>with the additional </a:t>
            </a:r>
            <a:r>
              <a:rPr lang="en-US" sz="2500" dirty="0" smtClean="0"/>
              <a:t>3Ps in formulating marketing tactics for a product or service.</a:t>
            </a:r>
          </a:p>
          <a:p>
            <a:r>
              <a:rPr lang="en-US" sz="2500" dirty="0" smtClean="0"/>
              <a:t>Under the Marketing Mix are the 7Ps of marketing, which are the product, place, price, promotion, people, packaging, and process.</a:t>
            </a:r>
          </a:p>
        </p:txBody>
      </p:sp>
      <p:pic>
        <p:nvPicPr>
          <p:cNvPr id="2050" name="Picture 2" descr="C:\Users\USER\Pictures\p\unnamed.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3810000"/>
            <a:ext cx="2219325"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17596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5000" dirty="0" smtClean="0"/>
              <a:t>7Ps</a:t>
            </a:r>
            <a:endParaRPr lang="en-US" sz="5000" dirty="0"/>
          </a:p>
        </p:txBody>
      </p:sp>
      <p:sp>
        <p:nvSpPr>
          <p:cNvPr id="3" name="Content Placeholder 2"/>
          <p:cNvSpPr>
            <a:spLocks noGrp="1"/>
          </p:cNvSpPr>
          <p:nvPr>
            <p:ph idx="1"/>
          </p:nvPr>
        </p:nvSpPr>
        <p:spPr>
          <a:xfrm>
            <a:off x="457200" y="1371600"/>
            <a:ext cx="8229600" cy="4953000"/>
          </a:xfrm>
        </p:spPr>
        <p:txBody>
          <a:bodyPr>
            <a:noAutofit/>
          </a:bodyPr>
          <a:lstStyle/>
          <a:p>
            <a:r>
              <a:rPr lang="en-US" sz="2500" dirty="0" smtClean="0"/>
              <a:t>It is about finding the right combination that will mostly effectively serve the customers needs and wants at the same time achieve the profitability objective.</a:t>
            </a:r>
          </a:p>
          <a:p>
            <a:r>
              <a:rPr lang="en-US" sz="2500" dirty="0" smtClean="0"/>
              <a:t>4 Ps (originals)</a:t>
            </a:r>
          </a:p>
          <a:p>
            <a:pPr marL="0" indent="0">
              <a:buNone/>
            </a:pPr>
            <a:r>
              <a:rPr lang="en-US" sz="2500" dirty="0" smtClean="0"/>
              <a:t>      - were used in marketing products or physical goods only,             however these are not applicable to marketing services.</a:t>
            </a:r>
          </a:p>
          <a:p>
            <a:r>
              <a:rPr lang="en-US" sz="2500" dirty="0" smtClean="0"/>
              <a:t>3 Ps (additional)</a:t>
            </a:r>
          </a:p>
          <a:p>
            <a:pPr marL="0" indent="0">
              <a:buNone/>
            </a:pPr>
            <a:r>
              <a:rPr lang="en-US" sz="2500" dirty="0"/>
              <a:t> </a:t>
            </a:r>
            <a:r>
              <a:rPr lang="en-US" sz="2500" dirty="0" smtClean="0"/>
              <a:t>     - Also applicable in marketing products were introduce.</a:t>
            </a:r>
          </a:p>
          <a:p>
            <a:r>
              <a:rPr lang="en-US" sz="2500" dirty="0" smtClean="0"/>
              <a:t>The 7Ps model is use to the following:</a:t>
            </a:r>
          </a:p>
          <a:p>
            <a:pPr marL="0" indent="0">
              <a:buNone/>
            </a:pPr>
            <a:r>
              <a:rPr lang="en-US" sz="2500" dirty="0" smtClean="0"/>
              <a:t>     - conduct a situation analysis to set objectives</a:t>
            </a:r>
          </a:p>
          <a:p>
            <a:pPr marL="0" indent="0">
              <a:buNone/>
            </a:pPr>
            <a:r>
              <a:rPr lang="en-US" sz="2500" dirty="0" smtClean="0"/>
              <a:t>     - conduct a strength, weaknesses, opportunity and threat (SWOT) or competitive analysis.</a:t>
            </a:r>
            <a:endParaRPr lang="en-US" sz="2500" dirty="0"/>
          </a:p>
        </p:txBody>
      </p:sp>
    </p:spTree>
    <p:extLst>
      <p:ext uri="{BB962C8B-B14F-4D97-AF65-F5344CB8AC3E}">
        <p14:creationId xmlns:p14="http://schemas.microsoft.com/office/powerpoint/2010/main" val="33004063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Effect transition="in" filter="fade">
                                      <p:cBhvr>
                                        <p:cTn id="54" dur="1000"/>
                                        <p:tgtEl>
                                          <p:spTgt spid="3">
                                            <p:txEl>
                                              <p:pRg st="6" end="6"/>
                                            </p:txEl>
                                          </p:spTgt>
                                        </p:tgtEl>
                                      </p:cBhvr>
                                    </p:animEffect>
                                    <p:anim calcmode="lin" valueType="num">
                                      <p:cBhvr>
                                        <p:cTn id="5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animEffect transition="in" filter="fade">
                                      <p:cBhvr>
                                        <p:cTn id="61" dur="1000"/>
                                        <p:tgtEl>
                                          <p:spTgt spid="3">
                                            <p:txEl>
                                              <p:pRg st="7" end="7"/>
                                            </p:txEl>
                                          </p:spTgt>
                                        </p:tgtEl>
                                      </p:cBhvr>
                                    </p:animEffect>
                                    <p:anim calcmode="lin" valueType="num">
                                      <p:cBhvr>
                                        <p:cTn id="6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a:bodyPr>
          <a:lstStyle/>
          <a:p>
            <a:pPr marL="0" indent="0">
              <a:buNone/>
            </a:pPr>
            <a:r>
              <a:rPr lang="en-US" sz="2500" dirty="0"/>
              <a:t> </a:t>
            </a:r>
            <a:r>
              <a:rPr lang="en-US" sz="2500" dirty="0" smtClean="0"/>
              <a:t>    - to come up with marketing strategies and tactics.</a:t>
            </a:r>
          </a:p>
          <a:p>
            <a:r>
              <a:rPr lang="en-US" sz="2500" dirty="0" smtClean="0"/>
              <a:t>A challenge to a budding entrepreneur is to ask the following key questions onset:</a:t>
            </a:r>
          </a:p>
          <a:p>
            <a:pPr>
              <a:buFont typeface="Wingdings" pitchFamily="2" charset="2"/>
              <a:buChar char="Ø"/>
            </a:pPr>
            <a:r>
              <a:rPr lang="en-US" sz="2500" dirty="0" smtClean="0"/>
              <a:t>Product</a:t>
            </a:r>
            <a:br>
              <a:rPr lang="en-US" sz="2500" dirty="0" smtClean="0"/>
            </a:br>
            <a:r>
              <a:rPr lang="en-US" sz="2500" dirty="0" smtClean="0"/>
              <a:t>        - What location is best suited for the business?</a:t>
            </a:r>
          </a:p>
          <a:p>
            <a:pPr marL="0" indent="0">
              <a:buNone/>
            </a:pPr>
            <a:r>
              <a:rPr lang="en-US" sz="2500" dirty="0" smtClean="0"/>
              <a:t>           - Where are the places that has more potential</a:t>
            </a:r>
            <a:br>
              <a:rPr lang="en-US" sz="2500" dirty="0" smtClean="0"/>
            </a:br>
            <a:r>
              <a:rPr lang="en-US" sz="2500" dirty="0" smtClean="0"/>
              <a:t>                   customers?</a:t>
            </a:r>
            <a:br>
              <a:rPr lang="en-US" sz="2500" dirty="0" smtClean="0"/>
            </a:br>
            <a:r>
              <a:rPr lang="en-US" sz="2500" dirty="0" smtClean="0"/>
              <a:t>           - Can they conveniently transact on-site or online?</a:t>
            </a:r>
            <a:r>
              <a:rPr lang="en-US" sz="2500" dirty="0"/>
              <a:t/>
            </a:r>
            <a:br>
              <a:rPr lang="en-US" sz="2500" dirty="0"/>
            </a:br>
            <a:r>
              <a:rPr lang="en-US" sz="2500" dirty="0" smtClean="0"/>
              <a:t>           - How is the process of distribution of products or</a:t>
            </a:r>
            <a:br>
              <a:rPr lang="en-US" sz="2500" dirty="0" smtClean="0"/>
            </a:br>
            <a:r>
              <a:rPr lang="en-US" sz="2500" dirty="0" smtClean="0"/>
              <a:t>              performance of service?</a:t>
            </a:r>
          </a:p>
          <a:p>
            <a:pPr>
              <a:buFont typeface="Wingdings" pitchFamily="2" charset="2"/>
              <a:buChar char="Ø"/>
            </a:pPr>
            <a:r>
              <a:rPr lang="en-US" sz="2500" dirty="0" smtClean="0"/>
              <a:t>Price </a:t>
            </a:r>
            <a:br>
              <a:rPr lang="en-US" sz="2500" dirty="0" smtClean="0"/>
            </a:br>
            <a:r>
              <a:rPr lang="en-US" sz="2500" dirty="0" smtClean="0"/>
              <a:t>       - What is the most appropriate price?</a:t>
            </a:r>
            <a:br>
              <a:rPr lang="en-US" sz="2500" dirty="0" smtClean="0"/>
            </a:br>
            <a:r>
              <a:rPr lang="en-US" sz="2500" dirty="0" smtClean="0"/>
              <a:t>       - What pricing strategies will be used for the target</a:t>
            </a:r>
            <a:br>
              <a:rPr lang="en-US" sz="2500" dirty="0" smtClean="0"/>
            </a:br>
            <a:r>
              <a:rPr lang="en-US" sz="2500" dirty="0" smtClean="0"/>
              <a:t>              customers?</a:t>
            </a:r>
          </a:p>
        </p:txBody>
      </p:sp>
    </p:spTree>
    <p:extLst>
      <p:ext uri="{BB962C8B-B14F-4D97-AF65-F5344CB8AC3E}">
        <p14:creationId xmlns:p14="http://schemas.microsoft.com/office/powerpoint/2010/main" val="4240987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a:buFont typeface="Wingdings" pitchFamily="2" charset="2"/>
              <a:buChar char="Ø"/>
            </a:pPr>
            <a:r>
              <a:rPr lang="en-US" sz="2500" dirty="0" smtClean="0"/>
              <a:t>Promotion</a:t>
            </a:r>
            <a:br>
              <a:rPr lang="en-US" sz="2500" dirty="0" smtClean="0"/>
            </a:br>
            <a:r>
              <a:rPr lang="en-US" sz="2500" dirty="0" smtClean="0"/>
              <a:t> - What is the most effective advertisement or combination of </a:t>
            </a:r>
            <a:br>
              <a:rPr lang="en-US" sz="2500" dirty="0" smtClean="0"/>
            </a:br>
            <a:r>
              <a:rPr lang="en-US" sz="2500" dirty="0" smtClean="0"/>
              <a:t>     advertisement?</a:t>
            </a:r>
            <a:br>
              <a:rPr lang="en-US" sz="2500" dirty="0" smtClean="0"/>
            </a:br>
            <a:r>
              <a:rPr lang="en-US" sz="2500" dirty="0" smtClean="0"/>
              <a:t> - Which advertising tool should be used to drive awareness</a:t>
            </a:r>
            <a:br>
              <a:rPr lang="en-US" sz="2500" dirty="0" smtClean="0"/>
            </a:br>
            <a:r>
              <a:rPr lang="en-US" sz="2500" dirty="0" smtClean="0"/>
              <a:t>       and increase sales?</a:t>
            </a:r>
          </a:p>
          <a:p>
            <a:pPr>
              <a:buFont typeface="Wingdings" pitchFamily="2" charset="2"/>
              <a:buChar char="Ø"/>
            </a:pPr>
            <a:r>
              <a:rPr lang="en-US" sz="2500" dirty="0" smtClean="0"/>
              <a:t>People</a:t>
            </a:r>
            <a:br>
              <a:rPr lang="en-US" sz="2500" dirty="0" smtClean="0"/>
            </a:br>
            <a:r>
              <a:rPr lang="en-US" sz="2500" dirty="0" smtClean="0"/>
              <a:t>- What type of people used to be hired?</a:t>
            </a:r>
            <a:br>
              <a:rPr lang="en-US" sz="2500" dirty="0" smtClean="0"/>
            </a:br>
            <a:r>
              <a:rPr lang="en-US" sz="2500" dirty="0" smtClean="0"/>
              <a:t>- What are the basic skills needed for the job?</a:t>
            </a:r>
            <a:br>
              <a:rPr lang="en-US" sz="2500" dirty="0" smtClean="0"/>
            </a:br>
            <a:r>
              <a:rPr lang="en-US" sz="2500" dirty="0" smtClean="0"/>
              <a:t>- What leadership style will be applied by the entrepreneur?</a:t>
            </a:r>
          </a:p>
          <a:p>
            <a:pPr>
              <a:buFont typeface="Wingdings" pitchFamily="2" charset="2"/>
              <a:buChar char="Ø"/>
            </a:pPr>
            <a:r>
              <a:rPr lang="en-US" sz="2500" dirty="0" smtClean="0"/>
              <a:t>Packaging</a:t>
            </a:r>
            <a:br>
              <a:rPr lang="en-US" sz="2500" dirty="0" smtClean="0"/>
            </a:br>
            <a:r>
              <a:rPr lang="en-US" sz="2500" dirty="0" smtClean="0"/>
              <a:t>- What is the best packaging for the product that is attractive enough to customers and co-efficient at the same time?</a:t>
            </a:r>
            <a:br>
              <a:rPr lang="en-US" sz="2500" dirty="0" smtClean="0"/>
            </a:br>
            <a:r>
              <a:rPr lang="en-US" sz="2500" dirty="0" smtClean="0"/>
              <a:t>- What physical evidence does the entrepreneur need to set up so as to sell services?</a:t>
            </a:r>
            <a:endParaRPr lang="en-US" sz="2500" dirty="0"/>
          </a:p>
        </p:txBody>
      </p:sp>
    </p:spTree>
    <p:extLst>
      <p:ext uri="{BB962C8B-B14F-4D97-AF65-F5344CB8AC3E}">
        <p14:creationId xmlns:p14="http://schemas.microsoft.com/office/powerpoint/2010/main" val="36636513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pPr>
              <a:buFont typeface="Wingdings" pitchFamily="2" charset="2"/>
              <a:buChar char="Ø"/>
            </a:pPr>
            <a:r>
              <a:rPr lang="en-US" sz="2500" dirty="0" smtClean="0"/>
              <a:t>Processing</a:t>
            </a:r>
            <a:br>
              <a:rPr lang="en-US" sz="2500" dirty="0" smtClean="0"/>
            </a:br>
            <a:r>
              <a:rPr lang="en-US" sz="2500" dirty="0" smtClean="0"/>
              <a:t>- What is the most compelling feature of the product or the business that will make  difference in the lives of the customers?</a:t>
            </a:r>
            <a:br>
              <a:rPr lang="en-US" sz="2500" dirty="0" smtClean="0"/>
            </a:br>
            <a:r>
              <a:rPr lang="en-US" sz="2500" dirty="0" smtClean="0"/>
              <a:t>- What sets the product or service from the rest?</a:t>
            </a:r>
            <a:endParaRPr lang="en-US" sz="2500" dirty="0"/>
          </a:p>
        </p:txBody>
      </p:sp>
    </p:spTree>
    <p:extLst>
      <p:ext uri="{BB962C8B-B14F-4D97-AF65-F5344CB8AC3E}">
        <p14:creationId xmlns:p14="http://schemas.microsoft.com/office/powerpoint/2010/main" val="5240780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7 P’s of Online Marketing:</a:t>
            </a:r>
          </a:p>
        </p:txBody>
      </p:sp>
    </p:spTree>
    <p:extLst>
      <p:ext uri="{BB962C8B-B14F-4D97-AF65-F5344CB8AC3E}">
        <p14:creationId xmlns:p14="http://schemas.microsoft.com/office/powerpoint/2010/main" val="15906136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a:extLst>
              <a:ext uri="{FF2B5EF4-FFF2-40B4-BE49-F238E27FC236}">
                <a16:creationId xmlns="" xmlns:a16="http://schemas.microsoft.com/office/drawing/2014/main" id="{9EE9F066-3FDE-4FD8-1A4A-46AA87A0E4DC}"/>
              </a:ext>
            </a:extLst>
          </p:cNvPr>
          <p:cNvSpPr txBox="1"/>
          <p:nvPr/>
        </p:nvSpPr>
        <p:spPr>
          <a:xfrm>
            <a:off x="0" y="321295"/>
            <a:ext cx="91440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000000"/>
                </a:solidFill>
                <a:effectLst/>
                <a:uLnTx/>
                <a:uFillTx/>
                <a:latin typeface="Georgia Pro" panose="02040502050405020303" pitchFamily="18" charset="0"/>
                <a:ea typeface="+mn-ea"/>
                <a:cs typeface="+mn-cs"/>
              </a:rPr>
              <a:t>7</a:t>
            </a:r>
            <a:r>
              <a:rPr kumimoji="0" lang="en-US" sz="3000" b="0" i="0"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ps Of Marketing PPT Download</a:t>
            </a:r>
          </a:p>
        </p:txBody>
      </p:sp>
      <p:grpSp>
        <p:nvGrpSpPr>
          <p:cNvPr id="37" name="Group 36">
            <a:extLst>
              <a:ext uri="{FF2B5EF4-FFF2-40B4-BE49-F238E27FC236}">
                <a16:creationId xmlns="" xmlns:a16="http://schemas.microsoft.com/office/drawing/2014/main" id="{DD7C205C-310E-B687-188B-87C9C89631C8}"/>
              </a:ext>
            </a:extLst>
          </p:cNvPr>
          <p:cNvGrpSpPr/>
          <p:nvPr/>
        </p:nvGrpSpPr>
        <p:grpSpPr>
          <a:xfrm>
            <a:off x="476550" y="1538416"/>
            <a:ext cx="8248052" cy="4710381"/>
            <a:chOff x="635399" y="1538416"/>
            <a:chExt cx="10997403" cy="4710381"/>
          </a:xfrm>
        </p:grpSpPr>
        <p:grpSp>
          <p:nvGrpSpPr>
            <p:cNvPr id="34" name="Group 33">
              <a:extLst>
                <a:ext uri="{FF2B5EF4-FFF2-40B4-BE49-F238E27FC236}">
                  <a16:creationId xmlns="" xmlns:a16="http://schemas.microsoft.com/office/drawing/2014/main" id="{6703C1EB-ED96-DCDC-DDB9-A54A28663C2B}"/>
                </a:ext>
              </a:extLst>
            </p:cNvPr>
            <p:cNvGrpSpPr/>
            <p:nvPr/>
          </p:nvGrpSpPr>
          <p:grpSpPr>
            <a:xfrm>
              <a:off x="635399" y="1538416"/>
              <a:ext cx="3042110" cy="4710381"/>
              <a:chOff x="368355" y="1538416"/>
              <a:chExt cx="3042110" cy="4710381"/>
            </a:xfrm>
          </p:grpSpPr>
          <p:grpSp>
            <p:nvGrpSpPr>
              <p:cNvPr id="12" name="Group 11">
                <a:extLst>
                  <a:ext uri="{FF2B5EF4-FFF2-40B4-BE49-F238E27FC236}">
                    <a16:creationId xmlns="" xmlns:a16="http://schemas.microsoft.com/office/drawing/2014/main" id="{4CAB6144-BF8F-404D-F653-ACF574D5CBB4}"/>
                  </a:ext>
                </a:extLst>
              </p:cNvPr>
              <p:cNvGrpSpPr/>
              <p:nvPr/>
            </p:nvGrpSpPr>
            <p:grpSpPr>
              <a:xfrm>
                <a:off x="368355" y="1538416"/>
                <a:ext cx="3042110" cy="1013810"/>
                <a:chOff x="834248" y="1115937"/>
                <a:chExt cx="3042110" cy="1013810"/>
              </a:xfrm>
            </p:grpSpPr>
            <p:sp>
              <p:nvSpPr>
                <p:cNvPr id="13" name="TextBox 12">
                  <a:extLst>
                    <a:ext uri="{FF2B5EF4-FFF2-40B4-BE49-F238E27FC236}">
                      <a16:creationId xmlns="" xmlns:a16="http://schemas.microsoft.com/office/drawing/2014/main" id="{1CA63CE7-67CD-4629-ED86-A188A2461152}"/>
                    </a:ext>
                  </a:extLst>
                </p:cNvPr>
                <p:cNvSpPr txBox="1"/>
                <p:nvPr/>
              </p:nvSpPr>
              <p:spPr>
                <a:xfrm>
                  <a:off x="1137941" y="1191028"/>
                  <a:ext cx="2738417" cy="93871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Place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rPr>
                    <a:t>Lorem ipsum is simply dummy text of the typesetting industry.</a:t>
                  </a:r>
                  <a:endParaRPr kumimoji="0" lang="en-US"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endParaRPr>
                </a:p>
              </p:txBody>
            </p:sp>
            <p:sp>
              <p:nvSpPr>
                <p:cNvPr id="14" name="Rectangle 13">
                  <a:extLst>
                    <a:ext uri="{FF2B5EF4-FFF2-40B4-BE49-F238E27FC236}">
                      <a16:creationId xmlns="" xmlns:a16="http://schemas.microsoft.com/office/drawing/2014/main" id="{3ED6A10E-4BF0-900F-DFE2-3BA0B8332C73}"/>
                    </a:ext>
                  </a:extLst>
                </p:cNvPr>
                <p:cNvSpPr/>
                <p:nvPr/>
              </p:nvSpPr>
              <p:spPr>
                <a:xfrm>
                  <a:off x="834248" y="1115937"/>
                  <a:ext cx="130503" cy="8734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15" name="Group 14">
                <a:extLst>
                  <a:ext uri="{FF2B5EF4-FFF2-40B4-BE49-F238E27FC236}">
                    <a16:creationId xmlns="" xmlns:a16="http://schemas.microsoft.com/office/drawing/2014/main" id="{2EC1C813-82C7-C513-7139-4C9555FC115B}"/>
                  </a:ext>
                </a:extLst>
              </p:cNvPr>
              <p:cNvGrpSpPr/>
              <p:nvPr/>
            </p:nvGrpSpPr>
            <p:grpSpPr>
              <a:xfrm>
                <a:off x="368355" y="2770606"/>
                <a:ext cx="3042110" cy="1013810"/>
                <a:chOff x="834248" y="1115937"/>
                <a:chExt cx="3042110" cy="1013810"/>
              </a:xfrm>
            </p:grpSpPr>
            <p:sp>
              <p:nvSpPr>
                <p:cNvPr id="16" name="TextBox 15">
                  <a:extLst>
                    <a:ext uri="{FF2B5EF4-FFF2-40B4-BE49-F238E27FC236}">
                      <a16:creationId xmlns="" xmlns:a16="http://schemas.microsoft.com/office/drawing/2014/main" id="{51D13295-8148-556C-A329-F68FBA7354E1}"/>
                    </a:ext>
                  </a:extLst>
                </p:cNvPr>
                <p:cNvSpPr txBox="1"/>
                <p:nvPr/>
              </p:nvSpPr>
              <p:spPr>
                <a:xfrm>
                  <a:off x="1137941" y="1191028"/>
                  <a:ext cx="2738417" cy="93871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Product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rPr>
                    <a:t>Lorem ipsum is simply dummy text of the typesetting industry.</a:t>
                  </a:r>
                  <a:endParaRPr kumimoji="0" lang="en-US"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endParaRPr>
                </a:p>
              </p:txBody>
            </p:sp>
            <p:sp>
              <p:nvSpPr>
                <p:cNvPr id="17" name="Rectangle 16">
                  <a:extLst>
                    <a:ext uri="{FF2B5EF4-FFF2-40B4-BE49-F238E27FC236}">
                      <a16:creationId xmlns="" xmlns:a16="http://schemas.microsoft.com/office/drawing/2014/main" id="{F8554FD6-888B-A845-1926-40372A96F91F}"/>
                    </a:ext>
                  </a:extLst>
                </p:cNvPr>
                <p:cNvSpPr/>
                <p:nvPr/>
              </p:nvSpPr>
              <p:spPr>
                <a:xfrm>
                  <a:off x="834248" y="1115937"/>
                  <a:ext cx="130503" cy="87345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18" name="Group 17">
                <a:extLst>
                  <a:ext uri="{FF2B5EF4-FFF2-40B4-BE49-F238E27FC236}">
                    <a16:creationId xmlns="" xmlns:a16="http://schemas.microsoft.com/office/drawing/2014/main" id="{0F51248F-B474-E9B0-C901-AF9FBEBF07DD}"/>
                  </a:ext>
                </a:extLst>
              </p:cNvPr>
              <p:cNvGrpSpPr/>
              <p:nvPr/>
            </p:nvGrpSpPr>
            <p:grpSpPr>
              <a:xfrm>
                <a:off x="368355" y="4002796"/>
                <a:ext cx="3042110" cy="1013810"/>
                <a:chOff x="834248" y="1115937"/>
                <a:chExt cx="3042110" cy="1013810"/>
              </a:xfrm>
            </p:grpSpPr>
            <p:sp>
              <p:nvSpPr>
                <p:cNvPr id="19" name="TextBox 18">
                  <a:extLst>
                    <a:ext uri="{FF2B5EF4-FFF2-40B4-BE49-F238E27FC236}">
                      <a16:creationId xmlns="" xmlns:a16="http://schemas.microsoft.com/office/drawing/2014/main" id="{DEFE0FDF-B4F1-CECA-59F7-0EED1CE0F42F}"/>
                    </a:ext>
                  </a:extLst>
                </p:cNvPr>
                <p:cNvSpPr txBox="1"/>
                <p:nvPr/>
              </p:nvSpPr>
              <p:spPr>
                <a:xfrm>
                  <a:off x="1137941" y="1191028"/>
                  <a:ext cx="2738417" cy="93871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Physical environment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rPr>
                    <a:t>Lorem ipsum is simply dummy text of the typesetting industry.</a:t>
                  </a:r>
                  <a:endParaRPr kumimoji="0" lang="en-US"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endParaRPr>
                </a:p>
              </p:txBody>
            </p:sp>
            <p:sp>
              <p:nvSpPr>
                <p:cNvPr id="20" name="Rectangle 19">
                  <a:extLst>
                    <a:ext uri="{FF2B5EF4-FFF2-40B4-BE49-F238E27FC236}">
                      <a16:creationId xmlns="" xmlns:a16="http://schemas.microsoft.com/office/drawing/2014/main" id="{BE33063F-73DF-1EDE-83BA-23DEEB3324C4}"/>
                    </a:ext>
                  </a:extLst>
                </p:cNvPr>
                <p:cNvSpPr/>
                <p:nvPr/>
              </p:nvSpPr>
              <p:spPr>
                <a:xfrm>
                  <a:off x="834248" y="1115937"/>
                  <a:ext cx="130503" cy="8734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21" name="Group 20">
                <a:extLst>
                  <a:ext uri="{FF2B5EF4-FFF2-40B4-BE49-F238E27FC236}">
                    <a16:creationId xmlns="" xmlns:a16="http://schemas.microsoft.com/office/drawing/2014/main" id="{0A495FCF-5442-A8EF-BF52-F44FE66F4CB7}"/>
                  </a:ext>
                </a:extLst>
              </p:cNvPr>
              <p:cNvGrpSpPr/>
              <p:nvPr/>
            </p:nvGrpSpPr>
            <p:grpSpPr>
              <a:xfrm>
                <a:off x="368355" y="5234987"/>
                <a:ext cx="3042110" cy="1013810"/>
                <a:chOff x="834248" y="1115937"/>
                <a:chExt cx="3042110" cy="1013810"/>
              </a:xfrm>
            </p:grpSpPr>
            <p:sp>
              <p:nvSpPr>
                <p:cNvPr id="22" name="TextBox 21">
                  <a:extLst>
                    <a:ext uri="{FF2B5EF4-FFF2-40B4-BE49-F238E27FC236}">
                      <a16:creationId xmlns="" xmlns:a16="http://schemas.microsoft.com/office/drawing/2014/main" id="{83EDCC45-C5FF-2965-CD34-E1E76F5FED3F}"/>
                    </a:ext>
                  </a:extLst>
                </p:cNvPr>
                <p:cNvSpPr txBox="1"/>
                <p:nvPr/>
              </p:nvSpPr>
              <p:spPr>
                <a:xfrm>
                  <a:off x="1137941" y="1191028"/>
                  <a:ext cx="2738417" cy="93871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Process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rPr>
                    <a:t>Lorem ipsum is simply dummy text of the typesetting industry.</a:t>
                  </a:r>
                  <a:endParaRPr kumimoji="0" lang="en-US"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endParaRPr>
                </a:p>
              </p:txBody>
            </p:sp>
            <p:sp>
              <p:nvSpPr>
                <p:cNvPr id="23" name="Rectangle 22">
                  <a:extLst>
                    <a:ext uri="{FF2B5EF4-FFF2-40B4-BE49-F238E27FC236}">
                      <a16:creationId xmlns="" xmlns:a16="http://schemas.microsoft.com/office/drawing/2014/main" id="{6F2A8169-BC92-4F6E-3D89-E881E0130635}"/>
                    </a:ext>
                  </a:extLst>
                </p:cNvPr>
                <p:cNvSpPr/>
                <p:nvPr/>
              </p:nvSpPr>
              <p:spPr>
                <a:xfrm>
                  <a:off x="834248" y="1115937"/>
                  <a:ext cx="130503" cy="87345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grpSp>
          <p:nvGrpSpPr>
            <p:cNvPr id="33" name="Group 32">
              <a:extLst>
                <a:ext uri="{FF2B5EF4-FFF2-40B4-BE49-F238E27FC236}">
                  <a16:creationId xmlns="" xmlns:a16="http://schemas.microsoft.com/office/drawing/2014/main" id="{F7A16792-7098-F03E-7D39-26C042338393}"/>
                </a:ext>
              </a:extLst>
            </p:cNvPr>
            <p:cNvGrpSpPr/>
            <p:nvPr/>
          </p:nvGrpSpPr>
          <p:grpSpPr>
            <a:xfrm>
              <a:off x="8555684" y="2123134"/>
              <a:ext cx="3077118" cy="3540946"/>
              <a:chOff x="8999840" y="2160126"/>
              <a:chExt cx="3077118" cy="3540946"/>
            </a:xfrm>
          </p:grpSpPr>
          <p:grpSp>
            <p:nvGrpSpPr>
              <p:cNvPr id="24" name="Group 23">
                <a:extLst>
                  <a:ext uri="{FF2B5EF4-FFF2-40B4-BE49-F238E27FC236}">
                    <a16:creationId xmlns="" xmlns:a16="http://schemas.microsoft.com/office/drawing/2014/main" id="{B3225822-755C-5BD9-5766-5A640A3A4305}"/>
                  </a:ext>
                </a:extLst>
              </p:cNvPr>
              <p:cNvGrpSpPr/>
              <p:nvPr/>
            </p:nvGrpSpPr>
            <p:grpSpPr>
              <a:xfrm flipH="1">
                <a:off x="8999840" y="2160126"/>
                <a:ext cx="3077118" cy="1013810"/>
                <a:chOff x="834248" y="1115937"/>
                <a:chExt cx="3077118" cy="1013810"/>
              </a:xfrm>
            </p:grpSpPr>
            <p:sp>
              <p:nvSpPr>
                <p:cNvPr id="25" name="TextBox 24">
                  <a:extLst>
                    <a:ext uri="{FF2B5EF4-FFF2-40B4-BE49-F238E27FC236}">
                      <a16:creationId xmlns="" xmlns:a16="http://schemas.microsoft.com/office/drawing/2014/main" id="{689DE9D3-53CC-0F10-2DCC-1457B6934761}"/>
                    </a:ext>
                  </a:extLst>
                </p:cNvPr>
                <p:cNvSpPr txBox="1"/>
                <p:nvPr/>
              </p:nvSpPr>
              <p:spPr>
                <a:xfrm>
                  <a:off x="1137941" y="1191028"/>
                  <a:ext cx="2773425" cy="93871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Price </a:t>
                  </a:r>
                </a:p>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rPr>
                    <a:t>Lorem ipsum is simply dummy text of the typesetting industry.</a:t>
                  </a:r>
                  <a:endParaRPr kumimoji="0" lang="en-US"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endParaRPr>
                </a:p>
              </p:txBody>
            </p:sp>
            <p:sp>
              <p:nvSpPr>
                <p:cNvPr id="26" name="Rectangle 25">
                  <a:extLst>
                    <a:ext uri="{FF2B5EF4-FFF2-40B4-BE49-F238E27FC236}">
                      <a16:creationId xmlns="" xmlns:a16="http://schemas.microsoft.com/office/drawing/2014/main" id="{0B472876-D555-5AC8-2CFE-0AA5A6DEFEE6}"/>
                    </a:ext>
                  </a:extLst>
                </p:cNvPr>
                <p:cNvSpPr/>
                <p:nvPr/>
              </p:nvSpPr>
              <p:spPr>
                <a:xfrm>
                  <a:off x="834248" y="1115937"/>
                  <a:ext cx="130503" cy="87345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27" name="Group 26">
                <a:extLst>
                  <a:ext uri="{FF2B5EF4-FFF2-40B4-BE49-F238E27FC236}">
                    <a16:creationId xmlns="" xmlns:a16="http://schemas.microsoft.com/office/drawing/2014/main" id="{D6872AFF-0205-9E58-56C9-60A7EA7E2487}"/>
                  </a:ext>
                </a:extLst>
              </p:cNvPr>
              <p:cNvGrpSpPr/>
              <p:nvPr/>
            </p:nvGrpSpPr>
            <p:grpSpPr>
              <a:xfrm flipH="1">
                <a:off x="8999840" y="3423694"/>
                <a:ext cx="3077118" cy="1013810"/>
                <a:chOff x="834248" y="1115937"/>
                <a:chExt cx="3077118" cy="1013810"/>
              </a:xfrm>
            </p:grpSpPr>
            <p:sp>
              <p:nvSpPr>
                <p:cNvPr id="28" name="TextBox 27">
                  <a:extLst>
                    <a:ext uri="{FF2B5EF4-FFF2-40B4-BE49-F238E27FC236}">
                      <a16:creationId xmlns="" xmlns:a16="http://schemas.microsoft.com/office/drawing/2014/main" id="{E78E2372-8203-E9D5-E986-B9B258759B6B}"/>
                    </a:ext>
                  </a:extLst>
                </p:cNvPr>
                <p:cNvSpPr txBox="1"/>
                <p:nvPr/>
              </p:nvSpPr>
              <p:spPr>
                <a:xfrm>
                  <a:off x="1137941" y="1191028"/>
                  <a:ext cx="2773425" cy="93871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Promotion </a:t>
                  </a:r>
                </a:p>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rPr>
                    <a:t>Lorem ipsum is simply dummy text of the typesetting industry.</a:t>
                  </a:r>
                  <a:endParaRPr kumimoji="0" lang="en-US"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endParaRPr>
                </a:p>
              </p:txBody>
            </p:sp>
            <p:sp>
              <p:nvSpPr>
                <p:cNvPr id="29" name="Rectangle 28">
                  <a:extLst>
                    <a:ext uri="{FF2B5EF4-FFF2-40B4-BE49-F238E27FC236}">
                      <a16:creationId xmlns="" xmlns:a16="http://schemas.microsoft.com/office/drawing/2014/main" id="{9308546C-0D67-2432-B4C9-55C296F432E5}"/>
                    </a:ext>
                  </a:extLst>
                </p:cNvPr>
                <p:cNvSpPr/>
                <p:nvPr/>
              </p:nvSpPr>
              <p:spPr>
                <a:xfrm>
                  <a:off x="834248" y="1115937"/>
                  <a:ext cx="130503" cy="8734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30" name="Group 29">
                <a:extLst>
                  <a:ext uri="{FF2B5EF4-FFF2-40B4-BE49-F238E27FC236}">
                    <a16:creationId xmlns="" xmlns:a16="http://schemas.microsoft.com/office/drawing/2014/main" id="{BF28C94A-18DC-62E3-AC32-84C40972B393}"/>
                  </a:ext>
                </a:extLst>
              </p:cNvPr>
              <p:cNvGrpSpPr/>
              <p:nvPr/>
            </p:nvGrpSpPr>
            <p:grpSpPr>
              <a:xfrm flipH="1">
                <a:off x="8999840" y="4687262"/>
                <a:ext cx="3077118" cy="1013810"/>
                <a:chOff x="834248" y="1115937"/>
                <a:chExt cx="3077118" cy="1013810"/>
              </a:xfrm>
            </p:grpSpPr>
            <p:sp>
              <p:nvSpPr>
                <p:cNvPr id="31" name="TextBox 30">
                  <a:extLst>
                    <a:ext uri="{FF2B5EF4-FFF2-40B4-BE49-F238E27FC236}">
                      <a16:creationId xmlns="" xmlns:a16="http://schemas.microsoft.com/office/drawing/2014/main" id="{8A2AD1BD-3417-1940-DEF2-42FCD571766B}"/>
                    </a:ext>
                  </a:extLst>
                </p:cNvPr>
                <p:cNvSpPr txBox="1"/>
                <p:nvPr/>
              </p:nvSpPr>
              <p:spPr>
                <a:xfrm>
                  <a:off x="1137941" y="1191028"/>
                  <a:ext cx="2773425" cy="93871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People  </a:t>
                  </a:r>
                </a:p>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rPr>
                    <a:t>Lorem ipsum is simply dummy text of the typesetting industry.</a:t>
                  </a:r>
                  <a:endParaRPr kumimoji="0" lang="en-US" sz="1400" b="0" i="0" u="none" strike="noStrike" kern="1200" cap="none" spc="0" normalizeH="0" baseline="0" noProof="0" dirty="0">
                    <a:ln>
                      <a:noFill/>
                    </a:ln>
                    <a:solidFill>
                      <a:srgbClr val="000000"/>
                    </a:solidFill>
                    <a:effectLst/>
                    <a:uLnTx/>
                    <a:uFillTx/>
                    <a:latin typeface="Georgia Pro Light" panose="02040302050405020303" pitchFamily="18" charset="0"/>
                    <a:ea typeface="+mn-ea"/>
                    <a:cs typeface="+mn-cs"/>
                  </a:endParaRPr>
                </a:p>
              </p:txBody>
            </p:sp>
            <p:sp>
              <p:nvSpPr>
                <p:cNvPr id="32" name="Rectangle 31">
                  <a:extLst>
                    <a:ext uri="{FF2B5EF4-FFF2-40B4-BE49-F238E27FC236}">
                      <a16:creationId xmlns="" xmlns:a16="http://schemas.microsoft.com/office/drawing/2014/main" id="{13BF9D84-B48F-FEB6-8192-34E2E6938520}"/>
                    </a:ext>
                  </a:extLst>
                </p:cNvPr>
                <p:cNvSpPr/>
                <p:nvPr/>
              </p:nvSpPr>
              <p:spPr>
                <a:xfrm>
                  <a:off x="834248" y="1115937"/>
                  <a:ext cx="130503" cy="8734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grpSp>
          <p:nvGrpSpPr>
            <p:cNvPr id="53" name="Group 52">
              <a:extLst>
                <a:ext uri="{FF2B5EF4-FFF2-40B4-BE49-F238E27FC236}">
                  <a16:creationId xmlns="" xmlns:a16="http://schemas.microsoft.com/office/drawing/2014/main" id="{F8A12B7F-1EC4-6F04-3856-06F12EF0D29E}"/>
                </a:ext>
              </a:extLst>
            </p:cNvPr>
            <p:cNvGrpSpPr/>
            <p:nvPr/>
          </p:nvGrpSpPr>
          <p:grpSpPr>
            <a:xfrm>
              <a:off x="4031137" y="1738236"/>
              <a:ext cx="4170920" cy="4170389"/>
              <a:chOff x="4130762" y="1538416"/>
              <a:chExt cx="4170920" cy="4170389"/>
            </a:xfrm>
          </p:grpSpPr>
          <p:grpSp>
            <p:nvGrpSpPr>
              <p:cNvPr id="10" name="Group 9">
                <a:extLst>
                  <a:ext uri="{FF2B5EF4-FFF2-40B4-BE49-F238E27FC236}">
                    <a16:creationId xmlns="" xmlns:a16="http://schemas.microsoft.com/office/drawing/2014/main" id="{D7B3B99E-C40D-B739-5BA5-C549FAAD72FE}"/>
                  </a:ext>
                </a:extLst>
              </p:cNvPr>
              <p:cNvGrpSpPr/>
              <p:nvPr/>
            </p:nvGrpSpPr>
            <p:grpSpPr>
              <a:xfrm>
                <a:off x="4130762" y="1538416"/>
                <a:ext cx="4170920" cy="4170389"/>
                <a:chOff x="4130762" y="1538416"/>
                <a:chExt cx="4170920" cy="4170389"/>
              </a:xfrm>
            </p:grpSpPr>
            <p:sp>
              <p:nvSpPr>
                <p:cNvPr id="2" name="Oval 1">
                  <a:extLst>
                    <a:ext uri="{FF2B5EF4-FFF2-40B4-BE49-F238E27FC236}">
                      <a16:creationId xmlns="" xmlns:a16="http://schemas.microsoft.com/office/drawing/2014/main" id="{B1BC9F88-31FF-57AB-B08C-17614B9A29A9}"/>
                    </a:ext>
                  </a:extLst>
                </p:cNvPr>
                <p:cNvSpPr/>
                <p:nvPr/>
              </p:nvSpPr>
              <p:spPr>
                <a:xfrm>
                  <a:off x="5397842" y="1538416"/>
                  <a:ext cx="1495167" cy="1495167"/>
                </a:xfrm>
                <a:prstGeom prst="ellipse">
                  <a:avLst/>
                </a:prstGeom>
                <a:solidFill>
                  <a:schemeClr val="accent2">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Oval 2">
                  <a:extLst>
                    <a:ext uri="{FF2B5EF4-FFF2-40B4-BE49-F238E27FC236}">
                      <a16:creationId xmlns="" xmlns:a16="http://schemas.microsoft.com/office/drawing/2014/main" id="{F2D3F65C-2C0C-EEDA-92BB-26E17F2B64B9}"/>
                    </a:ext>
                  </a:extLst>
                </p:cNvPr>
                <p:cNvSpPr/>
                <p:nvPr/>
              </p:nvSpPr>
              <p:spPr>
                <a:xfrm>
                  <a:off x="4347518" y="2100647"/>
                  <a:ext cx="1495167" cy="1495167"/>
                </a:xfrm>
                <a:prstGeom prst="ellipse">
                  <a:avLst/>
                </a:prstGeom>
                <a:solidFill>
                  <a:schemeClr val="accent1">
                    <a:lumMod val="5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Oval 3">
                  <a:extLst>
                    <a:ext uri="{FF2B5EF4-FFF2-40B4-BE49-F238E27FC236}">
                      <a16:creationId xmlns="" xmlns:a16="http://schemas.microsoft.com/office/drawing/2014/main" id="{C3676182-961A-DDD5-6E8F-F7955609EE95}"/>
                    </a:ext>
                  </a:extLst>
                </p:cNvPr>
                <p:cNvSpPr/>
                <p:nvPr/>
              </p:nvSpPr>
              <p:spPr>
                <a:xfrm>
                  <a:off x="4130762" y="3286890"/>
                  <a:ext cx="1495167" cy="1495167"/>
                </a:xfrm>
                <a:prstGeom prst="ellipse">
                  <a:avLst/>
                </a:prstGeom>
                <a:solidFill>
                  <a:schemeClr val="accent3">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Oval 4">
                  <a:extLst>
                    <a:ext uri="{FF2B5EF4-FFF2-40B4-BE49-F238E27FC236}">
                      <a16:creationId xmlns="" xmlns:a16="http://schemas.microsoft.com/office/drawing/2014/main" id="{1F071855-0F2F-D5C9-B3E1-634860E98109}"/>
                    </a:ext>
                  </a:extLst>
                </p:cNvPr>
                <p:cNvSpPr/>
                <p:nvPr/>
              </p:nvSpPr>
              <p:spPr>
                <a:xfrm>
                  <a:off x="6529002" y="2020332"/>
                  <a:ext cx="1495167" cy="1495167"/>
                </a:xfrm>
                <a:prstGeom prst="ellipse">
                  <a:avLst/>
                </a:prstGeom>
                <a:solidFill>
                  <a:schemeClr val="accent4">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Oval 5">
                  <a:extLst>
                    <a:ext uri="{FF2B5EF4-FFF2-40B4-BE49-F238E27FC236}">
                      <a16:creationId xmlns="" xmlns:a16="http://schemas.microsoft.com/office/drawing/2014/main" id="{C775F2EC-B98F-FA52-D369-687CB17D1D46}"/>
                    </a:ext>
                  </a:extLst>
                </p:cNvPr>
                <p:cNvSpPr/>
                <p:nvPr/>
              </p:nvSpPr>
              <p:spPr>
                <a:xfrm>
                  <a:off x="4865987" y="4213638"/>
                  <a:ext cx="1495167" cy="1495167"/>
                </a:xfrm>
                <a:prstGeom prst="ellipse">
                  <a:avLst/>
                </a:prstGeom>
                <a:solidFill>
                  <a:schemeClr val="accent5">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Oval 6">
                  <a:extLst>
                    <a:ext uri="{FF2B5EF4-FFF2-40B4-BE49-F238E27FC236}">
                      <a16:creationId xmlns="" xmlns:a16="http://schemas.microsoft.com/office/drawing/2014/main" id="{94DF272A-1838-0935-A000-8FF4E53F4D30}"/>
                    </a:ext>
                  </a:extLst>
                </p:cNvPr>
                <p:cNvSpPr/>
                <p:nvPr/>
              </p:nvSpPr>
              <p:spPr>
                <a:xfrm>
                  <a:off x="6806515" y="3237453"/>
                  <a:ext cx="1495167" cy="1495167"/>
                </a:xfrm>
                <a:prstGeom prst="ellipse">
                  <a:avLst/>
                </a:prstGeom>
                <a:solidFill>
                  <a:schemeClr val="accent6">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Oval 7">
                  <a:extLst>
                    <a:ext uri="{FF2B5EF4-FFF2-40B4-BE49-F238E27FC236}">
                      <a16:creationId xmlns="" xmlns:a16="http://schemas.microsoft.com/office/drawing/2014/main" id="{3FC44021-377D-5322-BF26-1015EA181F92}"/>
                    </a:ext>
                  </a:extLst>
                </p:cNvPr>
                <p:cNvSpPr/>
                <p:nvPr/>
              </p:nvSpPr>
              <p:spPr>
                <a:xfrm>
                  <a:off x="6108357" y="4176549"/>
                  <a:ext cx="1495167" cy="1495167"/>
                </a:xfrm>
                <a:prstGeom prst="ellipse">
                  <a:avLst/>
                </a:prstGeom>
                <a:solidFill>
                  <a:schemeClr val="accent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9" name="Oval 8">
                <a:extLst>
                  <a:ext uri="{FF2B5EF4-FFF2-40B4-BE49-F238E27FC236}">
                    <a16:creationId xmlns="" xmlns:a16="http://schemas.microsoft.com/office/drawing/2014/main" id="{86F81D14-C60E-27BC-8FA0-3AB3CC359C71}"/>
                  </a:ext>
                </a:extLst>
              </p:cNvPr>
              <p:cNvSpPr/>
              <p:nvPr/>
            </p:nvSpPr>
            <p:spPr>
              <a:xfrm>
                <a:off x="5107460" y="2533384"/>
                <a:ext cx="2217524" cy="2217524"/>
              </a:xfrm>
              <a:prstGeom prst="ellipse">
                <a:avLst/>
              </a:prstGeom>
              <a:solidFill>
                <a:schemeClr val="tx2">
                  <a:lumMod val="75000"/>
                  <a:lumOff val="2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6" name="Graphic 35" descr="Group">
                <a:extLst>
                  <a:ext uri="{FF2B5EF4-FFF2-40B4-BE49-F238E27FC236}">
                    <a16:creationId xmlns="" xmlns:a16="http://schemas.microsoft.com/office/drawing/2014/main" id="{4DA13D88-D9FC-9D54-FCBA-27A6CE29E7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6736752" y="4834576"/>
                <a:ext cx="457200" cy="457200"/>
              </a:xfrm>
              <a:prstGeom prst="rect">
                <a:avLst/>
              </a:prstGeom>
            </p:spPr>
          </p:pic>
          <p:pic>
            <p:nvPicPr>
              <p:cNvPr id="38" name="Graphic 37" descr="Handshake">
                <a:extLst>
                  <a:ext uri="{FF2B5EF4-FFF2-40B4-BE49-F238E27FC236}">
                    <a16:creationId xmlns="" xmlns:a16="http://schemas.microsoft.com/office/drawing/2014/main" id="{1D9AD66A-21EF-2427-5EE4-6D2F7AC1E54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7591685" y="3768815"/>
                <a:ext cx="457200" cy="457200"/>
              </a:xfrm>
              <a:prstGeom prst="rect">
                <a:avLst/>
              </a:prstGeom>
            </p:spPr>
          </p:pic>
          <p:pic>
            <p:nvPicPr>
              <p:cNvPr id="40" name="Graphic 39" descr="Coins">
                <a:extLst>
                  <a:ext uri="{FF2B5EF4-FFF2-40B4-BE49-F238E27FC236}">
                    <a16:creationId xmlns="" xmlns:a16="http://schemas.microsoft.com/office/drawing/2014/main" id="{E015ABEF-9780-9F0C-6EF7-74C8F687F06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7204764" y="2449716"/>
                <a:ext cx="457200" cy="457200"/>
              </a:xfrm>
              <a:prstGeom prst="rect">
                <a:avLst/>
              </a:prstGeom>
            </p:spPr>
          </p:pic>
          <p:pic>
            <p:nvPicPr>
              <p:cNvPr id="42" name="Graphic 41" descr="Magnet">
                <a:extLst>
                  <a:ext uri="{FF2B5EF4-FFF2-40B4-BE49-F238E27FC236}">
                    <a16:creationId xmlns="" xmlns:a16="http://schemas.microsoft.com/office/drawing/2014/main" id="{57AFC32E-2948-EC88-4EB7-7D36B87ECD0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4462590" y="3838481"/>
                <a:ext cx="457200" cy="457200"/>
              </a:xfrm>
              <a:prstGeom prst="rect">
                <a:avLst/>
              </a:prstGeom>
            </p:spPr>
          </p:pic>
          <p:pic>
            <p:nvPicPr>
              <p:cNvPr id="44" name="Graphic 43" descr="Circles with arrows">
                <a:extLst>
                  <a:ext uri="{FF2B5EF4-FFF2-40B4-BE49-F238E27FC236}">
                    <a16:creationId xmlns="" xmlns:a16="http://schemas.microsoft.com/office/drawing/2014/main" id="{5B94BE92-16EB-DC0A-302E-B6CB5047225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5382404" y="4871287"/>
                <a:ext cx="457200" cy="457200"/>
              </a:xfrm>
              <a:prstGeom prst="rect">
                <a:avLst/>
              </a:prstGeom>
            </p:spPr>
          </p:pic>
          <p:pic>
            <p:nvPicPr>
              <p:cNvPr id="46" name="Graphic 45" descr="Home">
                <a:extLst>
                  <a:ext uri="{FF2B5EF4-FFF2-40B4-BE49-F238E27FC236}">
                    <a16:creationId xmlns="" xmlns:a16="http://schemas.microsoft.com/office/drawing/2014/main" id="{36A7DC60-356F-39EE-42B5-67C03D902B6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5985207" y="1852491"/>
                <a:ext cx="457200" cy="457200"/>
              </a:xfrm>
              <a:prstGeom prst="rect">
                <a:avLst/>
              </a:prstGeom>
            </p:spPr>
          </p:pic>
          <p:pic>
            <p:nvPicPr>
              <p:cNvPr id="48" name="Graphic 47" descr="Advertising">
                <a:extLst>
                  <a:ext uri="{FF2B5EF4-FFF2-40B4-BE49-F238E27FC236}">
                    <a16:creationId xmlns="" xmlns:a16="http://schemas.microsoft.com/office/drawing/2014/main" id="{A16AB944-73D4-6378-572F-900388A1554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4770480" y="2635485"/>
                <a:ext cx="457200" cy="457200"/>
              </a:xfrm>
              <a:prstGeom prst="rect">
                <a:avLst/>
              </a:prstGeom>
            </p:spPr>
          </p:pic>
          <p:pic>
            <p:nvPicPr>
              <p:cNvPr id="51" name="Graphic 50" descr="Shopping cart">
                <a:extLst>
                  <a:ext uri="{FF2B5EF4-FFF2-40B4-BE49-F238E27FC236}">
                    <a16:creationId xmlns="" xmlns:a16="http://schemas.microsoft.com/office/drawing/2014/main" id="{8CB23F82-86C0-0F58-F731-6F67318E99B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 xmlns:asvg="http://schemas.microsoft.com/office/drawing/2016/SVG/main" r:embed="rId17"/>
                  </a:ext>
                </a:extLst>
              </a:blip>
              <a:stretch>
                <a:fillRect/>
              </a:stretch>
            </p:blipFill>
            <p:spPr>
              <a:xfrm>
                <a:off x="5813599" y="3179633"/>
                <a:ext cx="914400" cy="914400"/>
              </a:xfrm>
              <a:prstGeom prst="rect">
                <a:avLst/>
              </a:prstGeom>
            </p:spPr>
          </p:pic>
        </p:grpSp>
      </p:grpSp>
    </p:spTree>
    <p:extLst>
      <p:ext uri="{BB962C8B-B14F-4D97-AF65-F5344CB8AC3E}">
        <p14:creationId xmlns:p14="http://schemas.microsoft.com/office/powerpoint/2010/main" val="22575723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7Ps Of Online Marketing"/>
          <p:cNvPicPr/>
          <p:nvPr/>
        </p:nvPicPr>
        <p:blipFill>
          <a:blip r:embed="rId2">
            <a:extLst>
              <a:ext uri="{28A0092B-C50C-407E-A947-70E740481C1C}">
                <a14:useLocalDpi xmlns:a14="http://schemas.microsoft.com/office/drawing/2010/main" val="0"/>
              </a:ext>
            </a:extLst>
          </a:blip>
          <a:srcRect/>
          <a:stretch>
            <a:fillRect/>
          </a:stretch>
        </p:blipFill>
        <p:spPr bwMode="auto">
          <a:xfrm>
            <a:off x="2400300" y="338203"/>
            <a:ext cx="4343400" cy="5824602"/>
          </a:xfrm>
          <a:prstGeom prst="rect">
            <a:avLst/>
          </a:prstGeom>
          <a:noFill/>
          <a:ln>
            <a:noFill/>
          </a:ln>
        </p:spPr>
      </p:pic>
    </p:spTree>
    <p:extLst>
      <p:ext uri="{BB962C8B-B14F-4D97-AF65-F5344CB8AC3E}">
        <p14:creationId xmlns:p14="http://schemas.microsoft.com/office/powerpoint/2010/main" val="3767323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5781" y="758878"/>
            <a:ext cx="7603298" cy="4247317"/>
          </a:xfrm>
          <a:prstGeom prst="rect">
            <a:avLst/>
          </a:prstGeom>
        </p:spPr>
        <p:txBody>
          <a:bodyPr wrap="square">
            <a:spAutoFit/>
          </a:bodyPr>
          <a:lstStyle/>
          <a:p>
            <a:pPr lvl="0"/>
            <a:r>
              <a:rPr lang="en-IN" b="1" dirty="0"/>
              <a:t>The 7 P's:</a:t>
            </a:r>
            <a:endParaRPr lang="en-IN" sz="1400" dirty="0"/>
          </a:p>
          <a:p>
            <a:pPr lvl="1"/>
            <a:r>
              <a:rPr lang="en-IN" b="1" dirty="0"/>
              <a:t>Product:</a:t>
            </a:r>
            <a:r>
              <a:rPr lang="en-IN" dirty="0"/>
              <a:t> What you're selling (goods or services) in the digital space. Consider features, quality, design, and branding.</a:t>
            </a:r>
            <a:endParaRPr lang="en-IN" sz="1400" dirty="0"/>
          </a:p>
          <a:p>
            <a:pPr lvl="1"/>
            <a:r>
              <a:rPr lang="en-IN" b="1" dirty="0"/>
              <a:t>Price:</a:t>
            </a:r>
            <a:r>
              <a:rPr lang="en-IN" dirty="0"/>
              <a:t> How you price your offering online (pricing strategies, discounts, etc.).</a:t>
            </a:r>
            <a:endParaRPr lang="en-IN" sz="1400" dirty="0"/>
          </a:p>
          <a:p>
            <a:pPr lvl="1"/>
            <a:r>
              <a:rPr lang="en-IN" b="1" dirty="0"/>
              <a:t>Place/Platform:</a:t>
            </a:r>
            <a:r>
              <a:rPr lang="en-IN" dirty="0"/>
              <a:t> Where your target audience is online (social media, websites, etc.).</a:t>
            </a:r>
            <a:endParaRPr lang="en-IN" sz="1400" dirty="0"/>
          </a:p>
          <a:p>
            <a:pPr lvl="1"/>
            <a:r>
              <a:rPr lang="en-IN" b="1" dirty="0"/>
              <a:t>Promotion:</a:t>
            </a:r>
            <a:r>
              <a:rPr lang="en-IN" dirty="0"/>
              <a:t> How you advertise and market your product/service online (SEO, social media, email marketing, etc.).</a:t>
            </a:r>
            <a:endParaRPr lang="en-IN" sz="1400" dirty="0"/>
          </a:p>
          <a:p>
            <a:pPr lvl="1"/>
            <a:r>
              <a:rPr lang="en-IN" b="1" dirty="0"/>
              <a:t>People:</a:t>
            </a:r>
            <a:r>
              <a:rPr lang="en-IN" dirty="0"/>
              <a:t> The individuals involved in the marketing process, both internally (marketing team) and externally (customers).</a:t>
            </a:r>
            <a:endParaRPr lang="en-IN" sz="1400" dirty="0"/>
          </a:p>
          <a:p>
            <a:pPr lvl="1"/>
            <a:r>
              <a:rPr lang="en-IN" b="1" dirty="0"/>
              <a:t>Process:</a:t>
            </a:r>
            <a:r>
              <a:rPr lang="en-IN" dirty="0"/>
              <a:t> The steps customers take to interact with your business online (website navigation, checkout process, etc.).</a:t>
            </a:r>
            <a:endParaRPr lang="en-IN" sz="1400" dirty="0"/>
          </a:p>
          <a:p>
            <a:pPr lvl="1"/>
            <a:r>
              <a:rPr lang="en-IN" b="1" dirty="0"/>
              <a:t>Physical Evidence:</a:t>
            </a:r>
            <a:r>
              <a:rPr lang="en-IN" dirty="0"/>
              <a:t> Everything customers see and experience online (website design, social media presence, online reviews, etc.). </a:t>
            </a:r>
            <a:endParaRPr lang="en-IN" sz="1400" dirty="0"/>
          </a:p>
        </p:txBody>
      </p:sp>
    </p:spTree>
    <p:extLst>
      <p:ext uri="{BB962C8B-B14F-4D97-AF65-F5344CB8AC3E}">
        <p14:creationId xmlns:p14="http://schemas.microsoft.com/office/powerpoint/2010/main" val="4117775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625" y="58847"/>
            <a:ext cx="8580328" cy="4247317"/>
          </a:xfrm>
          <a:prstGeom prst="rect">
            <a:avLst/>
          </a:prstGeom>
        </p:spPr>
        <p:txBody>
          <a:bodyPr wrap="square">
            <a:spAutoFit/>
          </a:bodyPr>
          <a:lstStyle/>
          <a:p>
            <a:pPr lvl="0"/>
            <a:r>
              <a:rPr lang="en-IN" b="1" dirty="0"/>
              <a:t>Need for Emails:</a:t>
            </a:r>
            <a:endParaRPr lang="en-IN" sz="1400" dirty="0"/>
          </a:p>
          <a:p>
            <a:pPr lvl="1"/>
            <a:r>
              <a:rPr lang="en-IN" dirty="0"/>
              <a:t>Direct and personalized communication with customers.</a:t>
            </a:r>
            <a:endParaRPr lang="en-IN" sz="1400" dirty="0"/>
          </a:p>
          <a:p>
            <a:pPr lvl="1"/>
            <a:r>
              <a:rPr lang="en-IN" dirty="0"/>
              <a:t>Build relationships and loyalty.</a:t>
            </a:r>
            <a:endParaRPr lang="en-IN" sz="1400" dirty="0"/>
          </a:p>
          <a:p>
            <a:pPr lvl="1"/>
            <a:r>
              <a:rPr lang="en-IN" dirty="0"/>
              <a:t>Promote products, offers, and content.</a:t>
            </a:r>
            <a:endParaRPr lang="en-IN" sz="1400" dirty="0"/>
          </a:p>
          <a:p>
            <a:pPr lvl="1"/>
            <a:r>
              <a:rPr lang="en-IN" dirty="0"/>
              <a:t>Drive traffic to your website.</a:t>
            </a:r>
            <a:endParaRPr lang="en-IN" sz="1400" dirty="0"/>
          </a:p>
          <a:p>
            <a:pPr lvl="0"/>
            <a:r>
              <a:rPr lang="en-IN" b="1" dirty="0"/>
              <a:t>Types of Emails:</a:t>
            </a:r>
            <a:endParaRPr lang="en-IN" sz="1400" dirty="0"/>
          </a:p>
          <a:p>
            <a:pPr lvl="1"/>
            <a:r>
              <a:rPr lang="en-IN" b="1" dirty="0"/>
              <a:t>Welcome Emails:</a:t>
            </a:r>
            <a:r>
              <a:rPr lang="en-IN" dirty="0"/>
              <a:t> Sent to new subscribers.</a:t>
            </a:r>
            <a:endParaRPr lang="en-IN" sz="1400" dirty="0"/>
          </a:p>
          <a:p>
            <a:pPr lvl="1"/>
            <a:r>
              <a:rPr lang="en-IN" b="1" dirty="0"/>
              <a:t>Promotional Emails:</a:t>
            </a:r>
            <a:r>
              <a:rPr lang="en-IN" dirty="0"/>
              <a:t> Announce sales, discounts, new products.</a:t>
            </a:r>
            <a:endParaRPr lang="en-IN" sz="1400" dirty="0"/>
          </a:p>
          <a:p>
            <a:pPr lvl="1"/>
            <a:r>
              <a:rPr lang="en-IN" b="1" dirty="0"/>
              <a:t>Newsletters:</a:t>
            </a:r>
            <a:r>
              <a:rPr lang="en-IN" dirty="0"/>
              <a:t> Share company updates, industry news, and valuable content.</a:t>
            </a:r>
            <a:endParaRPr lang="en-IN" sz="1400" dirty="0"/>
          </a:p>
          <a:p>
            <a:pPr lvl="1"/>
            <a:r>
              <a:rPr lang="en-IN" b="1" dirty="0"/>
              <a:t>Abandoned Cart Emails:</a:t>
            </a:r>
            <a:r>
              <a:rPr lang="en-IN" dirty="0"/>
              <a:t> Remind customers about items left in their carts.</a:t>
            </a:r>
            <a:endParaRPr lang="en-IN" sz="1400" dirty="0"/>
          </a:p>
          <a:p>
            <a:pPr lvl="1"/>
            <a:r>
              <a:rPr lang="en-IN" b="1" dirty="0"/>
              <a:t>Transactional Emails:</a:t>
            </a:r>
            <a:r>
              <a:rPr lang="en-IN" dirty="0"/>
              <a:t> Confirmations, shipping updates, etc.</a:t>
            </a:r>
            <a:endParaRPr lang="en-IN" sz="1400" dirty="0"/>
          </a:p>
          <a:p>
            <a:pPr lvl="0"/>
            <a:r>
              <a:rPr lang="en-IN" b="1" dirty="0"/>
              <a:t>Email Advertising Options:</a:t>
            </a:r>
            <a:endParaRPr lang="en-IN" sz="1400" dirty="0"/>
          </a:p>
          <a:p>
            <a:pPr lvl="1"/>
            <a:r>
              <a:rPr lang="en-IN" b="1" dirty="0"/>
              <a:t>Banner Ads:</a:t>
            </a:r>
            <a:r>
              <a:rPr lang="en-IN" dirty="0"/>
              <a:t> Displayed within email newsletters.</a:t>
            </a:r>
            <a:endParaRPr lang="en-IN" sz="1400" dirty="0"/>
          </a:p>
          <a:p>
            <a:pPr lvl="1"/>
            <a:r>
              <a:rPr lang="en-IN" b="1" dirty="0"/>
              <a:t>Sponsored Emails:</a:t>
            </a:r>
            <a:r>
              <a:rPr lang="en-IN" dirty="0"/>
              <a:t> Emails from other companies promoting your product.</a:t>
            </a:r>
            <a:endParaRPr lang="en-IN" sz="1400" dirty="0"/>
          </a:p>
          <a:p>
            <a:pPr lvl="1"/>
            <a:r>
              <a:rPr lang="en-IN" b="1" dirty="0"/>
              <a:t>Email List Rentals:</a:t>
            </a:r>
            <a:r>
              <a:rPr lang="en-IN" dirty="0"/>
              <a:t> Renting email lists from other businesses.</a:t>
            </a:r>
            <a:endParaRPr lang="en-IN" sz="1400" dirty="0"/>
          </a:p>
        </p:txBody>
      </p:sp>
    </p:spTree>
    <p:extLst>
      <p:ext uri="{BB962C8B-B14F-4D97-AF65-F5344CB8AC3E}">
        <p14:creationId xmlns:p14="http://schemas.microsoft.com/office/powerpoint/2010/main" val="901893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Development of Marketing Mix"/>
          <p:cNvPicPr/>
          <p:nvPr/>
        </p:nvPicPr>
        <p:blipFill>
          <a:blip r:embed="rId2">
            <a:extLst>
              <a:ext uri="{28A0092B-C50C-407E-A947-70E740481C1C}">
                <a14:useLocalDpi xmlns:a14="http://schemas.microsoft.com/office/drawing/2010/main" val="0"/>
              </a:ext>
            </a:extLst>
          </a:blip>
          <a:srcRect/>
          <a:stretch>
            <a:fillRect/>
          </a:stretch>
        </p:blipFill>
        <p:spPr bwMode="auto">
          <a:xfrm>
            <a:off x="112734" y="-438150"/>
            <a:ext cx="8868428" cy="5661503"/>
          </a:xfrm>
          <a:prstGeom prst="rect">
            <a:avLst/>
          </a:prstGeom>
          <a:noFill/>
          <a:ln>
            <a:noFill/>
          </a:ln>
        </p:spPr>
      </p:pic>
    </p:spTree>
    <p:extLst>
      <p:ext uri="{BB962C8B-B14F-4D97-AF65-F5344CB8AC3E}">
        <p14:creationId xmlns:p14="http://schemas.microsoft.com/office/powerpoint/2010/main" val="611069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8857" y="511273"/>
            <a:ext cx="8417491" cy="5909310"/>
          </a:xfrm>
          <a:prstGeom prst="rect">
            <a:avLst/>
          </a:prstGeom>
        </p:spPr>
        <p:txBody>
          <a:bodyPr wrap="square">
            <a:spAutoFit/>
          </a:bodyPr>
          <a:lstStyle/>
          <a:p>
            <a:pPr marL="285750" indent="-285750" fontAlgn="base">
              <a:buFont typeface="Arial" pitchFamily="34" charset="0"/>
              <a:buChar char="•"/>
            </a:pPr>
            <a:r>
              <a:rPr lang="en-IN" dirty="0" smtClean="0"/>
              <a:t>In </a:t>
            </a:r>
            <a:r>
              <a:rPr lang="en-IN" dirty="0"/>
              <a:t>an online marketing mix, the product has to be 100% online, meaning the product has no physical features. For example, selling traditional products on an online store won’t be good enough.</a:t>
            </a:r>
          </a:p>
          <a:p>
            <a:pPr marL="285750" indent="-285750" fontAlgn="base">
              <a:buFont typeface="Arial" pitchFamily="34" charset="0"/>
              <a:buChar char="•"/>
            </a:pPr>
            <a:r>
              <a:rPr lang="en-IN" dirty="0"/>
              <a:t>We have to look at the online product as something scalable in nature, which processes all revolve around being online such as:</a:t>
            </a:r>
          </a:p>
          <a:p>
            <a:pPr marL="285750" lvl="0" indent="-285750" fontAlgn="base">
              <a:buFont typeface="Arial" pitchFamily="34" charset="0"/>
              <a:buChar char="•"/>
            </a:pPr>
            <a:r>
              <a:rPr lang="en-IN" dirty="0"/>
              <a:t>The creation and management of the product</a:t>
            </a:r>
          </a:p>
          <a:p>
            <a:pPr marL="285750" lvl="0" indent="-285750" fontAlgn="base">
              <a:buFont typeface="Arial" pitchFamily="34" charset="0"/>
              <a:buChar char="•"/>
            </a:pPr>
            <a:r>
              <a:rPr lang="en-IN" dirty="0"/>
              <a:t>The pricing of the product</a:t>
            </a:r>
          </a:p>
          <a:p>
            <a:pPr marL="285750" indent="-285750">
              <a:buFont typeface="Arial" pitchFamily="34" charset="0"/>
              <a:buChar char="•"/>
            </a:pPr>
            <a:r>
              <a:rPr lang="en-IN" dirty="0" smtClean="0"/>
              <a:t>Distribution of the product</a:t>
            </a:r>
          </a:p>
          <a:p>
            <a:pPr marL="285750" lvl="0" indent="-285750" fontAlgn="base">
              <a:buFont typeface="Arial" pitchFamily="34" charset="0"/>
              <a:buChar char="•"/>
            </a:pPr>
            <a:r>
              <a:rPr lang="en-IN" dirty="0" smtClean="0"/>
              <a:t>What </a:t>
            </a:r>
            <a:r>
              <a:rPr lang="en-IN" dirty="0"/>
              <a:t>is the online brand of the created product?</a:t>
            </a:r>
          </a:p>
          <a:p>
            <a:pPr marL="285750" lvl="0" indent="-285750" fontAlgn="base">
              <a:buFont typeface="Arial" pitchFamily="34" charset="0"/>
              <a:buChar char="•"/>
            </a:pPr>
            <a:r>
              <a:rPr lang="en-IN" dirty="0"/>
              <a:t>Does the online product have a product line or a set of products in a range?</a:t>
            </a:r>
          </a:p>
          <a:p>
            <a:pPr marL="285750" lvl="0" indent="-285750" fontAlgn="base">
              <a:buFont typeface="Arial" pitchFamily="34" charset="0"/>
              <a:buChar char="•"/>
            </a:pPr>
            <a:r>
              <a:rPr lang="en-IN" dirty="0"/>
              <a:t>What are the extra services around the product?</a:t>
            </a:r>
          </a:p>
          <a:p>
            <a:pPr marL="285750" lvl="0" indent="-285750" fontAlgn="base">
              <a:buFont typeface="Arial" pitchFamily="34" charset="0"/>
              <a:buChar char="•"/>
            </a:pPr>
            <a:r>
              <a:rPr lang="en-IN" dirty="0"/>
              <a:t>How would the end cycle of the online product look? Is it upgradeable, or is it update-based, for example?</a:t>
            </a:r>
          </a:p>
          <a:p>
            <a:pPr marL="285750" lvl="0" indent="-285750" fontAlgn="base">
              <a:buFont typeface="Arial" pitchFamily="34" charset="0"/>
              <a:buChar char="•"/>
            </a:pPr>
            <a:r>
              <a:rPr lang="en-IN" dirty="0"/>
              <a:t>What are the guarantees of the said online product?</a:t>
            </a:r>
          </a:p>
          <a:p>
            <a:pPr marL="285750" lvl="0" indent="-285750" fontAlgn="base">
              <a:buFont typeface="Arial" pitchFamily="34" charset="0"/>
              <a:buChar char="•"/>
            </a:pPr>
            <a:r>
              <a:rPr lang="en-IN" dirty="0"/>
              <a:t>How to design your online delivery?</a:t>
            </a:r>
          </a:p>
          <a:p>
            <a:pPr marL="285750" lvl="0" indent="-285750" fontAlgn="base">
              <a:buFont typeface="Arial" pitchFamily="34" charset="0"/>
              <a:buChar char="•"/>
            </a:pPr>
            <a:r>
              <a:rPr lang="en-IN" dirty="0"/>
              <a:t>How to design an online product?</a:t>
            </a:r>
          </a:p>
          <a:p>
            <a:pPr marL="285750" lvl="0" indent="-285750" fontAlgn="base">
              <a:buFont typeface="Arial" pitchFamily="34" charset="0"/>
              <a:buChar char="•"/>
            </a:pPr>
            <a:r>
              <a:rPr lang="en-IN" dirty="0"/>
              <a:t>What features to include?</a:t>
            </a:r>
          </a:p>
          <a:p>
            <a:pPr marL="285750" lvl="0" indent="-285750" fontAlgn="base">
              <a:buFont typeface="Arial" pitchFamily="34" charset="0"/>
              <a:buChar char="•"/>
            </a:pPr>
            <a:r>
              <a:rPr lang="en-IN" dirty="0"/>
              <a:t>The quality of the online product?</a:t>
            </a:r>
          </a:p>
          <a:p>
            <a:pPr marL="285750" indent="-285750" fontAlgn="base">
              <a:buFont typeface="Arial" pitchFamily="34" charset="0"/>
              <a:buChar char="•"/>
            </a:pPr>
            <a:r>
              <a:rPr lang="en-IN" dirty="0"/>
              <a:t>Answering all the questions above, you’re closer to producing a high-quality online product to modify your business model.</a:t>
            </a:r>
          </a:p>
          <a:p>
            <a:pPr marL="285750" indent="-285750">
              <a:buFont typeface="Arial" pitchFamily="34" charset="0"/>
              <a:buChar char="•"/>
            </a:pPr>
            <a:endParaRPr lang="en-IN" dirty="0"/>
          </a:p>
        </p:txBody>
      </p:sp>
      <p:sp>
        <p:nvSpPr>
          <p:cNvPr id="3" name="Rectangle 2"/>
          <p:cNvSpPr/>
          <p:nvPr/>
        </p:nvSpPr>
        <p:spPr>
          <a:xfrm>
            <a:off x="308857" y="137879"/>
            <a:ext cx="935513" cy="369332"/>
          </a:xfrm>
          <a:prstGeom prst="rect">
            <a:avLst/>
          </a:prstGeom>
        </p:spPr>
        <p:txBody>
          <a:bodyPr wrap="none">
            <a:spAutoFit/>
          </a:bodyPr>
          <a:lstStyle/>
          <a:p>
            <a:pPr fontAlgn="base"/>
            <a:r>
              <a:rPr lang="en-IN" b="1" dirty="0"/>
              <a:t>Product</a:t>
            </a:r>
          </a:p>
        </p:txBody>
      </p:sp>
    </p:spTree>
    <p:extLst>
      <p:ext uri="{BB962C8B-B14F-4D97-AF65-F5344CB8AC3E}">
        <p14:creationId xmlns:p14="http://schemas.microsoft.com/office/powerpoint/2010/main" val="23346055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5780" y="1201352"/>
            <a:ext cx="8567803" cy="4524315"/>
          </a:xfrm>
          <a:prstGeom prst="rect">
            <a:avLst/>
          </a:prstGeom>
        </p:spPr>
        <p:txBody>
          <a:bodyPr wrap="square">
            <a:spAutoFit/>
          </a:bodyPr>
          <a:lstStyle/>
          <a:p>
            <a:pPr fontAlgn="base"/>
            <a:r>
              <a:rPr lang="en-IN" dirty="0" smtClean="0"/>
              <a:t>Price </a:t>
            </a:r>
            <a:r>
              <a:rPr lang="en-IN" dirty="0"/>
              <a:t>in an online marketing mix refers to the cost of a product your customer will pay. In the price, we need to include secondary factors, for example, what is the customer’s perceived value of an online product and consider how much time it takes for a customer to acquire a product</a:t>
            </a:r>
            <a:r>
              <a:rPr lang="en-IN" dirty="0" smtClean="0"/>
              <a:t>.</a:t>
            </a:r>
          </a:p>
          <a:p>
            <a:pPr fontAlgn="base"/>
            <a:r>
              <a:rPr lang="en-IN" dirty="0"/>
              <a:t>Including customers, time spent on acquiring your products in the pricing strategy helps you develop more accurate pricing for your products. We associate online products with being instant in the acquisition, but in most cases, there are multiple steps involved for the customer.</a:t>
            </a:r>
          </a:p>
          <a:p>
            <a:pPr fontAlgn="base"/>
            <a:r>
              <a:rPr lang="en-IN" dirty="0"/>
              <a:t>For example:</a:t>
            </a:r>
          </a:p>
          <a:p>
            <a:pPr lvl="0" fontAlgn="base"/>
            <a:r>
              <a:rPr lang="en-IN" dirty="0"/>
              <a:t>Pre-registration and registration</a:t>
            </a:r>
          </a:p>
          <a:p>
            <a:pPr lvl="0" fontAlgn="base"/>
            <a:r>
              <a:rPr lang="en-IN" dirty="0" err="1"/>
              <a:t>Onboarding</a:t>
            </a:r>
            <a:endParaRPr lang="en-IN" dirty="0"/>
          </a:p>
          <a:p>
            <a:pPr lvl="0" fontAlgn="base"/>
            <a:r>
              <a:rPr lang="en-IN" dirty="0"/>
              <a:t>Checkout and purchase process length</a:t>
            </a:r>
          </a:p>
          <a:p>
            <a:pPr lvl="0" fontAlgn="base"/>
            <a:r>
              <a:rPr lang="en-IN" dirty="0"/>
              <a:t>Download times</a:t>
            </a:r>
          </a:p>
          <a:p>
            <a:pPr fontAlgn="base"/>
            <a:r>
              <a:rPr lang="en-IN" dirty="0"/>
              <a:t>A long acquisition time increases the cost for the customers, which leads to a loss of sales.</a:t>
            </a:r>
          </a:p>
          <a:p>
            <a:pPr fontAlgn="base"/>
            <a:endParaRPr lang="en-IN" dirty="0"/>
          </a:p>
        </p:txBody>
      </p:sp>
      <p:sp>
        <p:nvSpPr>
          <p:cNvPr id="3" name="Rectangle 2"/>
          <p:cNvSpPr/>
          <p:nvPr/>
        </p:nvSpPr>
        <p:spPr>
          <a:xfrm>
            <a:off x="1091978" y="830035"/>
            <a:ext cx="671979" cy="369332"/>
          </a:xfrm>
          <a:prstGeom prst="rect">
            <a:avLst/>
          </a:prstGeom>
        </p:spPr>
        <p:txBody>
          <a:bodyPr wrap="none">
            <a:spAutoFit/>
          </a:bodyPr>
          <a:lstStyle/>
          <a:p>
            <a:pPr fontAlgn="base"/>
            <a:r>
              <a:rPr lang="en-IN" b="1" dirty="0"/>
              <a:t>Price</a:t>
            </a:r>
          </a:p>
        </p:txBody>
      </p:sp>
    </p:spTree>
    <p:extLst>
      <p:ext uri="{BB962C8B-B14F-4D97-AF65-F5344CB8AC3E}">
        <p14:creationId xmlns:p14="http://schemas.microsoft.com/office/powerpoint/2010/main" val="2914051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4191" y="1536516"/>
            <a:ext cx="7716033" cy="2862322"/>
          </a:xfrm>
          <a:prstGeom prst="rect">
            <a:avLst/>
          </a:prstGeom>
        </p:spPr>
        <p:txBody>
          <a:bodyPr wrap="square">
            <a:spAutoFit/>
          </a:bodyPr>
          <a:lstStyle/>
          <a:p>
            <a:pPr marL="285750" indent="-285750" fontAlgn="base">
              <a:buFont typeface="Arial" pitchFamily="34" charset="0"/>
              <a:buChar char="•"/>
            </a:pPr>
            <a:r>
              <a:rPr lang="en-IN" dirty="0" smtClean="0"/>
              <a:t>Place </a:t>
            </a:r>
            <a:r>
              <a:rPr lang="en-IN" dirty="0"/>
              <a:t>in the online marketing mix means the place where and how you provide your customers access to your products. In online marketing, there are many options for you to sell on a wide range of platforms and methods</a:t>
            </a:r>
            <a:r>
              <a:rPr lang="en-IN" dirty="0" smtClean="0"/>
              <a:t>.</a:t>
            </a:r>
          </a:p>
          <a:p>
            <a:pPr marL="285750" lvl="0" indent="-285750" fontAlgn="base">
              <a:buFont typeface="Arial" pitchFamily="34" charset="0"/>
              <a:buChar char="•"/>
            </a:pPr>
            <a:r>
              <a:rPr lang="en-IN" dirty="0"/>
              <a:t>Social media platforms (Either by selling directly (Facebook Shop) or by referring traffic to another owned channel)</a:t>
            </a:r>
          </a:p>
          <a:p>
            <a:pPr marL="285750" lvl="0" indent="-285750" fontAlgn="base">
              <a:buFont typeface="Arial" pitchFamily="34" charset="0"/>
              <a:buChar char="•"/>
            </a:pPr>
            <a:r>
              <a:rPr lang="en-IN" dirty="0"/>
              <a:t>Dedicated online store (</a:t>
            </a:r>
            <a:r>
              <a:rPr lang="en-IN" u="sng" dirty="0" err="1">
                <a:hlinkClick r:id="rId2"/>
              </a:rPr>
              <a:t>Shopify</a:t>
            </a:r>
            <a:r>
              <a:rPr lang="en-IN" dirty="0"/>
              <a:t>, </a:t>
            </a:r>
            <a:r>
              <a:rPr lang="en-IN" dirty="0" err="1"/>
              <a:t>WooCommerce</a:t>
            </a:r>
            <a:r>
              <a:rPr lang="en-IN" dirty="0"/>
              <a:t>), </a:t>
            </a:r>
            <a:r>
              <a:rPr lang="en-IN" u="sng" dirty="0">
                <a:hlinkClick r:id="rId3"/>
              </a:rPr>
              <a:t>landing pages</a:t>
            </a:r>
            <a:r>
              <a:rPr lang="en-IN" dirty="0"/>
              <a:t> with purchase features.</a:t>
            </a:r>
          </a:p>
          <a:p>
            <a:pPr marL="285750" lvl="0" indent="-285750" fontAlgn="base">
              <a:buFont typeface="Arial" pitchFamily="34" charset="0"/>
              <a:buChar char="•"/>
            </a:pPr>
            <a:r>
              <a:rPr lang="en-IN" dirty="0"/>
              <a:t>Online marketplaces (Amazon, eBay, </a:t>
            </a:r>
            <a:r>
              <a:rPr lang="en-IN" dirty="0" err="1"/>
              <a:t>Etsy</a:t>
            </a:r>
            <a:r>
              <a:rPr lang="en-IN" dirty="0"/>
              <a:t>, other niche marketplaces)</a:t>
            </a:r>
          </a:p>
          <a:p>
            <a:pPr marL="285750" indent="-285750" fontAlgn="base">
              <a:buFont typeface="Arial" pitchFamily="34" charset="0"/>
              <a:buChar char="•"/>
            </a:pPr>
            <a:endParaRPr lang="en-IN" dirty="0" smtClean="0"/>
          </a:p>
          <a:p>
            <a:pPr fontAlgn="base"/>
            <a:endParaRPr lang="en-IN" dirty="0"/>
          </a:p>
        </p:txBody>
      </p:sp>
      <p:sp>
        <p:nvSpPr>
          <p:cNvPr id="3" name="Rectangle 2"/>
          <p:cNvSpPr/>
          <p:nvPr/>
        </p:nvSpPr>
        <p:spPr>
          <a:xfrm>
            <a:off x="1282478" y="952071"/>
            <a:ext cx="716863" cy="369332"/>
          </a:xfrm>
          <a:prstGeom prst="rect">
            <a:avLst/>
          </a:prstGeom>
        </p:spPr>
        <p:txBody>
          <a:bodyPr wrap="none">
            <a:spAutoFit/>
          </a:bodyPr>
          <a:lstStyle/>
          <a:p>
            <a:pPr fontAlgn="base"/>
            <a:r>
              <a:rPr lang="en-IN" b="1" dirty="0"/>
              <a:t>Place</a:t>
            </a:r>
          </a:p>
        </p:txBody>
      </p:sp>
    </p:spTree>
    <p:extLst>
      <p:ext uri="{BB962C8B-B14F-4D97-AF65-F5344CB8AC3E}">
        <p14:creationId xmlns:p14="http://schemas.microsoft.com/office/powerpoint/2010/main" val="3596691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1144" y="977123"/>
            <a:ext cx="8455069" cy="4801314"/>
          </a:xfrm>
          <a:prstGeom prst="rect">
            <a:avLst/>
          </a:prstGeom>
        </p:spPr>
        <p:txBody>
          <a:bodyPr wrap="square">
            <a:spAutoFit/>
          </a:bodyPr>
          <a:lstStyle/>
          <a:p>
            <a:pPr fontAlgn="base"/>
            <a:r>
              <a:rPr lang="en-IN" dirty="0" smtClean="0"/>
              <a:t>Promotion </a:t>
            </a:r>
            <a:r>
              <a:rPr lang="en-IN" dirty="0"/>
              <a:t>in the online marketing mix is the use of online marketing communication tools to reach your target audiences. Promotion includes the use of online advertising, public relations, direct communication, and sales promotions to reach and influence an audience</a:t>
            </a:r>
            <a:r>
              <a:rPr lang="en-IN" dirty="0" smtClean="0"/>
              <a:t>.</a:t>
            </a:r>
          </a:p>
          <a:p>
            <a:pPr fontAlgn="base"/>
            <a:r>
              <a:rPr lang="en-IN" dirty="0"/>
              <a:t>Methods Of Online Marketing Promotion For Consideration:</a:t>
            </a:r>
          </a:p>
          <a:p>
            <a:pPr lvl="0" fontAlgn="base"/>
            <a:r>
              <a:rPr lang="en-IN" u="sng" dirty="0">
                <a:hlinkClick r:id="rId2"/>
              </a:rPr>
              <a:t>Search Engine Marketing</a:t>
            </a:r>
            <a:r>
              <a:rPr lang="en-IN" dirty="0"/>
              <a:t> (Google, Bing)</a:t>
            </a:r>
          </a:p>
          <a:p>
            <a:pPr lvl="0" fontAlgn="base"/>
            <a:r>
              <a:rPr lang="en-IN" u="sng" dirty="0">
                <a:hlinkClick r:id="rId3"/>
              </a:rPr>
              <a:t>Search Engine Optimization</a:t>
            </a:r>
            <a:r>
              <a:rPr lang="en-IN" dirty="0"/>
              <a:t> (SEO)</a:t>
            </a:r>
          </a:p>
          <a:p>
            <a:pPr lvl="0" fontAlgn="base"/>
            <a:r>
              <a:rPr lang="en-IN" u="sng" dirty="0">
                <a:hlinkClick r:id="rId4"/>
              </a:rPr>
              <a:t>Content Marketing</a:t>
            </a:r>
            <a:endParaRPr lang="en-IN" dirty="0"/>
          </a:p>
          <a:p>
            <a:pPr lvl="0" fontAlgn="base"/>
            <a:r>
              <a:rPr lang="en-IN" dirty="0"/>
              <a:t>Online PR</a:t>
            </a:r>
          </a:p>
          <a:p>
            <a:pPr lvl="0" fontAlgn="base"/>
            <a:r>
              <a:rPr lang="en-IN" dirty="0"/>
              <a:t>Social Media Advertising</a:t>
            </a:r>
          </a:p>
          <a:p>
            <a:pPr lvl="0" fontAlgn="base"/>
            <a:r>
              <a:rPr lang="en-IN" u="sng" dirty="0" err="1">
                <a:hlinkClick r:id="rId5"/>
              </a:rPr>
              <a:t>Youtube</a:t>
            </a:r>
            <a:endParaRPr lang="en-IN" dirty="0"/>
          </a:p>
          <a:p>
            <a:pPr lvl="0" fontAlgn="base"/>
            <a:r>
              <a:rPr lang="en-IN" u="sng" dirty="0" err="1">
                <a:hlinkClick r:id="rId6"/>
              </a:rPr>
              <a:t>Pinterest</a:t>
            </a:r>
            <a:endParaRPr lang="en-IN" dirty="0"/>
          </a:p>
          <a:p>
            <a:pPr lvl="0" fontAlgn="base"/>
            <a:r>
              <a:rPr lang="en-IN" u="sng" dirty="0">
                <a:hlinkClick r:id="rId7"/>
              </a:rPr>
              <a:t>LinkedIn</a:t>
            </a:r>
            <a:endParaRPr lang="en-IN" dirty="0"/>
          </a:p>
          <a:p>
            <a:pPr lvl="0" fontAlgn="base"/>
            <a:r>
              <a:rPr lang="en-IN" u="sng" dirty="0">
                <a:hlinkClick r:id="rId8"/>
              </a:rPr>
              <a:t>Facebook</a:t>
            </a:r>
            <a:endParaRPr lang="en-IN" dirty="0"/>
          </a:p>
          <a:p>
            <a:pPr lvl="0" fontAlgn="base"/>
            <a:r>
              <a:rPr lang="en-IN" u="sng" dirty="0">
                <a:hlinkClick r:id="rId9"/>
              </a:rPr>
              <a:t>Email Marketing</a:t>
            </a:r>
            <a:endParaRPr lang="en-IN" dirty="0"/>
          </a:p>
          <a:p>
            <a:pPr lvl="0" fontAlgn="base"/>
            <a:r>
              <a:rPr lang="en-IN" u="sng" dirty="0">
                <a:hlinkClick r:id="rId10"/>
              </a:rPr>
              <a:t>Partnerships</a:t>
            </a:r>
            <a:endParaRPr lang="en-IN" dirty="0"/>
          </a:p>
          <a:p>
            <a:r>
              <a:rPr lang="en-IN" u="sng" dirty="0">
                <a:hlinkClick r:id="rId11"/>
              </a:rPr>
              <a:t>Learn more marketing channels</a:t>
            </a:r>
            <a:endParaRPr lang="en-IN" dirty="0"/>
          </a:p>
        </p:txBody>
      </p:sp>
      <p:sp>
        <p:nvSpPr>
          <p:cNvPr id="3" name="Rectangle 2"/>
          <p:cNvSpPr/>
          <p:nvPr/>
        </p:nvSpPr>
        <p:spPr>
          <a:xfrm>
            <a:off x="826719" y="388400"/>
            <a:ext cx="5273456" cy="369332"/>
          </a:xfrm>
          <a:prstGeom prst="rect">
            <a:avLst/>
          </a:prstGeom>
        </p:spPr>
        <p:txBody>
          <a:bodyPr wrap="square">
            <a:spAutoFit/>
          </a:bodyPr>
          <a:lstStyle/>
          <a:p>
            <a:pPr fontAlgn="base"/>
            <a:r>
              <a:rPr lang="en-IN" b="1" dirty="0"/>
              <a:t>Promotion</a:t>
            </a:r>
          </a:p>
        </p:txBody>
      </p:sp>
    </p:spTree>
    <p:extLst>
      <p:ext uri="{BB962C8B-B14F-4D97-AF65-F5344CB8AC3E}">
        <p14:creationId xmlns:p14="http://schemas.microsoft.com/office/powerpoint/2010/main" val="1357512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0870" y="1324286"/>
            <a:ext cx="7146099" cy="2585323"/>
          </a:xfrm>
          <a:prstGeom prst="rect">
            <a:avLst/>
          </a:prstGeom>
        </p:spPr>
        <p:txBody>
          <a:bodyPr wrap="square">
            <a:spAutoFit/>
          </a:bodyPr>
          <a:lstStyle/>
          <a:p>
            <a:pPr marL="285750" indent="-285750" fontAlgn="base">
              <a:buFont typeface="Arial" pitchFamily="34" charset="0"/>
              <a:buChar char="•"/>
            </a:pPr>
            <a:r>
              <a:rPr lang="en-IN" dirty="0" smtClean="0"/>
              <a:t>People </a:t>
            </a:r>
            <a:r>
              <a:rPr lang="en-IN" dirty="0"/>
              <a:t>as a marketing decision in the online marketing mix is crucial. Great products and businesses require people that are involved in the online distribution and personnel who are in direct contact with customers</a:t>
            </a:r>
            <a:r>
              <a:rPr lang="en-IN" dirty="0" smtClean="0"/>
              <a:t>.</a:t>
            </a:r>
          </a:p>
          <a:p>
            <a:pPr marL="285750" indent="-285750" fontAlgn="base">
              <a:buFont typeface="Arial" pitchFamily="34" charset="0"/>
              <a:buChar char="•"/>
            </a:pPr>
            <a:r>
              <a:rPr lang="en-IN" dirty="0"/>
              <a:t>There are many options and combinations of online support you can introduce into your business workflow. For example, at the most basic, you can integrate social media as a channel for customer support or utilize online reviews (like </a:t>
            </a:r>
            <a:r>
              <a:rPr lang="en-IN" u="sng" dirty="0">
                <a:hlinkClick r:id="rId2"/>
              </a:rPr>
              <a:t>Google My Business</a:t>
            </a:r>
            <a:r>
              <a:rPr lang="en-IN" dirty="0"/>
              <a:t>) as well.</a:t>
            </a:r>
          </a:p>
          <a:p>
            <a:pPr fontAlgn="base"/>
            <a:endParaRPr lang="en-IN" dirty="0"/>
          </a:p>
        </p:txBody>
      </p:sp>
      <p:sp>
        <p:nvSpPr>
          <p:cNvPr id="3" name="Rectangle 2"/>
          <p:cNvSpPr/>
          <p:nvPr/>
        </p:nvSpPr>
        <p:spPr>
          <a:xfrm>
            <a:off x="390164" y="651446"/>
            <a:ext cx="848053" cy="369332"/>
          </a:xfrm>
          <a:prstGeom prst="rect">
            <a:avLst/>
          </a:prstGeom>
        </p:spPr>
        <p:txBody>
          <a:bodyPr wrap="none">
            <a:spAutoFit/>
          </a:bodyPr>
          <a:lstStyle/>
          <a:p>
            <a:pPr fontAlgn="base"/>
            <a:r>
              <a:rPr lang="en-IN" b="1" dirty="0"/>
              <a:t>People</a:t>
            </a:r>
          </a:p>
        </p:txBody>
      </p:sp>
    </p:spTree>
    <p:extLst>
      <p:ext uri="{BB962C8B-B14F-4D97-AF65-F5344CB8AC3E}">
        <p14:creationId xmlns:p14="http://schemas.microsoft.com/office/powerpoint/2010/main" val="1262145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0440" y="1582341"/>
            <a:ext cx="6317560" cy="2862322"/>
          </a:xfrm>
          <a:prstGeom prst="rect">
            <a:avLst/>
          </a:prstGeom>
        </p:spPr>
        <p:txBody>
          <a:bodyPr wrap="square">
            <a:spAutoFit/>
          </a:bodyPr>
          <a:lstStyle/>
          <a:p>
            <a:pPr marL="285750" indent="-285750" fontAlgn="base">
              <a:buFont typeface="Arial" pitchFamily="34" charset="0"/>
              <a:buChar char="•"/>
            </a:pPr>
            <a:r>
              <a:rPr lang="en-IN" dirty="0" smtClean="0"/>
              <a:t>The </a:t>
            </a:r>
            <a:r>
              <a:rPr lang="en-IN" dirty="0"/>
              <a:t>process as a marketing decision in the online marketing mix defines the needed procedures and its optimization of delivering online products and the core experiences of it. What task are necessary for a product to provide its core experience for its users.</a:t>
            </a:r>
          </a:p>
          <a:p>
            <a:pPr marL="285750" indent="-285750" fontAlgn="base">
              <a:buFont typeface="Arial" pitchFamily="34" charset="0"/>
              <a:buChar char="•"/>
            </a:pPr>
            <a:r>
              <a:rPr lang="en-IN" dirty="0"/>
              <a:t>Process optimization relies on collected data and measuring the data with key performance indicators (KPIs) in mind. To have an optimized process, a constant need for tracking the success of your operations in your marketing mix is essential.</a:t>
            </a:r>
          </a:p>
        </p:txBody>
      </p:sp>
      <p:sp>
        <p:nvSpPr>
          <p:cNvPr id="3" name="Rectangle 2"/>
          <p:cNvSpPr/>
          <p:nvPr/>
        </p:nvSpPr>
        <p:spPr>
          <a:xfrm>
            <a:off x="540440" y="613868"/>
            <a:ext cx="948337" cy="369332"/>
          </a:xfrm>
          <a:prstGeom prst="rect">
            <a:avLst/>
          </a:prstGeom>
        </p:spPr>
        <p:txBody>
          <a:bodyPr wrap="none">
            <a:spAutoFit/>
          </a:bodyPr>
          <a:lstStyle/>
          <a:p>
            <a:pPr fontAlgn="base"/>
            <a:r>
              <a:rPr lang="en-IN" b="1" dirty="0"/>
              <a:t>Process</a:t>
            </a:r>
          </a:p>
        </p:txBody>
      </p:sp>
    </p:spTree>
    <p:extLst>
      <p:ext uri="{BB962C8B-B14F-4D97-AF65-F5344CB8AC3E}">
        <p14:creationId xmlns:p14="http://schemas.microsoft.com/office/powerpoint/2010/main" val="22782043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259" y="1028343"/>
            <a:ext cx="7590773" cy="2862322"/>
          </a:xfrm>
          <a:prstGeom prst="rect">
            <a:avLst/>
          </a:prstGeom>
        </p:spPr>
        <p:txBody>
          <a:bodyPr wrap="square">
            <a:spAutoFit/>
          </a:bodyPr>
          <a:lstStyle/>
          <a:p>
            <a:pPr marL="285750" indent="-285750" fontAlgn="base">
              <a:buFont typeface="Arial" pitchFamily="34" charset="0"/>
              <a:buChar char="•"/>
            </a:pPr>
            <a:r>
              <a:rPr lang="en-IN" dirty="0" smtClean="0"/>
              <a:t>In </a:t>
            </a:r>
            <a:r>
              <a:rPr lang="en-IN" dirty="0"/>
              <a:t>the extended marketing mix, physical evidence refers to the different elements of service experience, such as facilities, interior designs, livery, and post-purchase </a:t>
            </a:r>
            <a:r>
              <a:rPr lang="en-IN" dirty="0" err="1"/>
              <a:t>artifacts</a:t>
            </a:r>
            <a:r>
              <a:rPr lang="en-IN" dirty="0"/>
              <a:t> (souvenirs).</a:t>
            </a:r>
          </a:p>
          <a:p>
            <a:pPr marL="285750" indent="-285750" fontAlgn="base">
              <a:buFont typeface="Arial" pitchFamily="34" charset="0"/>
              <a:buChar char="•"/>
            </a:pPr>
            <a:r>
              <a:rPr lang="en-IN" dirty="0"/>
              <a:t>In an online setting, these pieces of evidence will not have a physical element to them. However, the digitalization of this physical evidence is still possible, and an important marketing decision to have.</a:t>
            </a:r>
          </a:p>
          <a:p>
            <a:pPr marL="285750" indent="-285750" fontAlgn="base">
              <a:buFont typeface="Arial" pitchFamily="34" charset="0"/>
              <a:buChar char="•"/>
            </a:pPr>
            <a:r>
              <a:rPr lang="en-IN" dirty="0"/>
              <a:t>Online brand awareness across multiple channels is an excellent example of online evidence. How well these channels expand service experiences, for instance, through the number of followers, likes, and other social engagement metrics.</a:t>
            </a:r>
          </a:p>
        </p:txBody>
      </p:sp>
      <p:sp>
        <p:nvSpPr>
          <p:cNvPr id="3" name="Rectangle 2"/>
          <p:cNvSpPr/>
          <p:nvPr/>
        </p:nvSpPr>
        <p:spPr>
          <a:xfrm>
            <a:off x="452613" y="325770"/>
            <a:ext cx="3666773" cy="369332"/>
          </a:xfrm>
          <a:prstGeom prst="rect">
            <a:avLst/>
          </a:prstGeom>
        </p:spPr>
        <p:txBody>
          <a:bodyPr wrap="none">
            <a:spAutoFit/>
          </a:bodyPr>
          <a:lstStyle/>
          <a:p>
            <a:pPr fontAlgn="base"/>
            <a:r>
              <a:rPr lang="en-IN" b="1" dirty="0"/>
              <a:t>Physical Evidence (Online Evidence)</a:t>
            </a:r>
          </a:p>
        </p:txBody>
      </p:sp>
    </p:spTree>
    <p:extLst>
      <p:ext uri="{BB962C8B-B14F-4D97-AF65-F5344CB8AC3E}">
        <p14:creationId xmlns:p14="http://schemas.microsoft.com/office/powerpoint/2010/main" val="24178482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0416" y="1720840"/>
            <a:ext cx="6657584" cy="2308324"/>
          </a:xfrm>
          <a:prstGeom prst="rect">
            <a:avLst/>
          </a:prstGeom>
        </p:spPr>
        <p:txBody>
          <a:bodyPr wrap="square">
            <a:spAutoFit/>
          </a:bodyPr>
          <a:lstStyle/>
          <a:p>
            <a:pPr marL="285750" indent="-285750" fontAlgn="base">
              <a:buFont typeface="Arial" pitchFamily="34" charset="0"/>
              <a:buChar char="•"/>
            </a:pPr>
            <a:r>
              <a:rPr lang="en-IN" dirty="0" smtClean="0"/>
              <a:t>Including </a:t>
            </a:r>
            <a:r>
              <a:rPr lang="en-IN" dirty="0"/>
              <a:t>the model of 7 P’s of online marketing into a company’s marketing decisions flow will develop a better marketing strategy for your business.</a:t>
            </a:r>
          </a:p>
          <a:p>
            <a:pPr marL="285750" indent="-285750" fontAlgn="base">
              <a:buFont typeface="Arial" pitchFamily="34" charset="0"/>
              <a:buChar char="•"/>
            </a:pPr>
            <a:r>
              <a:rPr lang="en-IN" dirty="0"/>
              <a:t>The benefits of marketing decisions around product, price, place, promotion, people, process, and physical evidence are vast. Businesses that understand how to connect all the pieces can improve their competitiveness in the marketplace through marketing.</a:t>
            </a:r>
          </a:p>
        </p:txBody>
      </p:sp>
      <p:sp>
        <p:nvSpPr>
          <p:cNvPr id="3" name="Rectangle 2"/>
          <p:cNvSpPr/>
          <p:nvPr/>
        </p:nvSpPr>
        <p:spPr>
          <a:xfrm>
            <a:off x="525460" y="601342"/>
            <a:ext cx="1253869" cy="369332"/>
          </a:xfrm>
          <a:prstGeom prst="rect">
            <a:avLst/>
          </a:prstGeom>
        </p:spPr>
        <p:txBody>
          <a:bodyPr wrap="none">
            <a:spAutoFit/>
          </a:bodyPr>
          <a:lstStyle/>
          <a:p>
            <a:pPr fontAlgn="base"/>
            <a:r>
              <a:rPr lang="en-IN" b="1" dirty="0"/>
              <a:t>Conclusion</a:t>
            </a:r>
          </a:p>
        </p:txBody>
      </p:sp>
    </p:spTree>
    <p:extLst>
      <p:ext uri="{BB962C8B-B14F-4D97-AF65-F5344CB8AC3E}">
        <p14:creationId xmlns:p14="http://schemas.microsoft.com/office/powerpoint/2010/main" val="165267869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26</TotalTime>
  <Words>1312</Words>
  <Application>Microsoft Office PowerPoint</Application>
  <PresentationFormat>On-screen Show (4:3)</PresentationFormat>
  <Paragraphs>160</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Angles</vt:lpstr>
      <vt:lpstr>Online Marketing</vt:lpstr>
      <vt:lpstr>Key Digital Channels</vt:lpstr>
      <vt:lpstr>Email &amp; Content Marketing</vt:lpstr>
      <vt:lpstr>Pay-Per-Click (PPC)</vt:lpstr>
      <vt:lpstr>Social Media Marketing</vt:lpstr>
      <vt:lpstr>Viral &amp; Display Advertising</vt:lpstr>
      <vt:lpstr>Marketing Funnel (AIDA)</vt:lpstr>
      <vt:lpstr>Push vs Pull Marketing</vt:lpstr>
      <vt:lpstr>Advantages</vt:lpstr>
      <vt:lpstr>Challenges</vt:lpstr>
      <vt:lpstr>Industry Examples</vt:lpstr>
      <vt:lpstr>Conclusion</vt:lpstr>
      <vt:lpstr>Marketing Mix</vt:lpstr>
      <vt:lpstr>What is Marketing Mix?</vt:lpstr>
      <vt:lpstr>7Ps</vt:lpstr>
      <vt:lpstr>PowerPoint Presentation</vt:lpstr>
      <vt:lpstr>PowerPoint Presentation</vt:lpstr>
      <vt:lpstr>PowerPoint Presentation</vt:lpstr>
      <vt:lpstr>7 P’s of Online Marketing: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Marketing</dc:title>
  <dc:creator>dypcoe</dc:creator>
  <dc:description>generated using python-pptx</dc:description>
  <cp:lastModifiedBy>dypcoe</cp:lastModifiedBy>
  <cp:revision>8</cp:revision>
  <dcterms:created xsi:type="dcterms:W3CDTF">2013-01-27T09:14:16Z</dcterms:created>
  <dcterms:modified xsi:type="dcterms:W3CDTF">2025-08-12T06:51:36Z</dcterms:modified>
</cp:coreProperties>
</file>